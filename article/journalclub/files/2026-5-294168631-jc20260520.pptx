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12" r:id="rId2"/>
    <p:sldId id="500" r:id="rId3"/>
    <p:sldId id="501" r:id="rId4"/>
    <p:sldId id="511" r:id="rId5"/>
    <p:sldId id="514" r:id="rId6"/>
    <p:sldId id="490" r:id="rId7"/>
    <p:sldId id="502" r:id="rId8"/>
    <p:sldId id="503" r:id="rId9"/>
    <p:sldId id="504" r:id="rId10"/>
    <p:sldId id="506" r:id="rId11"/>
    <p:sldId id="505" r:id="rId12"/>
    <p:sldId id="507" r:id="rId13"/>
    <p:sldId id="508" r:id="rId14"/>
    <p:sldId id="509" r:id="rId15"/>
    <p:sldId id="513" r:id="rId16"/>
    <p:sldId id="439" r:id="rId17"/>
    <p:sldId id="459" r:id="rId18"/>
    <p:sldId id="515" r:id="rId19"/>
    <p:sldId id="518" r:id="rId20"/>
    <p:sldId id="519" r:id="rId21"/>
    <p:sldId id="520" r:id="rId22"/>
    <p:sldId id="521" r:id="rId23"/>
    <p:sldId id="516" r:id="rId24"/>
    <p:sldId id="522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213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156D14-6390-AFB9-F066-6DD72C8C6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FE285E-3984-08D0-F813-35D1D17F7B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C94D74B-4829-A284-FA72-19E7855E3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0E74-73C2-4C60-BFB2-01C234AAA62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B31685-524C-2F10-BA1C-FD1786268B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4C39CB-23D6-863A-ACF3-E06D6803E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CBEC-9C7B-456E-A593-9052F4335D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342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242FB1-285D-3B25-6265-37CB8274E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C34537-5FA1-9C62-624F-717B868663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306944-D0EC-169E-EB30-52DE7449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0E74-73C2-4C60-BFB2-01C234AAA62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A7C7F09-2EBC-059C-BE25-6FDD639A3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9018CB4-35E1-AF1A-B1A2-B06B601BC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CBEC-9C7B-456E-A593-9052F4335D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779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BA0427-9C55-56EC-30B5-CC62CF4BD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55F3465-AC33-F2EC-1504-D86288918D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818438-7272-2B89-70CA-216498E6B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0E74-73C2-4C60-BFB2-01C234AAA62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314E20-1BAC-6BBD-71FA-5A5E1D5BF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BB2C67-B0F5-1A92-28EE-B7DA42B2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CBEC-9C7B-456E-A593-9052F4335D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393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A8EB47-48F2-559D-9D75-AA3D406F6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543027-E340-1AD2-A9DD-F97D27C8E5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CAC694-6B56-D54F-A4A4-13DDBCC68E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4D8CD4-C503-E98C-8CEB-233B13609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0E74-73C2-4C60-BFB2-01C234AAA62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AEA2613-E271-B72A-E3E4-201908FAF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D93696-5E52-1940-923F-893BBFCB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CBEC-9C7B-456E-A593-9052F4335D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7748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8EA9D4-0FB2-5C25-04F5-2F0BF8C0B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BC90EBF-349F-2782-8E0C-A4E1BCCA15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A637C7-D1AE-27A9-510C-A3AA01BB0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FEFE9F1-0C7F-DC54-5C76-61C1B37CC7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EA1D3D9-4945-6496-4F63-CA2859AD93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A398A78-F2CE-BD35-4429-FD2720806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0E74-73C2-4C60-BFB2-01C234AAA62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6C41284-9DC4-FBB6-8649-3A2EBA97D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885C20-B848-4BEA-7B18-9A12134F8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CBEC-9C7B-456E-A593-9052F4335D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019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BC4AF8-A9EE-9D23-37A2-E5BAE6D56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599309-0E81-DBEC-0D2C-EFE93DCAD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0E74-73C2-4C60-BFB2-01C234AAA62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2BFFAA6-F68D-7C94-873C-046D31EAF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CBB12E-C32E-D5E9-8FCE-5ACDC65B6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CBEC-9C7B-456E-A593-9052F4335D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7939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3C5A9E7-CE8B-7518-9230-477A7C53D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0E74-73C2-4C60-BFB2-01C234AAA62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6A23644-A788-0DCF-1849-037025DF4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A40727-3F31-A73D-EC08-D9D52B240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CBEC-9C7B-456E-A593-9052F4335D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735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E7BFA6-14C6-B0E7-88A4-C726CAC84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5E95EC9-FE29-4FB8-3B85-65139E7F5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3FB694-CD4D-A22A-8AFB-0948A8145B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B7F199-A53F-564E-FBE1-4D4563999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0E74-73C2-4C60-BFB2-01C234AAA62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6544ABB-F68F-C54F-E3C7-CA60C3A7D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086F449-3670-C6D8-3D7A-7FE51E535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CBEC-9C7B-456E-A593-9052F4335D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634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0E9907-9804-0574-9237-B0FFAA581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CA42705-A02F-4437-B623-101DC02BDD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62583F8-5B5C-A2EB-1B74-76CD3D5AB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36A730-605E-2EA2-CE2D-38161F346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0E74-73C2-4C60-BFB2-01C234AAA62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6CB2B81-FA00-A046-A56B-1876ED947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093442-B31B-37BB-13FF-A9760264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CBEC-9C7B-456E-A593-9052F4335D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242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A0E95F-7CBE-9EF7-BC2B-262E0CB95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F772AA-FE71-A2A7-1EA4-B699156D3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C25E80-79A8-B9E6-3CBE-74A296150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0E74-73C2-4C60-BFB2-01C234AAA62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503749-B208-F5D8-4061-FD2EF7817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B4A126-70C1-46CD-1400-42DF63D95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CBEC-9C7B-456E-A593-9052F4335D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796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E1F408-29FA-32EC-BFAE-B72B3A675F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1F4B1BA-978F-FC77-FD6C-1B7B82964F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CFFED41-3B83-2154-1D4F-024D52B5F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0E74-73C2-4C60-BFB2-01C234AAA62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63817C-9A9E-8FB1-3E4E-650270EC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4C17CA-1D3E-7DCC-E9B9-70DEF40EF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CBEC-9C7B-456E-A593-9052F4335D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17714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1A68765-08C8-9959-4C80-B310CE80E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C1A685-0838-80F3-DBC9-E7D8601F3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53B830-ADF5-9D14-BD05-878FC3589E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10E74-73C2-4C60-BFB2-01C234AAA62E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74F786-28B3-F32E-BD24-A46907F4D5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F23F89-7B67-6D9F-6B7B-D02E4517B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A7CBEC-9C7B-456E-A593-9052F4335D2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342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7" Type="http://schemas.openxmlformats.org/officeDocument/2006/relationships/image" Target="../media/image3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8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12765-42A8-DBA0-1BA3-9F007F99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">
            <a:extLst>
              <a:ext uri="{FF2B5EF4-FFF2-40B4-BE49-F238E27FC236}">
                <a16:creationId xmlns:a16="http://schemas.microsoft.com/office/drawing/2014/main" id="{02B935C6-0E6A-482D-A4D5-1C841C7E762D}"/>
              </a:ext>
            </a:extLst>
          </p:cNvPr>
          <p:cNvSpPr/>
          <p:nvPr/>
        </p:nvSpPr>
        <p:spPr>
          <a:xfrm>
            <a:off x="879613" y="611606"/>
            <a:ext cx="10450996" cy="2771813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3DE8F7-6BA5-7421-05D9-176141C641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0677" y="5110585"/>
            <a:ext cx="1203115" cy="120760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278CBD6-1725-4037-F9FE-A357AC4F0D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211" y="5110585"/>
            <a:ext cx="1216419" cy="1207604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8DDD5D0-C22F-576B-7DFF-8CDA80634E3D}"/>
              </a:ext>
            </a:extLst>
          </p:cNvPr>
          <p:cNvSpPr txBox="1"/>
          <p:nvPr/>
        </p:nvSpPr>
        <p:spPr>
          <a:xfrm>
            <a:off x="861391" y="1136650"/>
            <a:ext cx="104509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dirty="0">
                <a:solidFill>
                  <a:schemeClr val="bg1"/>
                </a:solidFill>
              </a:rPr>
              <a:t>Ab Initio Calculations of β-Decay Half-Lives for N = 50 Neutron-Rich Nuclei</a:t>
            </a:r>
            <a:r>
              <a:rPr lang="en-US" altLang="zh-CN" sz="4800" b="1" dirty="0">
                <a:solidFill>
                  <a:schemeClr val="bg1"/>
                </a:solidFill>
              </a:rPr>
              <a:t> </a:t>
            </a:r>
            <a:br>
              <a:rPr lang="en-US" altLang="zh-CN" sz="4800" b="1" dirty="0">
                <a:solidFill>
                  <a:schemeClr val="bg1"/>
                </a:solidFill>
              </a:rPr>
            </a:br>
            <a:endParaRPr lang="en-US" altLang="zh-CN" sz="48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75822C-1C0A-A1BF-53C8-37B2292DD330}"/>
              </a:ext>
            </a:extLst>
          </p:cNvPr>
          <p:cNvSpPr txBox="1"/>
          <p:nvPr/>
        </p:nvSpPr>
        <p:spPr>
          <a:xfrm>
            <a:off x="1292259" y="3569680"/>
            <a:ext cx="73977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Authors: Zhen Li, Takayuki Miyagi, Achim Schwenk  </a:t>
            </a:r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A30EF4E-C8AF-1A24-1F5C-B49E1B6B0E46}"/>
              </a:ext>
            </a:extLst>
          </p:cNvPr>
          <p:cNvSpPr txBox="1"/>
          <p:nvPr/>
        </p:nvSpPr>
        <p:spPr>
          <a:xfrm>
            <a:off x="1358159" y="4111404"/>
            <a:ext cx="294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Reporter:   </a:t>
            </a:r>
            <a:r>
              <a:rPr lang="en-US" altLang="zh-CN" sz="1600" dirty="0" err="1"/>
              <a:t>Xingcan</a:t>
            </a:r>
            <a:r>
              <a:rPr lang="en-US" altLang="zh-CN" sz="1600" dirty="0"/>
              <a:t> Cao</a:t>
            </a:r>
            <a:endParaRPr lang="zh-CN" altLang="en-US" sz="16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03302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0C4B6-7BEB-AC9F-3439-F4726C096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D593036-F522-ECF7-AD2C-6229E5628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DBE823D2-D0C2-9B7F-F0C9-BAA7E7B74763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4164CBD9-DD45-C30E-71F5-04AED953B919}"/>
              </a:ext>
            </a:extLst>
          </p:cNvPr>
          <p:cNvSpPr txBox="1"/>
          <p:nvPr/>
        </p:nvSpPr>
        <p:spPr>
          <a:xfrm>
            <a:off x="643346" y="1139734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Outline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7842E2AB-95DF-5AEF-1BF0-FF14B8588264}"/>
              </a:ext>
            </a:extLst>
          </p:cNvPr>
          <p:cNvSpPr txBox="1"/>
          <p:nvPr/>
        </p:nvSpPr>
        <p:spPr>
          <a:xfrm>
            <a:off x="1280159" y="1812668"/>
            <a:ext cx="231826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AAAAA"/>
                </a:solidFill>
              </a:defRPr>
            </a:pPr>
            <a:r>
              <a:rPr b="1" dirty="0">
                <a:solidFill>
                  <a:srgbClr val="2169D3"/>
                </a:solidFill>
              </a:rPr>
              <a:t>1. </a:t>
            </a:r>
            <a:r>
              <a:rPr lang="en-US" b="1" dirty="0">
                <a:solidFill>
                  <a:srgbClr val="2169D3"/>
                </a:solidFill>
              </a:rPr>
              <a:t>Introduction</a:t>
            </a:r>
            <a:endParaRPr b="1" i="1" dirty="0">
              <a:solidFill>
                <a:srgbClr val="2169D3"/>
              </a:solidFill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C20E1FD-BC57-D926-A4E8-05ADEF7806B8}"/>
              </a:ext>
            </a:extLst>
          </p:cNvPr>
          <p:cNvSpPr txBox="1"/>
          <p:nvPr/>
        </p:nvSpPr>
        <p:spPr>
          <a:xfrm>
            <a:off x="1280159" y="3299053"/>
            <a:ext cx="142218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AAAAA"/>
                </a:solidFill>
              </a:defRP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3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.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7E77B9C-6CAE-4A14-F90B-8E8EB9878CCB}"/>
              </a:ext>
            </a:extLst>
          </p:cNvPr>
          <p:cNvSpPr txBox="1"/>
          <p:nvPr/>
        </p:nvSpPr>
        <p:spPr>
          <a:xfrm>
            <a:off x="141423" y="249720"/>
            <a:ext cx="1685141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Contents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538D547-FD7A-8E34-EC39-966CFE6AF8F4}"/>
              </a:ext>
            </a:extLst>
          </p:cNvPr>
          <p:cNvSpPr txBox="1"/>
          <p:nvPr/>
        </p:nvSpPr>
        <p:spPr>
          <a:xfrm>
            <a:off x="1280159" y="4054516"/>
            <a:ext cx="1749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AAAAA"/>
                </a:solidFill>
              </a:defRP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4. Summary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101EDB00-ED69-61F7-2C88-A9C9123C6E55}"/>
              </a:ext>
            </a:extLst>
          </p:cNvPr>
          <p:cNvSpPr txBox="1"/>
          <p:nvPr/>
        </p:nvSpPr>
        <p:spPr>
          <a:xfrm>
            <a:off x="1280159" y="2534690"/>
            <a:ext cx="356783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AAAAA"/>
                </a:solidFill>
              </a:defRP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2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.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eoretical framework</a:t>
            </a:r>
            <a:endParaRPr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936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0C4B6-7BEB-AC9F-3439-F4726C096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D593036-F522-ECF7-AD2C-6229E5628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DBE823D2-D0C2-9B7F-F0C9-BAA7E7B74763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D9E1C7E-C46A-3F70-93AE-814024BC6936}"/>
              </a:ext>
            </a:extLst>
          </p:cNvPr>
          <p:cNvSpPr txBox="1"/>
          <p:nvPr/>
        </p:nvSpPr>
        <p:spPr>
          <a:xfrm>
            <a:off x="141423" y="249720"/>
            <a:ext cx="2287229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Introduction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5773E14-7DC7-49A0-90CF-E3C0E43CD457}"/>
                  </a:ext>
                </a:extLst>
              </p:cNvPr>
              <p:cNvSpPr txBox="1"/>
              <p:nvPr/>
            </p:nvSpPr>
            <p:spPr>
              <a:xfrm>
                <a:off x="400464" y="1402235"/>
                <a:ext cx="10524931" cy="286232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000" b="1" dirty="0">
                    <a:latin typeface="Avenir Black Oblique" panose="02000503020000020003"/>
                  </a:rPr>
                  <a:t>Astrophysical Motivation:</a:t>
                </a:r>
                <a:endParaRPr lang="en-US" altLang="zh-CN" sz="2000" dirty="0">
                  <a:latin typeface="Avenir Black Oblique" panose="02000503020000020003"/>
                </a:endParaRP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l-GR" altLang="zh-CN" sz="2000" dirty="0"/>
                  <a:t>β-</a:t>
                </a:r>
                <a:r>
                  <a:rPr lang="en-US" altLang="zh-CN" sz="2000" dirty="0">
                    <a:latin typeface="Avenir Black Oblique" panose="02000503020000020003"/>
                  </a:rPr>
                  <a:t>decay half-lives of neutron-rich 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0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000" dirty="0">
                    <a:latin typeface="Avenir Black Oblique" panose="02000503020000020003"/>
                  </a:rPr>
                  <a:t>waiting-point nuclei are crucial inputs for r-process nucleosynthesis.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Avenir Black Oblique" panose="02000503020000020003"/>
                  </a:rPr>
                  <a:t>Most of these half-lives remain experimentally unknown, especially far from stability.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endParaRPr lang="en-US" altLang="zh-CN" sz="2000" dirty="0">
                  <a:latin typeface="Avenir Black Oblique" panose="02000503020000020003"/>
                </a:endParaRPr>
              </a:p>
              <a:p>
                <a:r>
                  <a:rPr lang="en-US" altLang="zh-CN" sz="2000" b="1" dirty="0">
                    <a:latin typeface="Avenir Black Oblique" panose="02000503020000020003"/>
                  </a:rPr>
                  <a:t>Limitations of Previous Approaches</a:t>
                </a:r>
                <a:r>
                  <a:rPr lang="en-US" altLang="zh-CN" sz="2000" dirty="0">
                    <a:latin typeface="Avenir Black Oblique" panose="02000503020000020003"/>
                  </a:rPr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Avenir Black Oblique" panose="02000503020000020003"/>
                  </a:rPr>
                  <a:t>Existing calculations mainly rely on QRPA or phenomenological shell-model methods.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000" dirty="0">
                    <a:latin typeface="Avenir Black Oblique" panose="02000503020000020003"/>
                  </a:rPr>
                  <a:t>Traditional shell-model calculations require empirical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ar-AE" sz="2000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zh-CN" altLang="ar-AE" sz="2000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Avenir Black Oblique" panose="02000503020000020003"/>
                  </a:rPr>
                  <a:t>quenching to reproduce Gamow–Teller (GT) strengths.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5773E14-7DC7-49A0-90CF-E3C0E43CD4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64" y="1402235"/>
                <a:ext cx="10524931" cy="2862322"/>
              </a:xfrm>
              <a:prstGeom prst="rect">
                <a:avLst/>
              </a:prstGeom>
              <a:blipFill>
                <a:blip r:embed="rId3"/>
                <a:stretch>
                  <a:fillRect l="-637" t="-1064" b="-276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036953A-CF33-0A3B-7538-4B1831044D0A}"/>
                  </a:ext>
                </a:extLst>
              </p:cNvPr>
              <p:cNvSpPr txBox="1"/>
              <p:nvPr/>
            </p:nvSpPr>
            <p:spPr>
              <a:xfrm>
                <a:off x="400464" y="4398089"/>
                <a:ext cx="10242654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zh-CN" sz="2000" b="1" dirty="0"/>
                  <a:t>Ab Initio Framework</a:t>
                </a:r>
                <a:endParaRPr lang="en-US" altLang="zh-CN" sz="20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First </a:t>
                </a:r>
                <a:r>
                  <a:rPr lang="en-US" altLang="zh-CN" sz="2000" i="1" dirty="0"/>
                  <a:t>ab initio</a:t>
                </a:r>
                <a:r>
                  <a:rPr lang="en-US" altLang="zh-CN" sz="2000" dirty="0"/>
                  <a:t> calculation of total β-decay half-lives for 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0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000" i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altLang="zh-CN" sz="2000" dirty="0"/>
                  <a:t> nuclei.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000" dirty="0"/>
                  <a:t>Based on chiral EFT nuclear forces and consistent weak currents.</a:t>
                </a:r>
              </a:p>
            </p:txBody>
          </p:sp>
        </mc:Choice>
        <mc:Fallback xmlns="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1036953A-CF33-0A3B-7538-4B1831044D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464" y="4398089"/>
                <a:ext cx="10242654" cy="1015663"/>
              </a:xfrm>
              <a:prstGeom prst="rect">
                <a:avLst/>
              </a:prstGeom>
              <a:blipFill>
                <a:blip r:embed="rId4"/>
                <a:stretch>
                  <a:fillRect l="-655" t="-2994" b="-9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99620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62758-7EEE-7871-4952-2504BFA82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44FF888-32E6-6B48-E213-BF724FB4C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5525C277-CB0E-9441-A79D-EB165CD7F58F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2621E90B-790B-D56E-D916-7E44BF7CF802}"/>
              </a:ext>
            </a:extLst>
          </p:cNvPr>
          <p:cNvSpPr txBox="1"/>
          <p:nvPr/>
        </p:nvSpPr>
        <p:spPr>
          <a:xfrm>
            <a:off x="643346" y="1139734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Outline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6A315A3-F913-94B8-2A6C-20CD78F2213D}"/>
              </a:ext>
            </a:extLst>
          </p:cNvPr>
          <p:cNvSpPr txBox="1"/>
          <p:nvPr/>
        </p:nvSpPr>
        <p:spPr>
          <a:xfrm>
            <a:off x="1280159" y="1812668"/>
            <a:ext cx="212109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AAAAA"/>
                </a:solidFill>
              </a:defRPr>
            </a:pPr>
            <a:r>
              <a:rPr dirty="0">
                <a:solidFill>
                  <a:schemeClr val="bg1">
                    <a:lumMod val="75000"/>
                  </a:schemeClr>
                </a:solidFill>
              </a:rPr>
              <a:t>1.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  <a:endParaRPr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53C94C8F-D823-7177-99E3-ABB3EBA70DED}"/>
              </a:ext>
            </a:extLst>
          </p:cNvPr>
          <p:cNvSpPr txBox="1"/>
          <p:nvPr/>
        </p:nvSpPr>
        <p:spPr>
          <a:xfrm>
            <a:off x="1280159" y="3299053"/>
            <a:ext cx="142218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AAAAA"/>
                </a:solidFill>
              </a:defRP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3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.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5BFF57-C678-6AE1-B9CB-F1DE3A9DFB8A}"/>
              </a:ext>
            </a:extLst>
          </p:cNvPr>
          <p:cNvSpPr txBox="1"/>
          <p:nvPr/>
        </p:nvSpPr>
        <p:spPr>
          <a:xfrm>
            <a:off x="141423" y="249720"/>
            <a:ext cx="1685141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Contents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043F7801-EADB-D72B-3FBD-29DED5C80D7F}"/>
              </a:ext>
            </a:extLst>
          </p:cNvPr>
          <p:cNvSpPr txBox="1"/>
          <p:nvPr/>
        </p:nvSpPr>
        <p:spPr>
          <a:xfrm>
            <a:off x="1280159" y="4054516"/>
            <a:ext cx="1749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AAAAA"/>
                </a:solidFill>
              </a:defRP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4. Summary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7871B1A-4E6A-C93B-C5C1-E9E24D59D517}"/>
              </a:ext>
            </a:extLst>
          </p:cNvPr>
          <p:cNvSpPr txBox="1"/>
          <p:nvPr/>
        </p:nvSpPr>
        <p:spPr>
          <a:xfrm>
            <a:off x="1280159" y="2534690"/>
            <a:ext cx="365837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AAAAA"/>
                </a:solidFill>
              </a:defRPr>
            </a:pPr>
            <a:r>
              <a:rPr lang="en-US" b="1" dirty="0">
                <a:solidFill>
                  <a:srgbClr val="0070C0"/>
                </a:solidFill>
              </a:rPr>
              <a:t>2</a:t>
            </a:r>
            <a:r>
              <a:rPr b="1" dirty="0">
                <a:solidFill>
                  <a:srgbClr val="0070C0"/>
                </a:solidFill>
              </a:rPr>
              <a:t>. </a:t>
            </a:r>
            <a:r>
              <a:rPr lang="en-US" b="1" dirty="0">
                <a:solidFill>
                  <a:srgbClr val="0070C0"/>
                </a:solidFill>
              </a:rPr>
              <a:t>Th</a:t>
            </a:r>
            <a:r>
              <a:rPr lang="en-US" altLang="zh-CN" b="1" dirty="0">
                <a:solidFill>
                  <a:srgbClr val="0070C0"/>
                </a:solidFill>
              </a:rPr>
              <a:t>eoretical framework</a:t>
            </a:r>
            <a:endParaRPr b="1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9942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7F9F8-E769-7F87-ACFC-06E96721C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96D7BF2-902C-0B91-DCBE-3A389AF0E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AB5AB327-1711-1656-EF84-8D6B2AEBC9FD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4AE03F3-00D1-7C01-39D0-75E843B60175}"/>
              </a:ext>
            </a:extLst>
          </p:cNvPr>
          <p:cNvSpPr txBox="1"/>
          <p:nvPr/>
        </p:nvSpPr>
        <p:spPr>
          <a:xfrm>
            <a:off x="304801" y="165137"/>
            <a:ext cx="62950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altLang="zh-CN" sz="3200" b="0" i="0" dirty="0">
                <a:solidFill>
                  <a:schemeClr val="bg1"/>
                </a:solidFill>
                <a:effectLst/>
                <a:latin typeface="AdvOTdd3b7348.I+03"/>
              </a:rPr>
              <a:t>β</a:t>
            </a:r>
            <a:r>
              <a:rPr lang="el-GR" altLang="zh-CN" sz="3200" b="0" i="0" dirty="0">
                <a:solidFill>
                  <a:schemeClr val="bg1"/>
                </a:solidFill>
                <a:effectLst/>
                <a:latin typeface="AdvOT483a8203"/>
              </a:rPr>
              <a:t>-</a:t>
            </a:r>
            <a:r>
              <a:rPr lang="en-US" altLang="zh-CN" sz="3200" b="0" i="0" dirty="0">
                <a:solidFill>
                  <a:schemeClr val="bg1"/>
                </a:solidFill>
                <a:effectLst/>
                <a:latin typeface="Avenir Medium" panose="02000503020000020003"/>
              </a:rPr>
              <a:t>decay half-life</a:t>
            </a:r>
            <a:r>
              <a:rPr lang="en-US" altLang="zh-CN" sz="3200" dirty="0">
                <a:solidFill>
                  <a:schemeClr val="bg1"/>
                </a:solidFill>
                <a:latin typeface="Avenir Medium" panose="02000503020000020003"/>
              </a:rPr>
              <a:t> </a:t>
            </a:r>
            <a:br>
              <a:rPr lang="en-US" altLang="zh-CN" sz="3200" dirty="0">
                <a:solidFill>
                  <a:schemeClr val="bg1"/>
                </a:solidFill>
                <a:latin typeface="Avenir Medium" panose="02000503020000020003"/>
              </a:rPr>
            </a:br>
            <a:endParaRPr lang="zh-CN" altLang="en-US" sz="3200" dirty="0">
              <a:solidFill>
                <a:schemeClr val="bg1"/>
              </a:solidFill>
              <a:latin typeface="Avenir Medium" panose="02000503020000020003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D53A2F-8FF1-4E3C-2F99-C3EEE18359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46" t="17559"/>
          <a:stretch>
            <a:fillRect/>
          </a:stretch>
        </p:blipFill>
        <p:spPr>
          <a:xfrm>
            <a:off x="1872342" y="1523771"/>
            <a:ext cx="1810139" cy="46461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2C2CF53-9CC1-D829-9075-071C387BB183}"/>
              </a:ext>
            </a:extLst>
          </p:cNvPr>
          <p:cNvSpPr txBox="1"/>
          <p:nvPr/>
        </p:nvSpPr>
        <p:spPr>
          <a:xfrm>
            <a:off x="304801" y="1100903"/>
            <a:ext cx="2139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Half-life: </a:t>
            </a:r>
            <a:endParaRPr lang="zh-CN" altLang="en-US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4C1297B-BC9B-5929-5599-6A41A29B5D17}"/>
              </a:ext>
            </a:extLst>
          </p:cNvPr>
          <p:cNvSpPr txBox="1"/>
          <p:nvPr/>
        </p:nvSpPr>
        <p:spPr>
          <a:xfrm>
            <a:off x="211494" y="2011144"/>
            <a:ext cx="306044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dirty="0">
                <a:solidFill>
                  <a:srgbClr val="231F20"/>
                </a:solidFill>
                <a:latin typeface="AdvOT483a8203"/>
              </a:rPr>
              <a:t>For 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OT483a8203"/>
              </a:rPr>
              <a:t>allowed GT transitions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6596B3FD-3128-72EF-D215-9CD4C9850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47" y="2325232"/>
            <a:ext cx="5266352" cy="853827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A367933-044E-44B1-EB47-BBFE25802476}"/>
              </a:ext>
            </a:extLst>
          </p:cNvPr>
          <p:cNvSpPr txBox="1"/>
          <p:nvPr/>
        </p:nvSpPr>
        <p:spPr>
          <a:xfrm>
            <a:off x="6823787" y="1756079"/>
            <a:ext cx="629505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dirty="0">
                <a:solidFill>
                  <a:srgbClr val="231F20"/>
                </a:solidFill>
                <a:latin typeface="Avenir Black Oblique" panose="02000503020000020003"/>
              </a:rPr>
              <a:t>W : 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venir Black Oblique" panose="02000503020000020003"/>
              </a:rPr>
              <a:t>electron energy, </a:t>
            </a:r>
          </a:p>
          <a:p>
            <a:pPr>
              <a:buNone/>
            </a:pPr>
            <a:r>
              <a:rPr lang="en-US" altLang="zh-CN" sz="2000" b="0" i="0" dirty="0">
                <a:solidFill>
                  <a:srgbClr val="231F20"/>
                </a:solidFill>
                <a:effectLst/>
                <a:latin typeface="Avenir Black Oblique" panose="02000503020000020003"/>
              </a:rPr>
              <a:t>W</a:t>
            </a:r>
            <a:r>
              <a:rPr lang="en-US" altLang="zh-CN" sz="2000" b="0" i="0" baseline="-25000" dirty="0">
                <a:solidFill>
                  <a:srgbClr val="231F20"/>
                </a:solidFill>
                <a:effectLst/>
                <a:latin typeface="Avenir Black Oblique" panose="02000503020000020003"/>
              </a:rPr>
              <a:t>0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venir Black Oblique" panose="02000503020000020003"/>
              </a:rPr>
              <a:t> : maximum electron energy, </a:t>
            </a:r>
          </a:p>
          <a:p>
            <a:pPr>
              <a:buNone/>
            </a:pPr>
            <a:r>
              <a:rPr lang="en-US" altLang="zh-CN" sz="2000" b="0" i="0" dirty="0">
                <a:solidFill>
                  <a:srgbClr val="231F20"/>
                </a:solidFill>
                <a:effectLst/>
                <a:latin typeface="Avenir Black Oblique" panose="02000503020000020003"/>
              </a:rPr>
              <a:t>P</a:t>
            </a:r>
            <a:r>
              <a:rPr lang="en-US" altLang="zh-CN" sz="2000" b="0" i="0" baseline="-25000" dirty="0">
                <a:solidFill>
                  <a:srgbClr val="231F20"/>
                </a:solidFill>
                <a:effectLst/>
                <a:latin typeface="Avenir Black Oblique" panose="02000503020000020003"/>
              </a:rPr>
              <a:t>e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venir Black Oblique" panose="02000503020000020003"/>
              </a:rPr>
              <a:t> : electron momentum</a:t>
            </a:r>
          </a:p>
          <a:p>
            <a:pPr>
              <a:buNone/>
            </a:pPr>
            <a:r>
              <a:rPr lang="en-US" altLang="zh-CN" sz="2000" dirty="0">
                <a:solidFill>
                  <a:srgbClr val="231F20"/>
                </a:solidFill>
                <a:latin typeface="Avenir Black Oblique" panose="02000503020000020003"/>
              </a:rPr>
              <a:t>F : Fermi function</a:t>
            </a:r>
            <a:endParaRPr lang="zh-CN" altLang="en-US" sz="2000" dirty="0">
              <a:latin typeface="Avenir Black Oblique" panose="02000503020000020003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3C4C30D-5C61-FD4C-1FC7-0856623368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141" y="3137373"/>
            <a:ext cx="3846156" cy="75820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476EFE1-CBBE-1BCD-C5A1-575377945D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2006" y="3253812"/>
            <a:ext cx="2211781" cy="478669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6A93E358-16FB-E9C5-BF8C-049A4F50DE2D}"/>
              </a:ext>
            </a:extLst>
          </p:cNvPr>
          <p:cNvSpPr txBox="1"/>
          <p:nvPr/>
        </p:nvSpPr>
        <p:spPr>
          <a:xfrm>
            <a:off x="326141" y="4000714"/>
            <a:ext cx="67584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231F20"/>
                </a:solidFill>
                <a:effectLst/>
                <a:latin typeface="AdvOT483a8203"/>
              </a:rPr>
              <a:t>Up to next-to-next-to-leading order (N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2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OT483a8203"/>
              </a:rPr>
              <a:t>LO) and at </a:t>
            </a:r>
            <a:r>
              <a:rPr lang="en-US" altLang="zh-CN" sz="2000" dirty="0">
                <a:solidFill>
                  <a:srgbClr val="231F20"/>
                </a:solidFill>
                <a:latin typeface="AdvP4C4E74"/>
              </a:rPr>
              <a:t>|q|=0, 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44E521BB-4FB5-4835-1FB3-559D8F96A0B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6701" y="3933897"/>
            <a:ext cx="3186016" cy="55176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29E2636-494E-38DB-3470-AFA7CBD4300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54944" y="4485665"/>
            <a:ext cx="3887000" cy="225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6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A1900-E3E4-5F8F-8E94-A702911D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1E6C56E-4965-51DF-CC85-95E6DE946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1DC94260-0B43-077C-E0DB-735BAF785C61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F965502-A86C-B770-713C-82B91E6EF530}"/>
              </a:ext>
            </a:extLst>
          </p:cNvPr>
          <p:cNvSpPr txBox="1"/>
          <p:nvPr/>
        </p:nvSpPr>
        <p:spPr>
          <a:xfrm>
            <a:off x="141423" y="249720"/>
            <a:ext cx="3052439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Chiral symmetry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BF675EA-B17A-DCDA-2A47-4245365A1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970" y="1735644"/>
            <a:ext cx="4565900" cy="185386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E51F960-2418-92C1-8250-4F4FB659FB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427" y="4117629"/>
            <a:ext cx="9455140" cy="2506954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CA3B50F2-CF5B-E278-57EE-4C905FCEE774}"/>
              </a:ext>
            </a:extLst>
          </p:cNvPr>
          <p:cNvSpPr txBox="1"/>
          <p:nvPr/>
        </p:nvSpPr>
        <p:spPr>
          <a:xfrm>
            <a:off x="227046" y="3672282"/>
            <a:ext cx="93617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QCD </a:t>
            </a:r>
            <a:r>
              <a:rPr lang="en-US" altLang="zh-CN" sz="2000" dirty="0" err="1"/>
              <a:t>Lagrangian</a:t>
            </a:r>
            <a:r>
              <a:rPr lang="en-US" altLang="zh-CN" sz="2000" dirty="0"/>
              <a:t> </a:t>
            </a:r>
            <a:r>
              <a:rPr lang="en-US" altLang="zh-CN" sz="2000" dirty="0">
                <a:solidFill>
                  <a:srgbClr val="000000"/>
                </a:solidFill>
              </a:rPr>
              <a:t>is invariant under the global unitary transformations:</a:t>
            </a:r>
            <a:endParaRPr lang="en-US" altLang="zh-CN" sz="2000" dirty="0">
              <a:effectLst/>
            </a:endParaRPr>
          </a:p>
          <a:p>
            <a:r>
              <a:rPr lang="en-US" altLang="zh-CN" sz="2000" dirty="0"/>
              <a:t>   </a:t>
            </a:r>
            <a:br>
              <a:rPr lang="en-US" altLang="zh-CN" sz="2000" dirty="0"/>
            </a:br>
            <a:endParaRPr lang="zh-CN" altLang="en-US" sz="20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75149A2-3719-610F-5031-C5DB23173F23}"/>
              </a:ext>
            </a:extLst>
          </p:cNvPr>
          <p:cNvSpPr txBox="1"/>
          <p:nvPr/>
        </p:nvSpPr>
        <p:spPr>
          <a:xfrm>
            <a:off x="9041362" y="3321698"/>
            <a:ext cx="297335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1" dirty="0">
                <a:solidFill>
                  <a:srgbClr val="000000"/>
                </a:solidFill>
                <a:effectLst/>
                <a:latin typeface="t1-gul-regular-italic"/>
              </a:rPr>
              <a:t>The right- and left-handed components of massless quarks do not mix.</a:t>
            </a:r>
            <a:br>
              <a:rPr lang="en-US" altLang="zh-CN" sz="2400" dirty="0"/>
            </a:br>
            <a:endParaRPr lang="zh-CN" altLang="en-US" sz="2400" dirty="0"/>
          </a:p>
        </p:txBody>
      </p:sp>
      <p:sp>
        <p:nvSpPr>
          <p:cNvPr id="19" name="箭头: 下弧形 18">
            <a:extLst>
              <a:ext uri="{FF2B5EF4-FFF2-40B4-BE49-F238E27FC236}">
                <a16:creationId xmlns:a16="http://schemas.microsoft.com/office/drawing/2014/main" id="{4A0E989E-B6D7-41DA-DF94-9119C501EDBB}"/>
              </a:ext>
            </a:extLst>
          </p:cNvPr>
          <p:cNvSpPr/>
          <p:nvPr/>
        </p:nvSpPr>
        <p:spPr>
          <a:xfrm>
            <a:off x="6211076" y="4449770"/>
            <a:ext cx="2830286" cy="750933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0" name="矩形">
            <a:extLst>
              <a:ext uri="{FF2B5EF4-FFF2-40B4-BE49-F238E27FC236}">
                <a16:creationId xmlns:a16="http://schemas.microsoft.com/office/drawing/2014/main" id="{92120BB8-F4FF-AB5D-0DBC-FD9A932CD32B}"/>
              </a:ext>
            </a:extLst>
          </p:cNvPr>
          <p:cNvSpPr/>
          <p:nvPr/>
        </p:nvSpPr>
        <p:spPr>
          <a:xfrm>
            <a:off x="8962277" y="2001833"/>
            <a:ext cx="3052439" cy="1015663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34C2226-F86F-5789-CACF-31B25A24714F}"/>
              </a:ext>
            </a:extLst>
          </p:cNvPr>
          <p:cNvSpPr txBox="1"/>
          <p:nvPr/>
        </p:nvSpPr>
        <p:spPr>
          <a:xfrm>
            <a:off x="8962278" y="2217276"/>
            <a:ext cx="3052439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Chiral symmetry 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944284F-8944-3FC3-2BA8-E26507D8D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870" y="996275"/>
            <a:ext cx="4565900" cy="63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930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8F657-4D2E-2CED-A764-D16DEE74B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9501C68-7AC9-E5C9-75EC-D857ADCC4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6D31C68A-C2F6-5F96-E21C-822100ABABC1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7B1727A-DEBB-2E67-FAA2-FE76F8A4C916}"/>
              </a:ext>
            </a:extLst>
          </p:cNvPr>
          <p:cNvSpPr txBox="1"/>
          <p:nvPr/>
        </p:nvSpPr>
        <p:spPr>
          <a:xfrm>
            <a:off x="292360" y="1280212"/>
            <a:ext cx="1113452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t1-gul-regular"/>
              </a:rPr>
              <a:t>To construct chiral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t1-gul-regular"/>
              </a:rPr>
              <a:t>Lagrangians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1-gul-regular"/>
              </a:rPr>
              <a:t>, we introduce the following 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t1-gul-regular-italic"/>
              </a:rPr>
              <a:t>SU</a:t>
            </a:r>
            <a:r>
              <a:rPr lang="en-US" altLang="zh-CN" sz="2400" b="0" i="1" dirty="0">
                <a:solidFill>
                  <a:srgbClr val="000000"/>
                </a:solidFill>
                <a:effectLst/>
                <a:latin typeface="RMTMI"/>
              </a:rPr>
              <a:t>(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1-gul-regular"/>
              </a:rPr>
              <a:t>2</a:t>
            </a:r>
            <a:r>
              <a:rPr lang="en-US" altLang="zh-CN" sz="2400" b="0" i="1" dirty="0">
                <a:solidFill>
                  <a:srgbClr val="000000"/>
                </a:solidFill>
                <a:effectLst/>
                <a:latin typeface="RMTMI"/>
              </a:rPr>
              <a:t>)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1-gul-regular"/>
              </a:rPr>
              <a:t>matrix 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t1-gul-regular-italic"/>
              </a:rPr>
              <a:t>U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1-gul-regular"/>
              </a:rPr>
              <a:t>in flavor space which collects the Goldstone pion fields</a:t>
            </a:r>
            <a:r>
              <a:rPr lang="en-US" altLang="zh-CN" sz="2000" dirty="0">
                <a:solidFill>
                  <a:srgbClr val="000000"/>
                </a:solidFill>
                <a:latin typeface="t1-gul-regular"/>
              </a:rPr>
              <a:t> </a:t>
            </a:r>
            <a:r>
              <a:rPr lang="el-GR" altLang="zh-CN" sz="2000" b="0" i="0" dirty="0">
                <a:solidFill>
                  <a:srgbClr val="000000"/>
                </a:solidFill>
                <a:effectLst/>
                <a:latin typeface="Yu Mincho" panose="020B0400000000000000" pitchFamily="18" charset="-128"/>
                <a:ea typeface="Yu Mincho" panose="020B0400000000000000" pitchFamily="18" charset="-128"/>
                <a:sym typeface="Wingdings" panose="05000000000000000000" pitchFamily="2" charset="2"/>
              </a:rPr>
              <a:t>π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4739ED-08D4-3436-508A-8CCBB4085058}"/>
              </a:ext>
            </a:extLst>
          </p:cNvPr>
          <p:cNvSpPr txBox="1"/>
          <p:nvPr/>
        </p:nvSpPr>
        <p:spPr>
          <a:xfrm>
            <a:off x="141423" y="249720"/>
            <a:ext cx="3457998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Chiral </a:t>
            </a:r>
            <a:r>
              <a:rPr lang="en-US" altLang="zh-CN" sz="3200" b="1" i="1" dirty="0" err="1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Lagrangians</a:t>
            </a:r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FD3D47A-C0FC-077D-A1D6-478807E3DE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29"/>
          <a:stretch>
            <a:fillRect/>
          </a:stretch>
        </p:blipFill>
        <p:spPr>
          <a:xfrm>
            <a:off x="1803919" y="2148318"/>
            <a:ext cx="7185148" cy="849659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445FA88-511F-E475-AFAA-46632008C86B}"/>
              </a:ext>
            </a:extLst>
          </p:cNvPr>
          <p:cNvSpPr txBox="1"/>
          <p:nvPr/>
        </p:nvSpPr>
        <p:spPr>
          <a:xfrm>
            <a:off x="6715506" y="6450238"/>
            <a:ext cx="4711383" cy="3683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 anchor="t">
            <a:spAutoFit/>
          </a:bodyPr>
          <a:lstStyle/>
          <a:p>
            <a:pPr indent="0" algn="l">
              <a:buClr>
                <a:srgbClr val="2169D3"/>
              </a:buClr>
              <a:buSzPct val="90000"/>
              <a:buFont typeface="Wingdings" panose="05000000000000000000" charset="0"/>
              <a:buNone/>
            </a:pPr>
            <a:r>
              <a:rPr lang="en-US" altLang="zh-CN" b="1" dirty="0">
                <a:solidFill>
                  <a:schemeClr val="bg1"/>
                </a:solidFill>
                <a:latin typeface="Avenir Medium" panose="02000503020000020003" charset="0"/>
                <a:cs typeface="Avenir Medium" panose="02000503020000020003" charset="0"/>
                <a:sym typeface="+mn-ea"/>
              </a:rPr>
              <a:t>R. Machleidt</a:t>
            </a:r>
            <a:r>
              <a:rPr lang="en-US" altLang="zh-CN" b="1" dirty="0">
                <a:solidFill>
                  <a:schemeClr val="bg1"/>
                </a:solidFill>
                <a:uFillTx/>
                <a:latin typeface="Avenir Medium" panose="02000503020000020003" charset="0"/>
                <a:cs typeface="Avenir Medium" panose="02000503020000020003" charset="0"/>
                <a:sym typeface="+mn-ea"/>
              </a:rPr>
              <a:t> </a:t>
            </a:r>
            <a:r>
              <a:rPr lang="en-US" altLang="zh-CN" b="1" i="1" dirty="0">
                <a:solidFill>
                  <a:schemeClr val="bg1"/>
                </a:solidFill>
                <a:uFillTx/>
                <a:latin typeface="Avenir Medium" panose="02000503020000020003" charset="0"/>
                <a:cs typeface="Avenir Medium" panose="02000503020000020003" charset="0"/>
                <a:sym typeface="+mn-ea"/>
              </a:rPr>
              <a:t>et al.</a:t>
            </a:r>
            <a:r>
              <a:rPr lang="en-US" altLang="zh-CN" b="1" dirty="0">
                <a:solidFill>
                  <a:schemeClr val="bg1"/>
                </a:solidFill>
                <a:uFillTx/>
                <a:latin typeface="Avenir Medium" panose="02000503020000020003" charset="0"/>
                <a:cs typeface="Avenir Medium" panose="02000503020000020003" charset="0"/>
                <a:sym typeface="+mn-ea"/>
              </a:rPr>
              <a:t>, Phys. Rep. </a:t>
            </a:r>
            <a:r>
              <a:rPr lang="en-US" altLang="zh-CN" b="1" dirty="0">
                <a:solidFill>
                  <a:schemeClr val="bg1"/>
                </a:solidFill>
                <a:latin typeface="Avenir Medium" panose="02000503020000020003" charset="0"/>
                <a:cs typeface="Avenir Medium" panose="02000503020000020003" charset="0"/>
                <a:sym typeface="+mn-ea"/>
              </a:rPr>
              <a:t>503</a:t>
            </a:r>
            <a:r>
              <a:rPr lang="en-US" altLang="zh-CN" b="1" dirty="0">
                <a:solidFill>
                  <a:schemeClr val="bg1"/>
                </a:solidFill>
                <a:uFillTx/>
                <a:latin typeface="Avenir Medium" panose="02000503020000020003" charset="0"/>
                <a:cs typeface="Avenir Medium" panose="02000503020000020003" charset="0"/>
                <a:sym typeface="+mn-ea"/>
              </a:rPr>
              <a:t>, 1-75 (2011)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0421790-1AF4-B5A7-8D17-B1C25F68C7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100" y="4500571"/>
            <a:ext cx="4783037" cy="1345924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05B249D-A944-B911-C30B-E47E37F31C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966" y="3774430"/>
            <a:ext cx="4864975" cy="740570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A1CEB165-7498-C855-CA18-BD0A3B5C3430}"/>
              </a:ext>
            </a:extLst>
          </p:cNvPr>
          <p:cNvSpPr txBox="1"/>
          <p:nvPr/>
        </p:nvSpPr>
        <p:spPr>
          <a:xfrm>
            <a:off x="6693773" y="3310013"/>
            <a:ext cx="62950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t1-gul-regular"/>
              </a:rPr>
              <a:t>leading order (LO) </a:t>
            </a:r>
            <a:r>
              <a:rPr lang="en-US" altLang="zh-CN" sz="2400" b="0" i="1" dirty="0">
                <a:solidFill>
                  <a:srgbClr val="000000"/>
                </a:solidFill>
                <a:effectLst/>
                <a:latin typeface="RMTMI"/>
              </a:rPr>
              <a:t>ππ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t1-gul-regular"/>
              </a:rPr>
              <a:t>Lagrangian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2931F25E-02BA-1D51-50F9-F1CA59202D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1233" y="5136243"/>
            <a:ext cx="6929535" cy="1169868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3BC2833D-92AA-AFDA-56A1-66952762C9EE}"/>
              </a:ext>
            </a:extLst>
          </p:cNvPr>
          <p:cNvSpPr txBox="1"/>
          <p:nvPr/>
        </p:nvSpPr>
        <p:spPr>
          <a:xfrm>
            <a:off x="5257610" y="4708871"/>
            <a:ext cx="66931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t1-gul-regular"/>
              </a:rPr>
              <a:t>expanding in numbers of pion fields</a:t>
            </a:r>
            <a:r>
              <a:rPr lang="zh-CN" altLang="en-US" sz="1800" b="0" i="0" dirty="0">
                <a:solidFill>
                  <a:srgbClr val="000000"/>
                </a:solidFill>
                <a:effectLst/>
                <a:latin typeface="t1-gul-regular"/>
              </a:rPr>
              <a:t>：</a:t>
            </a:r>
            <a:r>
              <a:rPr lang="en-US" altLang="zh-CN" dirty="0"/>
              <a:t> </a:t>
            </a:r>
            <a:br>
              <a:rPr lang="en-US" altLang="zh-CN" dirty="0"/>
            </a:br>
            <a:endParaRPr lang="zh-CN" altLang="en-US" dirty="0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5498273C-5609-BA10-8B71-8FD889FF2F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123" y="3515028"/>
            <a:ext cx="4538856" cy="67679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DF547EC4-61F3-B968-61CB-DA12B5B1A29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8735" y="5955976"/>
            <a:ext cx="4072491" cy="652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16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3CBCC-D084-FF0A-E831-9A30D2FA5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>
            <a:extLst>
              <a:ext uri="{FF2B5EF4-FFF2-40B4-BE49-F238E27FC236}">
                <a16:creationId xmlns:a16="http://schemas.microsoft.com/office/drawing/2014/main" id="{008D33E2-C164-DF6F-C891-FE45846F2CEE}"/>
              </a:ext>
            </a:extLst>
          </p:cNvPr>
          <p:cNvSpPr/>
          <p:nvPr/>
        </p:nvSpPr>
        <p:spPr>
          <a:xfrm>
            <a:off x="455872" y="2989105"/>
            <a:ext cx="3052439" cy="1015663"/>
          </a:xfrm>
          <a:prstGeom prst="rect">
            <a:avLst/>
          </a:prstGeom>
          <a:solidFill>
            <a:schemeClr val="accent5"/>
          </a:soli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 dirty="0">
              <a:latin typeface="Helvetica Light Oblique" charset="0"/>
              <a:cs typeface="Helvetica Light Oblique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53CE456-ACAA-2BF7-9E22-9DDEF0F88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AA327043-0E6C-0A5F-843C-555973017A8A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9F334E-01D2-58F2-0718-8B80D2B288CA}"/>
              </a:ext>
            </a:extLst>
          </p:cNvPr>
          <p:cNvSpPr txBox="1"/>
          <p:nvPr/>
        </p:nvSpPr>
        <p:spPr>
          <a:xfrm>
            <a:off x="141423" y="249720"/>
            <a:ext cx="3457998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Chiral </a:t>
            </a:r>
            <a:r>
              <a:rPr lang="en-US" altLang="zh-CN" sz="3200" b="1" i="1" dirty="0" err="1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Lagrangians</a:t>
            </a:r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C2E0A35-C820-9684-F2BE-9CAD3124DD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85" y="1494975"/>
            <a:ext cx="4914802" cy="81691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2B0C6C49-1382-EC5A-EC3C-A62D3EC36620}"/>
              </a:ext>
            </a:extLst>
          </p:cNvPr>
          <p:cNvSpPr txBox="1"/>
          <p:nvPr/>
        </p:nvSpPr>
        <p:spPr>
          <a:xfrm>
            <a:off x="360785" y="1081675"/>
            <a:ext cx="629505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altLang="zh-CN" sz="2000" b="0" i="0" dirty="0">
                <a:solidFill>
                  <a:srgbClr val="000000"/>
                </a:solidFill>
                <a:effectLst/>
                <a:latin typeface="t1-gul-regular"/>
              </a:rPr>
              <a:t>the LO relativistic </a:t>
            </a:r>
            <a:r>
              <a:rPr lang="it-IT" altLang="zh-CN" sz="2400" b="0" i="1" dirty="0">
                <a:solidFill>
                  <a:srgbClr val="000000"/>
                </a:solidFill>
                <a:effectLst/>
                <a:latin typeface="RMTMI"/>
              </a:rPr>
              <a:t>π</a:t>
            </a:r>
            <a:r>
              <a:rPr lang="it-IT" altLang="zh-CN" sz="2000" b="0" i="1" dirty="0">
                <a:solidFill>
                  <a:srgbClr val="000000"/>
                </a:solidFill>
                <a:effectLst/>
                <a:latin typeface="t1-gul-regular-italic"/>
              </a:rPr>
              <a:t>N </a:t>
            </a:r>
            <a:r>
              <a:rPr lang="it-IT" altLang="zh-CN" sz="2000" b="0" i="0" dirty="0">
                <a:solidFill>
                  <a:srgbClr val="000000"/>
                </a:solidFill>
                <a:effectLst/>
                <a:latin typeface="t1-gul-regular"/>
              </a:rPr>
              <a:t>Lagrangian</a:t>
            </a:r>
            <a:r>
              <a:rPr lang="it-IT" altLang="zh-CN" sz="2000" dirty="0"/>
              <a:t> </a:t>
            </a:r>
            <a:br>
              <a:rPr lang="it-IT" altLang="zh-CN" sz="2000" dirty="0"/>
            </a:b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138DF03-9E97-FD18-338E-6E79A992491A}"/>
              </a:ext>
            </a:extLst>
          </p:cNvPr>
          <p:cNvSpPr txBox="1"/>
          <p:nvPr/>
        </p:nvSpPr>
        <p:spPr>
          <a:xfrm>
            <a:off x="446089" y="2366828"/>
            <a:ext cx="1129003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The time-derivative of a relativistic baryon field generates a factor </a:t>
            </a:r>
            <a:r>
              <a:rPr lang="en-US" altLang="zh-CN" b="1" i="1" dirty="0"/>
              <a:t>E </a:t>
            </a:r>
            <a:r>
              <a:rPr lang="en-US" altLang="zh-CN" b="1" dirty="0"/>
              <a:t>≈ </a:t>
            </a:r>
            <a:r>
              <a:rPr lang="en-US" altLang="zh-CN" b="1" i="1" dirty="0"/>
              <a:t>M</a:t>
            </a:r>
            <a:r>
              <a:rPr lang="en-US" altLang="zh-CN" b="1" dirty="0"/>
              <a:t> , leading to </a:t>
            </a:r>
            <a:r>
              <a:rPr lang="en-US" altLang="zh-CN" b="1" i="1" dirty="0"/>
              <a:t>Q/</a:t>
            </a:r>
            <a:r>
              <a:rPr lang="el-GR" altLang="zh-CN" b="1" i="1" dirty="0"/>
              <a:t>Λχ </a:t>
            </a:r>
            <a:r>
              <a:rPr lang="el-GR" altLang="zh-CN" b="1" dirty="0"/>
              <a:t>≈ 1 </a:t>
            </a:r>
            <a:br>
              <a:rPr lang="el-GR" altLang="zh-CN" b="1" dirty="0"/>
            </a:br>
            <a:br>
              <a:rPr lang="en-US" altLang="zh-CN" b="1" dirty="0"/>
            </a:br>
            <a:endParaRPr lang="zh-CN" altLang="en-US" b="1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15619F6-9613-C235-2E0A-47858AFD4294}"/>
              </a:ext>
            </a:extLst>
          </p:cNvPr>
          <p:cNvSpPr txBox="1"/>
          <p:nvPr/>
        </p:nvSpPr>
        <p:spPr>
          <a:xfrm>
            <a:off x="536791" y="3154017"/>
            <a:ext cx="312264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chemeClr val="bg1"/>
                </a:solidFill>
                <a:effectLst/>
                <a:latin typeface="t1-gul-regular"/>
              </a:rPr>
              <a:t>heavy baryon (HB) chiral perturbation theory (</a:t>
            </a:r>
            <a:r>
              <a:rPr lang="en-US" altLang="zh-CN" b="0" i="0" dirty="0" err="1">
                <a:solidFill>
                  <a:schemeClr val="bg1"/>
                </a:solidFill>
                <a:effectLst/>
                <a:latin typeface="t1-gul-regular"/>
              </a:rPr>
              <a:t>HBChPT</a:t>
            </a:r>
            <a:r>
              <a:rPr lang="en-US" altLang="zh-CN" b="0" i="0" dirty="0">
                <a:solidFill>
                  <a:schemeClr val="bg1"/>
                </a:solidFill>
                <a:effectLst/>
                <a:latin typeface="t1-gul-regular"/>
              </a:rPr>
              <a:t>)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br>
              <a:rPr lang="en-US" altLang="zh-CN" dirty="0">
                <a:solidFill>
                  <a:schemeClr val="bg1"/>
                </a:solidFill>
              </a:rPr>
            </a:b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箭头: 右 15">
            <a:extLst>
              <a:ext uri="{FF2B5EF4-FFF2-40B4-BE49-F238E27FC236}">
                <a16:creationId xmlns:a16="http://schemas.microsoft.com/office/drawing/2014/main" id="{0A7D67DE-9AA5-C788-6095-398D3A4EE7F1}"/>
              </a:ext>
            </a:extLst>
          </p:cNvPr>
          <p:cNvSpPr/>
          <p:nvPr/>
        </p:nvSpPr>
        <p:spPr>
          <a:xfrm>
            <a:off x="4055706" y="3323252"/>
            <a:ext cx="2177143" cy="3473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54CAB9A9-FED3-05C1-D6CA-9C41A91136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1434" y="2864782"/>
            <a:ext cx="4675226" cy="989963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AC3A86FD-A2E1-0EB3-690B-1A3EAE54F2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733" y="4077347"/>
            <a:ext cx="11034227" cy="222678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C6A8358-1C55-1E89-2EF6-695E4D5508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1699" y="4926831"/>
            <a:ext cx="6823787" cy="8001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6E481F67-C9FB-4EFD-BF33-857A56B70E6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8968" y="5670737"/>
            <a:ext cx="6127103" cy="96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86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E779E-5305-247D-CD7A-77285F3E8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7C731F2-F733-52C8-1ED8-9C1A41AE7D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A1AB5480-8EC1-B6F6-4C6F-5AFFBA07BCE0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4171CD7-D833-2B68-442C-49D32902BBDD}"/>
              </a:ext>
            </a:extLst>
          </p:cNvPr>
          <p:cNvSpPr txBox="1"/>
          <p:nvPr/>
        </p:nvSpPr>
        <p:spPr>
          <a:xfrm>
            <a:off x="141423" y="249720"/>
            <a:ext cx="2935484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Power counting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5DA3F51-69BE-A163-BE83-760F94D74405}"/>
              </a:ext>
            </a:extLst>
          </p:cNvPr>
          <p:cNvSpPr txBox="1"/>
          <p:nvPr/>
        </p:nvSpPr>
        <p:spPr>
          <a:xfrm>
            <a:off x="335902" y="1081675"/>
            <a:ext cx="867746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</a:rPr>
              <a:t>F</a:t>
            </a:r>
            <a:r>
              <a:rPr lang="en-US" altLang="zh-CN" sz="2000" i="0" dirty="0">
                <a:solidFill>
                  <a:srgbClr val="000000"/>
                </a:solidFill>
                <a:effectLst/>
              </a:rPr>
              <a:t>or interactions among nucleons, it is sometimes useful to also consider the so-called index of the interaction: 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C7920D9-3604-BFB8-82BE-D8ABC5B49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227" y="1786784"/>
            <a:ext cx="2637953" cy="98105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66FDAEDB-89C0-71D5-33A6-CE01235C339C}"/>
              </a:ext>
            </a:extLst>
          </p:cNvPr>
          <p:cNvSpPr txBox="1"/>
          <p:nvPr/>
        </p:nvSpPr>
        <p:spPr>
          <a:xfrm>
            <a:off x="4674636" y="1748387"/>
            <a:ext cx="62950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1" dirty="0">
                <a:solidFill>
                  <a:srgbClr val="000000"/>
                </a:solidFill>
                <a:effectLst/>
                <a:latin typeface="t1-gul-regular-italic"/>
              </a:rPr>
              <a:t>d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1-gul-regular"/>
              </a:rPr>
              <a:t>is the number of derivatives or pion-mass insertions </a:t>
            </a:r>
            <a:br>
              <a:rPr lang="en-US" altLang="zh-CN" sz="2000" dirty="0"/>
            </a:br>
            <a:endParaRPr lang="zh-CN" altLang="en-US" sz="20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36FB7F8-B6C8-8BA4-F3FC-C9C9D916DF5D}"/>
              </a:ext>
            </a:extLst>
          </p:cNvPr>
          <p:cNvSpPr txBox="1"/>
          <p:nvPr/>
        </p:nvSpPr>
        <p:spPr>
          <a:xfrm>
            <a:off x="4674636" y="2277313"/>
            <a:ext cx="64536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1" dirty="0">
                <a:solidFill>
                  <a:srgbClr val="000000"/>
                </a:solidFill>
                <a:effectLst/>
                <a:latin typeface="t1-gul-regular-italic"/>
              </a:rPr>
              <a:t>n is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1-gul-regular"/>
              </a:rPr>
              <a:t>the number of nucleon field operators (nucleon legs)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6714168-C527-1F70-577D-69A1E77E5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864" y="4216947"/>
            <a:ext cx="4597465" cy="80548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7A3070EB-B78C-A829-3423-2A2642C5D5B6}"/>
              </a:ext>
            </a:extLst>
          </p:cNvPr>
          <p:cNvSpPr txBox="1"/>
          <p:nvPr/>
        </p:nvSpPr>
        <p:spPr>
          <a:xfrm>
            <a:off x="335902" y="3363154"/>
            <a:ext cx="1001485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000000"/>
                </a:solidFill>
                <a:effectLst/>
              </a:rPr>
              <a:t>In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</a:rPr>
              <a:t>ChPT</a:t>
            </a:r>
            <a:r>
              <a:rPr lang="en-US" altLang="zh-CN" sz="2000" b="0" i="0" dirty="0">
                <a:solidFill>
                  <a:srgbClr val="000000"/>
                </a:solidFill>
                <a:effectLst/>
              </a:rPr>
              <a:t>, graphs are analyzed in terms of powers of small external momenta over the large scale: </a:t>
            </a:r>
            <a:r>
              <a:rPr lang="en-US" altLang="zh-CN" sz="2400" b="0" i="1" dirty="0">
                <a:solidFill>
                  <a:srgbClr val="000000"/>
                </a:solidFill>
                <a:effectLst/>
              </a:rPr>
              <a:t>(</a:t>
            </a:r>
            <a:r>
              <a:rPr lang="en-US" altLang="zh-CN" sz="2000" b="0" i="1" dirty="0">
                <a:solidFill>
                  <a:srgbClr val="000000"/>
                </a:solidFill>
                <a:effectLst/>
              </a:rPr>
              <a:t>Q </a:t>
            </a:r>
            <a:r>
              <a:rPr lang="en-US" altLang="zh-CN" sz="2400" b="0" i="1" dirty="0">
                <a:solidFill>
                  <a:srgbClr val="000000"/>
                </a:solidFill>
                <a:effectLst/>
              </a:rPr>
              <a:t>/</a:t>
            </a:r>
            <a:r>
              <a:rPr lang="en-US" altLang="zh-CN" sz="2000" b="0" i="1" dirty="0" err="1">
                <a:solidFill>
                  <a:srgbClr val="000000"/>
                </a:solidFill>
                <a:effectLst/>
              </a:rPr>
              <a:t>Λ</a:t>
            </a:r>
            <a:r>
              <a:rPr lang="en-US" altLang="zh-CN" sz="900" b="0" i="1" dirty="0" err="1">
                <a:solidFill>
                  <a:srgbClr val="000000"/>
                </a:solidFill>
                <a:effectLst/>
              </a:rPr>
              <a:t>χ</a:t>
            </a:r>
            <a:r>
              <a:rPr lang="en-US" altLang="zh-CN" sz="2400" b="0" i="1" dirty="0">
                <a:solidFill>
                  <a:srgbClr val="000000"/>
                </a:solidFill>
                <a:effectLst/>
              </a:rPr>
              <a:t>)</a:t>
            </a:r>
            <a:r>
              <a:rPr lang="en-US" altLang="zh-CN" sz="2800" b="0" i="1" baseline="30000" dirty="0">
                <a:solidFill>
                  <a:srgbClr val="000000"/>
                </a:solidFill>
                <a:effectLst/>
              </a:rPr>
              <a:t>ν</a:t>
            </a:r>
            <a:r>
              <a:rPr lang="en-US" altLang="zh-CN" sz="2000" dirty="0"/>
              <a:t> , d</a:t>
            </a:r>
            <a:r>
              <a:rPr lang="en-US" altLang="zh-CN" dirty="0"/>
              <a:t>etermining the power </a:t>
            </a:r>
            <a:r>
              <a:rPr lang="en-US" altLang="zh-CN" i="1" dirty="0"/>
              <a:t>ν </a:t>
            </a:r>
            <a:r>
              <a:rPr lang="en-US" altLang="zh-CN" dirty="0"/>
              <a:t>has become known as power counting. 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br>
              <a:rPr lang="en-US" altLang="zh-CN" sz="2000" dirty="0"/>
            </a:br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C2B8A441-D616-4D87-F0A1-086B3372243C}"/>
              </a:ext>
            </a:extLst>
          </p:cNvPr>
          <p:cNvSpPr txBox="1"/>
          <p:nvPr/>
        </p:nvSpPr>
        <p:spPr>
          <a:xfrm>
            <a:off x="258146" y="5153608"/>
            <a:ext cx="101703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1" dirty="0">
                <a:solidFill>
                  <a:srgbClr val="FF0000"/>
                </a:solidFill>
                <a:effectLst/>
              </a:rPr>
              <a:t>C  </a:t>
            </a:r>
            <a:r>
              <a:rPr lang="en-US" altLang="zh-CN" sz="2000" b="0" i="0" dirty="0">
                <a:solidFill>
                  <a:srgbClr val="FF0000"/>
                </a:solidFill>
                <a:effectLst/>
              </a:rPr>
              <a:t>denotes the number of separately connected pieces </a:t>
            </a:r>
            <a:r>
              <a:rPr lang="en-US" altLang="zh-CN" sz="2000" b="0" i="0" dirty="0">
                <a:solidFill>
                  <a:srgbClr val="000000"/>
                </a:solidFill>
                <a:effectLst/>
              </a:rPr>
              <a:t>and </a:t>
            </a:r>
            <a:r>
              <a:rPr lang="en-US" altLang="zh-CN" sz="2000" b="0" i="1" dirty="0">
                <a:solidFill>
                  <a:srgbClr val="000000"/>
                </a:solidFill>
                <a:effectLst/>
              </a:rPr>
              <a:t>L </a:t>
            </a:r>
            <a:r>
              <a:rPr lang="en-US" altLang="zh-CN" sz="2000" b="0" i="0" dirty="0">
                <a:solidFill>
                  <a:srgbClr val="000000"/>
                </a:solidFill>
                <a:effectLst/>
              </a:rPr>
              <a:t>the number of loops in the diagram.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3FAA0CA-5FCC-1DEB-4C7C-0B8E8A64AE57}"/>
              </a:ext>
            </a:extLst>
          </p:cNvPr>
          <p:cNvSpPr txBox="1"/>
          <p:nvPr/>
        </p:nvSpPr>
        <p:spPr>
          <a:xfrm>
            <a:off x="335902" y="5964525"/>
            <a:ext cx="59902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</a:rPr>
              <a:t>F</a:t>
            </a:r>
            <a:r>
              <a:rPr lang="en-US" altLang="zh-CN" sz="2000" b="0" i="0" dirty="0">
                <a:solidFill>
                  <a:srgbClr val="000000"/>
                </a:solidFill>
                <a:effectLst/>
              </a:rPr>
              <a:t>or an irreducible </a:t>
            </a:r>
            <a:r>
              <a:rPr lang="en-US" altLang="zh-CN" sz="2000" b="0" i="1" dirty="0">
                <a:solidFill>
                  <a:srgbClr val="000000"/>
                </a:solidFill>
                <a:effectLst/>
              </a:rPr>
              <a:t>NN </a:t>
            </a:r>
            <a:r>
              <a:rPr lang="en-US" altLang="zh-CN" sz="2000" b="0" i="0" dirty="0">
                <a:solidFill>
                  <a:srgbClr val="000000"/>
                </a:solidFill>
                <a:effectLst/>
              </a:rPr>
              <a:t>diagram , </a:t>
            </a:r>
            <a:r>
              <a:rPr lang="en-US" altLang="zh-CN" sz="2000" b="0" i="1" dirty="0">
                <a:solidFill>
                  <a:srgbClr val="000000"/>
                </a:solidFill>
                <a:effectLst/>
              </a:rPr>
              <a:t>A </a:t>
            </a:r>
            <a:r>
              <a:rPr lang="en-US" altLang="zh-CN" sz="2400" b="0" i="0" dirty="0">
                <a:solidFill>
                  <a:srgbClr val="000000"/>
                </a:solidFill>
                <a:effectLst/>
              </a:rPr>
              <a:t>= </a:t>
            </a:r>
            <a:r>
              <a:rPr lang="en-US" altLang="zh-CN" sz="2000" b="0" i="0" dirty="0">
                <a:solidFill>
                  <a:srgbClr val="000000"/>
                </a:solidFill>
                <a:effectLst/>
              </a:rPr>
              <a:t>2, </a:t>
            </a:r>
            <a:r>
              <a:rPr lang="en-US" altLang="zh-CN" sz="2000" b="0" i="1" dirty="0">
                <a:solidFill>
                  <a:srgbClr val="000000"/>
                </a:solidFill>
                <a:effectLst/>
              </a:rPr>
              <a:t>C </a:t>
            </a:r>
            <a:r>
              <a:rPr lang="en-US" altLang="zh-CN" sz="2400" b="0" i="0" dirty="0">
                <a:solidFill>
                  <a:srgbClr val="000000"/>
                </a:solidFill>
                <a:effectLst/>
              </a:rPr>
              <a:t>= </a:t>
            </a:r>
            <a:r>
              <a:rPr lang="en-US" altLang="zh-CN" sz="2000" b="0" i="0" dirty="0">
                <a:solidFill>
                  <a:srgbClr val="000000"/>
                </a:solidFill>
                <a:effectLst/>
              </a:rPr>
              <a:t>1.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1121B938-D861-D068-A54E-B3BFB12C1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3911" y="5939475"/>
            <a:ext cx="2427610" cy="79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16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701EC-8167-E0A9-AEFE-EF5CD00ED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D62BFFA6-F992-8457-84A4-6554D300C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9348B8A0-0503-5708-9F82-E93C347F074C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9FEC79D-9D25-1FE5-7FD4-154E3FCFA6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722"/>
          <a:stretch>
            <a:fillRect/>
          </a:stretch>
        </p:blipFill>
        <p:spPr>
          <a:xfrm>
            <a:off x="348344" y="1081675"/>
            <a:ext cx="4659085" cy="573537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A5B960F-1E09-A7D8-FF73-E9FCD8CE5C93}"/>
              </a:ext>
            </a:extLst>
          </p:cNvPr>
          <p:cNvSpPr txBox="1"/>
          <p:nvPr/>
        </p:nvSpPr>
        <p:spPr>
          <a:xfrm>
            <a:off x="141423" y="249720"/>
            <a:ext cx="2935484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Power counting 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4A452A3-0561-1413-A5E5-282635B8946E}"/>
              </a:ext>
            </a:extLst>
          </p:cNvPr>
          <p:cNvSpPr txBox="1"/>
          <p:nvPr/>
        </p:nvSpPr>
        <p:spPr>
          <a:xfrm>
            <a:off x="5293568" y="1496306"/>
            <a:ext cx="62950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000000"/>
                </a:solidFill>
                <a:effectLst/>
                <a:latin typeface="t1-gul-regular"/>
              </a:rPr>
              <a:t>Small dots, large solid dots, solid squares, and solid diamonds denote vertices of index </a:t>
            </a:r>
            <a:r>
              <a:rPr lang="en-US" altLang="zh-CN" sz="2400" b="0" i="1" dirty="0">
                <a:solidFill>
                  <a:srgbClr val="000000"/>
                </a:solidFill>
                <a:effectLst/>
                <a:latin typeface="RMTMI"/>
              </a:rPr>
              <a:t>∆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MTSYN"/>
              </a:rPr>
              <a:t>=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t1-gul-regular"/>
              </a:rPr>
              <a:t>0, 1, 2, and 4, respectively.</a:t>
            </a:r>
            <a:r>
              <a:rPr lang="en-US" altLang="zh-CN" sz="2400" dirty="0"/>
              <a:t> </a:t>
            </a:r>
            <a:br>
              <a:rPr lang="en-US" altLang="zh-CN" sz="2400" dirty="0"/>
            </a:br>
            <a:endParaRPr lang="zh-CN" altLang="en-US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3183431-DC99-7911-D85C-78B3D3D45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807" y="3389292"/>
            <a:ext cx="4597465" cy="80548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743D4FA-0358-FA11-87D5-FE40C0C34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539" y="5361694"/>
            <a:ext cx="2427610" cy="79449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8B10C77-D1FE-35E0-41EC-6535E417F489}"/>
              </a:ext>
            </a:extLst>
          </p:cNvPr>
          <p:cNvSpPr txBox="1"/>
          <p:nvPr/>
        </p:nvSpPr>
        <p:spPr>
          <a:xfrm>
            <a:off x="6624735" y="4897645"/>
            <a:ext cx="62950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</a:rPr>
              <a:t>irreducible </a:t>
            </a:r>
            <a:r>
              <a:rPr lang="en-US" altLang="zh-CN" sz="1800" b="0" i="1" dirty="0">
                <a:solidFill>
                  <a:srgbClr val="000000"/>
                </a:solidFill>
                <a:effectLst/>
              </a:rPr>
              <a:t>NN </a:t>
            </a:r>
            <a:r>
              <a:rPr lang="en-US" altLang="zh-CN" sz="1800" b="0" i="0" dirty="0">
                <a:solidFill>
                  <a:srgbClr val="000000"/>
                </a:solidFill>
                <a:effectLst/>
              </a:rPr>
              <a:t>diagram 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361726C-1E48-02EE-7692-EE34892CF8B4}"/>
              </a:ext>
            </a:extLst>
          </p:cNvPr>
          <p:cNvSpPr txBox="1"/>
          <p:nvPr/>
        </p:nvSpPr>
        <p:spPr>
          <a:xfrm>
            <a:off x="3489650" y="2233126"/>
            <a:ext cx="1200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C=1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81841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DEC51-5A8F-F30D-DE87-39BE36D59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590383F-CFAE-8E05-7870-4CBC169D4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BB22F14E-F90B-17E7-0B6F-ECC4F8D1F418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b="1" i="1" dirty="0">
              <a:latin typeface="Avenir Black Oblique" panose="02000503020000020003"/>
              <a:cs typeface="Helvetica Light Oblique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04A83F0-8779-6BCD-0748-51ECF7900FE9}"/>
              </a:ext>
            </a:extLst>
          </p:cNvPr>
          <p:cNvSpPr txBox="1"/>
          <p:nvPr/>
        </p:nvSpPr>
        <p:spPr>
          <a:xfrm>
            <a:off x="199053" y="121594"/>
            <a:ext cx="85406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i="1" dirty="0">
                <a:solidFill>
                  <a:schemeClr val="bg1"/>
                </a:solidFill>
                <a:effectLst/>
                <a:latin typeface="t1-gul-regular-italic"/>
              </a:rPr>
              <a:t>NN scattering in peripheral partial waves</a:t>
            </a:r>
            <a:r>
              <a:rPr lang="en-US" altLang="zh-CN" sz="3200" b="1" dirty="0">
                <a:solidFill>
                  <a:schemeClr val="bg1"/>
                </a:solidFill>
              </a:rPr>
              <a:t> </a:t>
            </a:r>
            <a:br>
              <a:rPr lang="en-US" altLang="zh-CN" sz="3200" b="1" dirty="0">
                <a:solidFill>
                  <a:schemeClr val="bg1"/>
                </a:solidFill>
              </a:rPr>
            </a:b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7FE76B8-9165-CF69-3783-F1AF3FB0952D}"/>
              </a:ext>
            </a:extLst>
          </p:cNvPr>
          <p:cNvSpPr txBox="1"/>
          <p:nvPr/>
        </p:nvSpPr>
        <p:spPr>
          <a:xfrm>
            <a:off x="199053" y="1155269"/>
            <a:ext cx="101143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solidFill>
                  <a:srgbClr val="000000"/>
                </a:solidFill>
                <a:latin typeface="t1-gul-regular"/>
              </a:rPr>
              <a:t>Then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t1-gul-regular"/>
              </a:rPr>
              <a:t>deriving the pion-exchange contributions to the </a:t>
            </a:r>
            <a:r>
              <a:rPr lang="en-US" altLang="zh-CN" sz="2400" b="0" i="1" dirty="0">
                <a:solidFill>
                  <a:srgbClr val="000000"/>
                </a:solidFill>
                <a:effectLst/>
                <a:latin typeface="t1-gul-regular-italic"/>
              </a:rPr>
              <a:t>NN 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t1-gul-regular"/>
              </a:rPr>
              <a:t>interaction.</a:t>
            </a:r>
            <a:r>
              <a:rPr lang="en-US" altLang="zh-CN" sz="2400" dirty="0"/>
              <a:t> </a:t>
            </a:r>
            <a:br>
              <a:rPr lang="en-US" altLang="zh-CN" sz="2400" dirty="0"/>
            </a:br>
            <a:endParaRPr lang="zh-CN" altLang="en-US" sz="2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DA66514-DE4E-6F87-91DA-4C7849849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695" y="1986266"/>
            <a:ext cx="1487852" cy="166221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B22556C-94A4-57F4-D0DD-992FB58113BB}"/>
              </a:ext>
            </a:extLst>
          </p:cNvPr>
          <p:cNvSpPr txBox="1"/>
          <p:nvPr/>
        </p:nvSpPr>
        <p:spPr>
          <a:xfrm>
            <a:off x="2195804" y="2039780"/>
            <a:ext cx="8982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/>
              <a:t>Considering a very simple example, one-pion exchange in leading order.</a:t>
            </a:r>
            <a:endParaRPr lang="zh-CN" altLang="en-US" sz="2000" b="1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6A56EDD4-AEB8-EE37-00DD-966A02473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906" y="2550843"/>
            <a:ext cx="4664564" cy="923676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07C37440-A0ED-CB39-5009-9D0D219A2625}"/>
              </a:ext>
            </a:extLst>
          </p:cNvPr>
          <p:cNvSpPr txBox="1"/>
          <p:nvPr/>
        </p:nvSpPr>
        <p:spPr>
          <a:xfrm>
            <a:off x="1190621" y="3910691"/>
            <a:ext cx="1598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Vertex: </a:t>
            </a:r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0FC9E5C-FAA9-045D-ABE3-FD537095D67C}"/>
              </a:ext>
            </a:extLst>
          </p:cNvPr>
          <p:cNvPicPr>
            <a:picLocks/>
          </p:cNvPicPr>
          <p:nvPr/>
        </p:nvPicPr>
        <p:blipFill>
          <a:blip r:embed="rId5"/>
          <a:srcRect t="9014" r="3397" b="12755"/>
          <a:stretch>
            <a:fillRect/>
          </a:stretch>
        </p:blipFill>
        <p:spPr>
          <a:xfrm>
            <a:off x="2139333" y="3702764"/>
            <a:ext cx="1959915" cy="71534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41A4DAD-ECEC-E4B9-5E77-CEE61EBCE413}"/>
              </a:ext>
            </a:extLst>
          </p:cNvPr>
          <p:cNvSpPr txBox="1"/>
          <p:nvPr/>
        </p:nvSpPr>
        <p:spPr>
          <a:xfrm>
            <a:off x="1190621" y="4737393"/>
            <a:ext cx="1443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Propagator:</a:t>
            </a:r>
            <a:endParaRPr lang="zh-CN" altLang="en-US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2D65B062-39DE-B5DB-5979-B95DFEE3E7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1710" y="4542238"/>
            <a:ext cx="1647825" cy="9144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62EEA2F4-D25D-2418-1F42-0AC89413AD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76698" y="3585472"/>
            <a:ext cx="6453381" cy="108747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5598E28E-CF89-C263-34BB-F76DDECD4E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12702" y="4783895"/>
            <a:ext cx="4927790" cy="108746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7C6FBE3A-4705-1C2B-22EC-F710181816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3499" y="5935447"/>
            <a:ext cx="4806993" cy="60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606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CF0368-B515-4119-915C-7B420A25C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DB5967B-49AA-2D71-69F6-499071F0A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13DAFB47-695F-EA44-ABDA-58E3C60236C0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421301B-17F6-7B61-EDFA-99F262446804}"/>
              </a:ext>
            </a:extLst>
          </p:cNvPr>
          <p:cNvSpPr txBox="1"/>
          <p:nvPr/>
        </p:nvSpPr>
        <p:spPr>
          <a:xfrm>
            <a:off x="186613" y="140412"/>
            <a:ext cx="62950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Avenir Black Oblique" panose="02000503020000020003"/>
              </a:rPr>
              <a:t>E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Avenir Black Oblique" panose="02000503020000020003"/>
              </a:rPr>
              <a:t>lectromagnetic current</a:t>
            </a:r>
            <a:r>
              <a:rPr lang="en-US" altLang="zh-CN" sz="3200" dirty="0">
                <a:solidFill>
                  <a:schemeClr val="bg1"/>
                </a:solidFill>
                <a:latin typeface="Avenir Black Oblique" panose="02000503020000020003"/>
              </a:rPr>
              <a:t> </a:t>
            </a:r>
            <a:br>
              <a:rPr lang="en-US" altLang="zh-CN" sz="3200" dirty="0">
                <a:solidFill>
                  <a:schemeClr val="bg1"/>
                </a:solidFill>
                <a:latin typeface="Avenir Black Oblique" panose="02000503020000020003"/>
              </a:rPr>
            </a:br>
            <a:endParaRPr lang="zh-CN" altLang="en-US" sz="3200" dirty="0">
              <a:solidFill>
                <a:schemeClr val="bg1"/>
              </a:solidFill>
              <a:latin typeface="Avenir Black Oblique" panose="02000503020000020003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7948E27E-D672-FB61-6984-EAA3E066A1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1475"/>
          <a:stretch>
            <a:fillRect/>
          </a:stretch>
        </p:blipFill>
        <p:spPr>
          <a:xfrm>
            <a:off x="583213" y="1355502"/>
            <a:ext cx="5288853" cy="78781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BC66C8A-FAB6-ACC4-194D-C0814288429F}"/>
              </a:ext>
            </a:extLst>
          </p:cNvPr>
          <p:cNvSpPr txBox="1"/>
          <p:nvPr/>
        </p:nvSpPr>
        <p:spPr>
          <a:xfrm>
            <a:off x="186613" y="1096451"/>
            <a:ext cx="102574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Times-Roman"/>
              </a:rPr>
              <a:t>W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-Roman"/>
              </a:rPr>
              <a:t>e only </a:t>
            </a:r>
            <a:r>
              <a:rPr lang="en-US" altLang="zh-CN" sz="2000" dirty="0">
                <a:solidFill>
                  <a:srgbClr val="000000"/>
                </a:solidFill>
                <a:latin typeface="Times-Roman"/>
              </a:rPr>
              <a:t>consider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-Roman"/>
              </a:rPr>
              <a:t> the leading pion and pion-nucleon terms in the effective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Times-Roman"/>
              </a:rPr>
              <a:t>Lagrangian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F894941-0194-FD45-895F-1D384CFA3F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13" y="2200275"/>
            <a:ext cx="3988787" cy="78781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F8BE485-B39B-70D5-E3C7-5154588941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625" y="4152050"/>
            <a:ext cx="5508027" cy="21249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52676D3-4E77-1535-6BC0-7F4E016A0BBB}"/>
                  </a:ext>
                </a:extLst>
              </p:cNvPr>
              <p:cNvSpPr txBox="1"/>
              <p:nvPr/>
            </p:nvSpPr>
            <p:spPr>
              <a:xfrm>
                <a:off x="335903" y="3145232"/>
                <a:ext cx="9803362" cy="728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000" dirty="0">
                    <a:latin typeface="Avenir Black Oblique" panose="02000503020000020003"/>
                  </a:rPr>
                  <a:t>To couple external electroweak fields, the global chiral symmetry is promoted to a local </a:t>
                </a:r>
                <a14:m>
                  <m:oMath xmlns:m="http://schemas.openxmlformats.org/officeDocument/2006/math">
                    <m:r>
                      <a:rPr lang="zh-CN" altLang="en-US" sz="2000" i="1">
                        <a:latin typeface="Cambria Math" panose="02040503050406030204" pitchFamily="18" charset="0"/>
                      </a:rPr>
                      <m:t>𝑆𝑈</m:t>
                    </m:r>
                    <m:sSub>
                      <m:sSubPr>
                        <m:ctrlPr>
                          <a:rPr lang="ar-AE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ar-AE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altLang="zh-CN" sz="20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b>
                        <m:r>
                          <a:rPr lang="zh-CN" altLang="ar-AE" sz="2000" i="1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ar-AE" altLang="zh-CN" sz="2000" i="0">
                        <a:latin typeface="Cambria Math" panose="02040503050406030204" pitchFamily="18" charset="0"/>
                      </a:rPr>
                      <m:t>×</m:t>
                    </m:r>
                    <m:r>
                      <a:rPr lang="zh-CN" altLang="ar-AE" sz="2000" i="1">
                        <a:latin typeface="Cambria Math" panose="02040503050406030204" pitchFamily="18" charset="0"/>
                      </a:rPr>
                      <m:t>𝑆𝑈</m:t>
                    </m:r>
                    <m:sSub>
                      <m:sSubPr>
                        <m:ctrlPr>
                          <a:rPr lang="ar-AE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ar-AE" altLang="zh-CN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altLang="zh-CN" sz="20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b>
                        <m:r>
                          <a:rPr lang="zh-CN" altLang="ar-AE" sz="2000" i="1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zh-CN" sz="2000" dirty="0">
                    <a:latin typeface="Avenir Black Oblique" panose="02000503020000020003"/>
                  </a:rPr>
                  <a:t>symmetry.</a:t>
                </a:r>
                <a:endParaRPr lang="zh-CN" altLang="en-US" sz="2000" dirty="0">
                  <a:latin typeface="Avenir Black Oblique" panose="02000503020000020003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152676D3-4E77-1535-6BC0-7F4E016A0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903" y="3145232"/>
                <a:ext cx="9803362" cy="728405"/>
              </a:xfrm>
              <a:prstGeom prst="rect">
                <a:avLst/>
              </a:prstGeom>
              <a:blipFill>
                <a:blip r:embed="rId6"/>
                <a:stretch>
                  <a:fillRect l="-622" t="-5042" b="-11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图片 16">
            <a:extLst>
              <a:ext uri="{FF2B5EF4-FFF2-40B4-BE49-F238E27FC236}">
                <a16:creationId xmlns:a16="http://schemas.microsoft.com/office/drawing/2014/main" id="{4CA14D92-70EA-767E-8C20-4D10A54C40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3376" y="5471507"/>
            <a:ext cx="3856596" cy="580083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A1F870D8-7FCC-41CF-2D18-D590150B5949}"/>
              </a:ext>
            </a:extLst>
          </p:cNvPr>
          <p:cNvSpPr txBox="1"/>
          <p:nvPr/>
        </p:nvSpPr>
        <p:spPr>
          <a:xfrm>
            <a:off x="6672899" y="3975887"/>
            <a:ext cx="537515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Times-Roman"/>
              </a:rPr>
              <a:t>To describe the coupling to an external electromagnetic field, the left- and right-handed currents 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MTMI"/>
              </a:rPr>
              <a:t>r</a:t>
            </a:r>
            <a:r>
              <a:rPr lang="en-US" altLang="zh-CN" sz="2000" b="0" i="1" baseline="-25000" dirty="0">
                <a:solidFill>
                  <a:srgbClr val="000000"/>
                </a:solidFill>
                <a:effectLst/>
                <a:latin typeface="MTMI"/>
              </a:rPr>
              <a:t>µ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MTMI"/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-Roman"/>
              </a:rPr>
              <a:t>and 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MTMI"/>
              </a:rPr>
              <a:t>l</a:t>
            </a:r>
            <a:r>
              <a:rPr lang="en-US" altLang="zh-CN" sz="2000" b="0" i="1" baseline="-25000" dirty="0">
                <a:solidFill>
                  <a:srgbClr val="000000"/>
                </a:solidFill>
                <a:effectLst/>
                <a:latin typeface="MTMI"/>
              </a:rPr>
              <a:t>µ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MTMI"/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-Roman"/>
              </a:rPr>
              <a:t>and the </a:t>
            </a:r>
            <a:r>
              <a:rPr lang="en-US" altLang="zh-CN" sz="2000" b="0" i="0" dirty="0" err="1">
                <a:solidFill>
                  <a:srgbClr val="000000"/>
                </a:solidFill>
                <a:effectLst/>
                <a:latin typeface="Times-Roman"/>
              </a:rPr>
              <a:t>isoscalar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-Roman"/>
              </a:rPr>
              <a:t> current 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MTMI"/>
              </a:rPr>
              <a:t>v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-Roman"/>
              </a:rPr>
              <a:t>(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MTMI"/>
              </a:rPr>
              <a:t>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-Roman"/>
              </a:rPr>
              <a:t>)</a:t>
            </a:r>
            <a:r>
              <a:rPr lang="en-US" altLang="zh-CN" sz="2000" b="0" i="1" baseline="-25000" dirty="0">
                <a:solidFill>
                  <a:srgbClr val="000000"/>
                </a:solidFill>
                <a:effectLst/>
                <a:latin typeface="MTMI"/>
              </a:rPr>
              <a:t>µ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MTMI"/>
              </a:rPr>
              <a:t>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-Roman"/>
              </a:rPr>
              <a:t>have to be chosen as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6A4BDBE-AA64-7AF7-78E6-51E0211A5EDC}"/>
              </a:ext>
            </a:extLst>
          </p:cNvPr>
          <p:cNvSpPr txBox="1"/>
          <p:nvPr/>
        </p:nvSpPr>
        <p:spPr>
          <a:xfrm>
            <a:off x="7102108" y="2397320"/>
            <a:ext cx="3845811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 anchor="t">
            <a:spAutoFit/>
          </a:bodyPr>
          <a:lstStyle/>
          <a:p>
            <a:pPr>
              <a:buClr>
                <a:srgbClr val="2169D3"/>
              </a:buClr>
              <a:buSzPct val="90000"/>
            </a:pPr>
            <a:r>
              <a:rPr lang="en-US" altLang="zh-CN" b="1" dirty="0">
                <a:solidFill>
                  <a:schemeClr val="bg1"/>
                </a:solidFill>
                <a:latin typeface="Avenir Medium" panose="02000503020000020003"/>
              </a:rPr>
              <a:t>S. Kolling </a:t>
            </a:r>
            <a:r>
              <a:rPr lang="en-US" altLang="zh-CN" b="1" dirty="0">
                <a:solidFill>
                  <a:schemeClr val="bg1"/>
                </a:solidFill>
                <a:uFillTx/>
                <a:latin typeface="Avenir Medium" panose="02000503020000020003"/>
                <a:cs typeface="Avenir Medium" panose="02000503020000020003" charset="0"/>
                <a:sym typeface="+mn-ea"/>
              </a:rPr>
              <a:t>et al., PR</a:t>
            </a:r>
            <a:r>
              <a:rPr lang="en-US" altLang="zh-CN" b="1" dirty="0">
                <a:solidFill>
                  <a:schemeClr val="bg1"/>
                </a:solidFill>
                <a:latin typeface="Avenir Medium" panose="02000503020000020003"/>
              </a:rPr>
              <a:t>C 80, 045502 (2009) </a:t>
            </a:r>
            <a:endParaRPr lang="en-US" altLang="zh-CN" b="1" dirty="0">
              <a:solidFill>
                <a:schemeClr val="bg1"/>
              </a:solidFill>
              <a:uFillTx/>
              <a:latin typeface="Avenir Medium" panose="02000503020000020003" charset="0"/>
              <a:cs typeface="Avenir Medium" panose="02000503020000020003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60567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7E47D-7BF8-3DF8-6866-8603695E1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E9019EC-EC03-3F92-11EC-2E0E99EDD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84D66351-5A51-97E1-A22D-A84439015B7B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7DB99F-3AAC-C961-9BE4-0743A09477C2}"/>
              </a:ext>
            </a:extLst>
          </p:cNvPr>
          <p:cNvSpPr txBox="1"/>
          <p:nvPr/>
        </p:nvSpPr>
        <p:spPr>
          <a:xfrm>
            <a:off x="186613" y="159074"/>
            <a:ext cx="62950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bg1"/>
                </a:solidFill>
                <a:latin typeface="Avenir Black Oblique" panose="02000503020000020003"/>
              </a:rPr>
              <a:t>E</a:t>
            </a:r>
            <a:r>
              <a:rPr lang="en-US" altLang="zh-CN" sz="3200" b="1" i="0" dirty="0">
                <a:solidFill>
                  <a:schemeClr val="bg1"/>
                </a:solidFill>
                <a:effectLst/>
                <a:latin typeface="Avenir Black Oblique" panose="02000503020000020003"/>
              </a:rPr>
              <a:t>lectromagnetic current</a:t>
            </a:r>
            <a:r>
              <a:rPr lang="en-US" altLang="zh-CN" sz="3200" dirty="0">
                <a:solidFill>
                  <a:schemeClr val="bg1"/>
                </a:solidFill>
                <a:latin typeface="Avenir Black Oblique" panose="02000503020000020003"/>
              </a:rPr>
              <a:t> </a:t>
            </a:r>
            <a:br>
              <a:rPr lang="en-US" altLang="zh-CN" sz="3200" dirty="0">
                <a:solidFill>
                  <a:schemeClr val="bg1"/>
                </a:solidFill>
                <a:latin typeface="Avenir Black Oblique" panose="02000503020000020003"/>
              </a:rPr>
            </a:br>
            <a:endParaRPr lang="zh-CN" altLang="en-US" sz="3200" dirty="0">
              <a:solidFill>
                <a:schemeClr val="bg1"/>
              </a:solidFill>
              <a:latin typeface="Avenir Black Oblique" panose="02000503020000020003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A6822A-458A-5C82-BA11-597EC6D1EA6C}"/>
              </a:ext>
            </a:extLst>
          </p:cNvPr>
          <p:cNvSpPr txBox="1"/>
          <p:nvPr/>
        </p:nvSpPr>
        <p:spPr>
          <a:xfrm>
            <a:off x="385666" y="1114217"/>
            <a:ext cx="33652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venir Black Oblique" panose="02000503020000020003"/>
              </a:rPr>
              <a:t>According to E-L equation</a:t>
            </a:r>
            <a:endParaRPr lang="zh-CN" altLang="en-US" sz="2000" dirty="0">
              <a:latin typeface="Avenir Black Oblique" panose="02000503020000020003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AD01371-6DE5-A204-25F3-FF59B1BB7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842" y="1601412"/>
            <a:ext cx="3988349" cy="97545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7771B00-77CF-A194-BB57-51EAE40F1AA3}"/>
              </a:ext>
            </a:extLst>
          </p:cNvPr>
          <p:cNvSpPr txBox="1"/>
          <p:nvPr/>
        </p:nvSpPr>
        <p:spPr>
          <a:xfrm>
            <a:off x="273699" y="2941986"/>
            <a:ext cx="62950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Times-Roman"/>
              </a:rPr>
              <a:t>the electromagnetic current density is of the form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55064E3-0AB3-ECF3-0AA6-11C7BFFD9E7A}"/>
              </a:ext>
            </a:extLst>
          </p:cNvPr>
          <p:cNvSpPr txBox="1"/>
          <p:nvPr/>
        </p:nvSpPr>
        <p:spPr>
          <a:xfrm>
            <a:off x="5662930" y="4164282"/>
            <a:ext cx="613332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-Roman"/>
              </a:rPr>
              <a:t>the subscripts 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MTMI"/>
              </a:rPr>
              <a:t>a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-Roman"/>
              </a:rPr>
              <a:t>and 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MTMI"/>
              </a:rPr>
              <a:t>b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-Roman"/>
              </a:rPr>
              <a:t>refer to the</a:t>
            </a:r>
          </a:p>
          <a:p>
            <a:pPr>
              <a:buNone/>
            </a:pP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-Roman"/>
              </a:rPr>
              <a:t>number of the nucleon and pion fields, respectively, while the superscript 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MTMI"/>
              </a:rPr>
              <a:t>κ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-Roman"/>
              </a:rPr>
              <a:t>gives the dimension of the operator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066F46B-F2A4-4F1A-E7D5-11AB83866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55" y="3554613"/>
            <a:ext cx="4674054" cy="2765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54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95823-7BD4-43C4-395D-0257FB156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8508ADA-BEA4-2E77-F6FF-6204B2410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66CC5754-CFB6-5F14-9818-1924C11CBD84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A497398-D83F-BE9D-FB49-A9600A2D5EB6}"/>
              </a:ext>
            </a:extLst>
          </p:cNvPr>
          <p:cNvSpPr txBox="1"/>
          <p:nvPr/>
        </p:nvSpPr>
        <p:spPr>
          <a:xfrm>
            <a:off x="391884" y="1158750"/>
            <a:ext cx="98655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Avenir Black Oblique" panose="02000503020000020003"/>
              </a:rPr>
              <a:t>O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Avenir Black Oblique" panose="02000503020000020003"/>
              </a:rPr>
              <a:t>ne has to integrate out the pion fields, i.e. to decouple the purely nucleonic subspace of the Fock space from the rest.</a:t>
            </a:r>
            <a:r>
              <a:rPr lang="en-US" altLang="zh-CN" sz="2000" dirty="0">
                <a:latin typeface="Avenir Black Oblique" panose="02000503020000020003"/>
              </a:rPr>
              <a:t> </a:t>
            </a:r>
            <a:br>
              <a:rPr lang="en-US" altLang="zh-CN" sz="2000" dirty="0">
                <a:latin typeface="Avenir Black Oblique" panose="02000503020000020003"/>
              </a:rPr>
            </a:br>
            <a:endParaRPr lang="zh-CN" altLang="en-US" sz="2000" dirty="0">
              <a:latin typeface="Avenir Black Oblique" panose="02000503020000020003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546CAB7-4F20-E82F-4511-891DF48A15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561" y="2021633"/>
            <a:ext cx="3650456" cy="11430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38F5F0B-03A6-5BB0-CB20-3D9917A112D8}"/>
              </a:ext>
            </a:extLst>
          </p:cNvPr>
          <p:cNvSpPr txBox="1"/>
          <p:nvPr/>
        </p:nvSpPr>
        <p:spPr>
          <a:xfrm>
            <a:off x="5324667" y="2048727"/>
            <a:ext cx="62950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1" dirty="0">
                <a:solidFill>
                  <a:srgbClr val="000000"/>
                </a:solidFill>
                <a:effectLst/>
                <a:latin typeface="MTMI"/>
              </a:rPr>
              <a:t>η </a:t>
            </a:r>
            <a:r>
              <a:rPr lang="en-US" altLang="zh-CN" sz="2000" dirty="0">
                <a:solidFill>
                  <a:srgbClr val="000000"/>
                </a:solidFill>
                <a:latin typeface="Times-Roman"/>
              </a:rPr>
              <a:t>is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Times-Roman"/>
              </a:rPr>
              <a:t> a projection operator projecting onto the purely nucleonic (the remaining) part of the Fock space. 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2E76CDA-FFDB-570A-246A-53796EB4B852}"/>
              </a:ext>
            </a:extLst>
          </p:cNvPr>
          <p:cNvPicPr>
            <a:picLocks/>
          </p:cNvPicPr>
          <p:nvPr/>
        </p:nvPicPr>
        <p:blipFill>
          <a:blip r:embed="rId4"/>
          <a:srcRect r="16161" b="57991"/>
          <a:stretch>
            <a:fillRect/>
          </a:stretch>
        </p:blipFill>
        <p:spPr>
          <a:xfrm>
            <a:off x="124408" y="3164633"/>
            <a:ext cx="5538522" cy="862883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00BE6068-C827-056E-8CE7-CF04F5EF6093}"/>
              </a:ext>
            </a:extLst>
          </p:cNvPr>
          <p:cNvSpPr txBox="1"/>
          <p:nvPr/>
        </p:nvSpPr>
        <p:spPr>
          <a:xfrm>
            <a:off x="124408" y="5300505"/>
            <a:ext cx="95339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000000"/>
                </a:solidFill>
                <a:effectLst/>
                <a:latin typeface="Avenir Black Oblique" panose="02000503020000020003"/>
              </a:rPr>
              <a:t>The effective 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Avenir Black Oblique" panose="02000503020000020003"/>
              </a:rPr>
              <a:t>η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Avenir Black Oblique" panose="02000503020000020003"/>
              </a:rPr>
              <a:t>-space potential 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Avenir Black Oblique" panose="02000503020000020003"/>
              </a:rPr>
              <a:t>V 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Avenir Black Oblique" panose="02000503020000020003"/>
              </a:rPr>
              <a:t>can be expressed in terms of the operator 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Avenir Black Oblique" panose="02000503020000020003"/>
              </a:rPr>
              <a:t>A </a:t>
            </a:r>
            <a:br>
              <a:rPr lang="en-US" altLang="zh-CN" sz="2000" dirty="0">
                <a:latin typeface="Avenir Black Oblique" panose="02000503020000020003"/>
              </a:rPr>
            </a:br>
            <a:endParaRPr lang="zh-CN" altLang="en-US" sz="2000" dirty="0">
              <a:latin typeface="Avenir Black Oblique" panose="02000503020000020003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1EE5F444-E6DD-A0F2-41A5-F222AA104E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3851" y="5654448"/>
            <a:ext cx="6295053" cy="102946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0334E739-4D65-B6FF-735D-3D98CEE4DE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3980" y="6267170"/>
            <a:ext cx="946006" cy="378086"/>
          </a:xfrm>
          <a:prstGeom prst="rect">
            <a:avLst/>
          </a:prstGeom>
        </p:spPr>
      </p:pic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0B462437-A63A-4CA3-882C-079A7EB58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022311"/>
              </p:ext>
            </p:extLst>
          </p:nvPr>
        </p:nvGraphicFramePr>
        <p:xfrm>
          <a:off x="124408" y="4218940"/>
          <a:ext cx="10715041" cy="854546"/>
        </p:xfrm>
        <a:graphic>
          <a:graphicData uri="http://schemas.openxmlformats.org/drawingml/2006/table">
            <a:tbl>
              <a:tblPr/>
              <a:tblGrid>
                <a:gridCol w="10715041">
                  <a:extLst>
                    <a:ext uri="{9D8B030D-6E8A-4147-A177-3AD203B41FA5}">
                      <a16:colId xmlns:a16="http://schemas.microsoft.com/office/drawing/2014/main" val="138629757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Avenir Black Oblique" panose="02000503020000020003"/>
                        </a:rPr>
                        <a:t>in terms of the operator </a:t>
                      </a:r>
                      <a:r>
                        <a:rPr lang="en-US" sz="2000" b="0" i="1" dirty="0">
                          <a:solidFill>
                            <a:srgbClr val="000000"/>
                          </a:solidFill>
                          <a:effectLst/>
                          <a:latin typeface="Avenir Black Oblique" panose="02000503020000020003"/>
                        </a:rPr>
                        <a:t>A 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Avenir Black Oblique" panose="02000503020000020003"/>
                        </a:rPr>
                        <a:t>= </a:t>
                      </a:r>
                      <a:r>
                        <a:rPr lang="en-US" sz="2000" b="0" i="1" dirty="0" err="1">
                          <a:solidFill>
                            <a:srgbClr val="000000"/>
                          </a:solidFill>
                          <a:effectLst/>
                          <a:latin typeface="Avenir Black Oblique" panose="02000503020000020003"/>
                        </a:rPr>
                        <a:t>λAη</a:t>
                      </a:r>
                      <a:r>
                        <a:rPr lang="en-US" sz="2000" b="0" i="1" dirty="0">
                          <a:solidFill>
                            <a:srgbClr val="000000"/>
                          </a:solidFill>
                          <a:effectLst/>
                          <a:latin typeface="Avenir Black Oblique" panose="02000503020000020003"/>
                        </a:rPr>
                        <a:t> </a:t>
                      </a:r>
                      <a:r>
                        <a:rPr lang="en-US" sz="2000" b="0" i="0" dirty="0">
                          <a:solidFill>
                            <a:srgbClr val="000000"/>
                          </a:solidFill>
                          <a:effectLst/>
                          <a:latin typeface="Avenir Black Oblique" panose="02000503020000020003"/>
                        </a:rPr>
                        <a:t>that has to satisfy the decoupling equation</a:t>
                      </a:r>
                      <a:endParaRPr lang="en-US" sz="2000" dirty="0">
                        <a:effectLst/>
                        <a:latin typeface="Avenir Black Oblique" panose="02000503020000020003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9247780"/>
                  </a:ext>
                </a:extLst>
              </a:tr>
              <a:tr h="39734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000" dirty="0">
                        <a:effectLst/>
                        <a:latin typeface="Avenir Black Oblique" panose="02000503020000020003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1989336"/>
                  </a:ext>
                </a:extLst>
              </a:tr>
            </a:tbl>
          </a:graphicData>
        </a:graphic>
      </p:graphicFrame>
      <p:pic>
        <p:nvPicPr>
          <p:cNvPr id="22" name="图片 21">
            <a:extLst>
              <a:ext uri="{FF2B5EF4-FFF2-40B4-BE49-F238E27FC236}">
                <a16:creationId xmlns:a16="http://schemas.microsoft.com/office/drawing/2014/main" id="{663006BE-3E70-3C5D-72FF-945AFC2523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1642" y="4561735"/>
            <a:ext cx="5265238" cy="725906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7C24D24E-AE57-C5EC-3EB0-51EE404ADD65}"/>
              </a:ext>
            </a:extLst>
          </p:cNvPr>
          <p:cNvSpPr txBox="1"/>
          <p:nvPr/>
        </p:nvSpPr>
        <p:spPr>
          <a:xfrm>
            <a:off x="186613" y="159074"/>
            <a:ext cx="62950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i="0" dirty="0">
                <a:solidFill>
                  <a:schemeClr val="bg1"/>
                </a:solidFill>
                <a:effectLst/>
                <a:latin typeface="Avenir Black Oblique" panose="02000503020000020003"/>
              </a:rPr>
              <a:t>Effective electromagnetic current</a:t>
            </a:r>
            <a:r>
              <a:rPr lang="en-US" altLang="zh-CN" sz="3200" dirty="0">
                <a:solidFill>
                  <a:schemeClr val="bg1"/>
                </a:solidFill>
                <a:latin typeface="Avenir Black Oblique" panose="02000503020000020003"/>
              </a:rPr>
              <a:t> </a:t>
            </a:r>
            <a:br>
              <a:rPr lang="en-US" altLang="zh-CN" sz="3200" dirty="0">
                <a:solidFill>
                  <a:schemeClr val="bg1"/>
                </a:solidFill>
                <a:latin typeface="Avenir Black Oblique" panose="02000503020000020003"/>
              </a:rPr>
            </a:br>
            <a:endParaRPr lang="zh-CN" altLang="en-US" sz="3200" dirty="0">
              <a:solidFill>
                <a:schemeClr val="bg1"/>
              </a:solidFill>
              <a:latin typeface="Avenir Black Oblique" panose="02000503020000020003"/>
            </a:endParaRPr>
          </a:p>
        </p:txBody>
      </p:sp>
    </p:spTree>
    <p:extLst>
      <p:ext uri="{BB962C8B-B14F-4D97-AF65-F5344CB8AC3E}">
        <p14:creationId xmlns:p14="http://schemas.microsoft.com/office/powerpoint/2010/main" val="1471866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73A76-D1F0-78DE-3393-615E038DB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CC0F7F-F712-BCA4-DEF3-C0FBF9F61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80337A25-474C-4167-7A47-129C3D8FB684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83E7A80-DAC2-47AA-0E06-5C732B1CC28F}"/>
              </a:ext>
            </a:extLst>
          </p:cNvPr>
          <p:cNvSpPr txBox="1"/>
          <p:nvPr/>
        </p:nvSpPr>
        <p:spPr>
          <a:xfrm>
            <a:off x="186613" y="159074"/>
            <a:ext cx="62950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i="0" dirty="0">
                <a:solidFill>
                  <a:schemeClr val="bg1"/>
                </a:solidFill>
                <a:effectLst/>
                <a:latin typeface="Avenir Black Oblique" panose="02000503020000020003"/>
              </a:rPr>
              <a:t>Effective electromagnetic current</a:t>
            </a:r>
            <a:r>
              <a:rPr lang="en-US" altLang="zh-CN" sz="3200" dirty="0">
                <a:solidFill>
                  <a:schemeClr val="bg1"/>
                </a:solidFill>
                <a:latin typeface="Avenir Black Oblique" panose="02000503020000020003"/>
              </a:rPr>
              <a:t> </a:t>
            </a:r>
            <a:br>
              <a:rPr lang="en-US" altLang="zh-CN" sz="3200" dirty="0">
                <a:solidFill>
                  <a:schemeClr val="bg1"/>
                </a:solidFill>
                <a:latin typeface="Avenir Black Oblique" panose="02000503020000020003"/>
              </a:rPr>
            </a:br>
            <a:endParaRPr lang="zh-CN" altLang="en-US" sz="3200" dirty="0">
              <a:solidFill>
                <a:schemeClr val="bg1"/>
              </a:solidFill>
              <a:latin typeface="Avenir Black Oblique" panose="02000503020000020003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6D66665-7E07-AEB4-BC07-DDAC156F0FCE}"/>
              </a:ext>
            </a:extLst>
          </p:cNvPr>
          <p:cNvSpPr txBox="1"/>
          <p:nvPr/>
        </p:nvSpPr>
        <p:spPr>
          <a:xfrm>
            <a:off x="403578" y="1161993"/>
            <a:ext cx="43690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Times-Roman"/>
              </a:rPr>
              <a:t>effective nuclear current operator</a:t>
            </a:r>
            <a:endParaRPr lang="zh-CN" altLang="en-US" sz="2400" dirty="0">
              <a:highlight>
                <a:srgbClr val="FFFF00"/>
              </a:highlight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4E3488-2A8A-F432-3D7D-6741EF41700D}"/>
              </a:ext>
            </a:extLst>
          </p:cNvPr>
          <p:cNvSpPr txBox="1"/>
          <p:nvPr/>
        </p:nvSpPr>
        <p:spPr>
          <a:xfrm>
            <a:off x="6980590" y="1729522"/>
            <a:ext cx="34834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0" i="0" dirty="0">
                <a:solidFill>
                  <a:srgbClr val="000000"/>
                </a:solidFill>
                <a:effectLst/>
                <a:latin typeface="Avenir Black Oblique" panose="02000503020000020003"/>
              </a:rPr>
              <a:t>Using additional unitary transformation </a:t>
            </a:r>
            <a:r>
              <a:rPr lang="en-US" altLang="zh-CN" sz="1800" b="0" i="1" dirty="0">
                <a:solidFill>
                  <a:srgbClr val="000000"/>
                </a:solidFill>
                <a:effectLst/>
                <a:latin typeface="Avenir Black Oblique" panose="02000503020000020003"/>
              </a:rPr>
              <a:t>U’ to restore renormalizability. </a:t>
            </a:r>
            <a:endParaRPr lang="zh-CN" altLang="en-US" dirty="0">
              <a:latin typeface="Avenir Black Oblique" panose="02000503020000020003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9FFC2D4-1BF0-E7EC-E200-9CE6A1CC79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757" y="1815458"/>
            <a:ext cx="5894764" cy="111289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661A985-20F5-A48F-FC1D-63B1B493E8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649" y="3120155"/>
            <a:ext cx="5907463" cy="344073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593A2CA-D807-D2AD-62AB-2AD14B63A1E1}"/>
              </a:ext>
            </a:extLst>
          </p:cNvPr>
          <p:cNvSpPr txBox="1"/>
          <p:nvPr/>
        </p:nvSpPr>
        <p:spPr>
          <a:xfrm>
            <a:off x="6980590" y="5839020"/>
            <a:ext cx="3845811" cy="369332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 anchor="t">
            <a:spAutoFit/>
          </a:bodyPr>
          <a:lstStyle/>
          <a:p>
            <a:pPr>
              <a:buClr>
                <a:srgbClr val="2169D3"/>
              </a:buClr>
              <a:buSzPct val="90000"/>
            </a:pPr>
            <a:r>
              <a:rPr lang="en-US" altLang="zh-CN" b="1" dirty="0">
                <a:solidFill>
                  <a:schemeClr val="bg1"/>
                </a:solidFill>
                <a:uFillTx/>
                <a:latin typeface="Avenir Medium" panose="02000503020000020003"/>
                <a:cs typeface="Avenir Medium" panose="02000503020000020003" charset="0"/>
                <a:sym typeface="+mn-ea"/>
              </a:rPr>
              <a:t>T. –S. Park et al., PR</a:t>
            </a:r>
            <a:r>
              <a:rPr lang="en-US" altLang="zh-CN" b="1" dirty="0">
                <a:solidFill>
                  <a:schemeClr val="bg1"/>
                </a:solidFill>
                <a:latin typeface="Avenir Medium" panose="02000503020000020003"/>
              </a:rPr>
              <a:t>C 67, 055206 (2003) </a:t>
            </a:r>
            <a:endParaRPr lang="en-US" altLang="zh-CN" b="1" dirty="0">
              <a:solidFill>
                <a:schemeClr val="bg1"/>
              </a:solidFill>
              <a:uFillTx/>
              <a:latin typeface="Avenir Medium" panose="02000503020000020003" charset="0"/>
              <a:cs typeface="Avenir Medium" panose="02000503020000020003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69962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/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52095" y="3086100"/>
            <a:ext cx="1159700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buClr>
                <a:srgbClr val="2169D3"/>
              </a:buClr>
              <a:buSzPct val="90000"/>
              <a:buFont typeface="Wingdings" panose="05000000000000000000" charset="0"/>
              <a:buNone/>
            </a:pPr>
            <a:r>
              <a:rPr lang="en-US" altLang="zh-CN" sz="2400" b="1">
                <a:solidFill>
                  <a:schemeClr val="tx1"/>
                </a:solidFill>
                <a:uFillTx/>
                <a:latin typeface="Avenir Medium" panose="02000503020000020003" charset="0"/>
                <a:cs typeface="Avenir Black Oblique" panose="02000503020000020003" charset="0"/>
                <a:sym typeface="+mn-ea"/>
              </a:rPr>
              <a:t>The indices </a:t>
            </a:r>
            <a:r>
              <a:rPr lang="en-US" altLang="zh-CN" sz="2400" b="1" i="1">
                <a:solidFill>
                  <a:schemeClr val="tx1"/>
                </a:solidFill>
                <a:uFillTx/>
                <a:latin typeface="Avenir Heavy Oblique" panose="02000503020000020003" charset="0"/>
                <a:cs typeface="Avenir Heavy Oblique" panose="02000503020000020003" charset="0"/>
                <a:sym typeface="+mn-ea"/>
              </a:rPr>
              <a:t>c</a:t>
            </a:r>
            <a:r>
              <a:rPr lang="en-US" altLang="zh-CN" sz="2400" b="1">
                <a:solidFill>
                  <a:schemeClr val="tx1"/>
                </a:solidFill>
                <a:uFillTx/>
                <a:latin typeface="Avenir Medium" panose="02000503020000020003" charset="0"/>
                <a:cs typeface="Avenir Black Oblique" panose="02000503020000020003" charset="0"/>
                <a:sym typeface="+mn-ea"/>
              </a:rPr>
              <a:t>, </a:t>
            </a:r>
            <a:r>
              <a:rPr lang="en-US" altLang="zh-CN" sz="2400" b="1" i="1">
                <a:solidFill>
                  <a:schemeClr val="tx1"/>
                </a:solidFill>
                <a:uFillTx/>
                <a:latin typeface="Avenir Heavy Oblique" panose="02000503020000020003" charset="0"/>
                <a:cs typeface="Avenir Heavy Oblique" panose="02000503020000020003" charset="0"/>
                <a:sym typeface="+mn-ea"/>
              </a:rPr>
              <a:t>v</a:t>
            </a:r>
            <a:r>
              <a:rPr lang="en-US" altLang="zh-CN" sz="2400" b="1">
                <a:solidFill>
                  <a:schemeClr val="tx1"/>
                </a:solidFill>
                <a:uFillTx/>
                <a:latin typeface="Avenir Medium" panose="02000503020000020003" charset="0"/>
                <a:cs typeface="Avenir Black Oblique" panose="02000503020000020003" charset="0"/>
                <a:sym typeface="+mn-ea"/>
              </a:rPr>
              <a:t>, and </a:t>
            </a:r>
            <a:r>
              <a:rPr lang="en-US" altLang="zh-CN" sz="2400" b="1" i="1">
                <a:solidFill>
                  <a:schemeClr val="tx1"/>
                </a:solidFill>
                <a:uFillTx/>
                <a:latin typeface="Avenir Heavy Oblique" panose="02000503020000020003" charset="0"/>
                <a:cs typeface="Avenir Heavy Oblique" panose="02000503020000020003" charset="0"/>
                <a:sym typeface="+mn-ea"/>
              </a:rPr>
              <a:t>o</a:t>
            </a:r>
            <a:r>
              <a:rPr lang="en-US" altLang="zh-CN" sz="2400" b="1">
                <a:solidFill>
                  <a:schemeClr val="tx1"/>
                </a:solidFill>
                <a:uFillTx/>
                <a:latin typeface="Avenir Medium" panose="02000503020000020003" charset="0"/>
                <a:cs typeface="Avenir Black Oblique" panose="02000503020000020003" charset="0"/>
                <a:sym typeface="+mn-ea"/>
              </a:rPr>
              <a:t> indicate core, valence, and outside space orbitals, respectively, and </a:t>
            </a:r>
            <a:r>
              <a:rPr lang="en-US" altLang="zh-CN" sz="2400" b="1" i="1">
                <a:solidFill>
                  <a:schemeClr val="tx1"/>
                </a:solidFill>
                <a:uFillTx/>
                <a:latin typeface="Avenir Heavy Oblique" panose="02000503020000020003" charset="0"/>
                <a:cs typeface="Avenir Heavy Oblique" panose="02000503020000020003" charset="0"/>
                <a:sym typeface="+mn-ea"/>
              </a:rPr>
              <a:t>p</a:t>
            </a:r>
            <a:r>
              <a:rPr lang="en-US" altLang="zh-CN" sz="2400" b="1">
                <a:solidFill>
                  <a:schemeClr val="tx1"/>
                </a:solidFill>
                <a:uFillTx/>
                <a:latin typeface="Avenir Medium" panose="02000503020000020003" charset="0"/>
                <a:cs typeface="Avenir Black Oblique" panose="02000503020000020003" charset="0"/>
                <a:sym typeface="+mn-ea"/>
              </a:rPr>
              <a:t> denotes either </a:t>
            </a:r>
            <a:r>
              <a:rPr lang="en-US" altLang="zh-CN" sz="2400" b="1" i="1">
                <a:solidFill>
                  <a:schemeClr val="tx1"/>
                </a:solidFill>
                <a:uFillTx/>
                <a:latin typeface="Avenir Heavy Oblique" panose="02000503020000020003" charset="0"/>
                <a:cs typeface="Avenir Heavy Oblique" panose="02000503020000020003" charset="0"/>
                <a:sym typeface="+mn-ea"/>
              </a:rPr>
              <a:t>v</a:t>
            </a:r>
            <a:r>
              <a:rPr lang="en-US" altLang="zh-CN" sz="2400" b="1">
                <a:solidFill>
                  <a:schemeClr val="tx1"/>
                </a:solidFill>
                <a:uFillTx/>
                <a:latin typeface="Avenir Medium" panose="02000503020000020003" charset="0"/>
                <a:cs typeface="Avenir Black Oblique" panose="02000503020000020003" charset="0"/>
                <a:sym typeface="+mn-ea"/>
              </a:rPr>
              <a:t> or </a:t>
            </a:r>
            <a:r>
              <a:rPr lang="en-US" altLang="zh-CN" sz="2400" b="1" i="1">
                <a:solidFill>
                  <a:schemeClr val="tx1"/>
                </a:solidFill>
                <a:uFillTx/>
                <a:latin typeface="Avenir Heavy Oblique" panose="02000503020000020003" charset="0"/>
                <a:cs typeface="Avenir Heavy Oblique" panose="02000503020000020003" charset="0"/>
                <a:sym typeface="+mn-ea"/>
              </a:rPr>
              <a:t>o</a:t>
            </a:r>
            <a:r>
              <a:rPr lang="en-US" altLang="zh-CN" sz="2400" b="1">
                <a:solidFill>
                  <a:schemeClr val="tx1"/>
                </a:solidFill>
                <a:uFillTx/>
                <a:latin typeface="Avenir Medium" panose="02000503020000020003" charset="0"/>
                <a:cs typeface="Avenir Black Oblique" panose="02000503020000020003" charset="0"/>
                <a:sym typeface="+mn-ea"/>
              </a:rPr>
              <a:t>. 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40665" y="1593215"/>
            <a:ext cx="115970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buClr>
                <a:srgbClr val="2169D3"/>
              </a:buClr>
              <a:buSzPct val="90000"/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tx1"/>
                </a:solidFill>
                <a:uFillTx/>
                <a:latin typeface="Avenir Medium" panose="02000503020000020003" charset="0"/>
                <a:cs typeface="Avenir Heavy Oblique" panose="02000503020000020003" charset="0"/>
                <a:sym typeface="+mn-ea"/>
              </a:rPr>
              <a:t>The anti-Hermitian generator for VS-IMSRG is 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b="59701"/>
          <a:stretch>
            <a:fillRect/>
          </a:stretch>
        </p:blipFill>
        <p:spPr>
          <a:xfrm>
            <a:off x="497840" y="2210435"/>
            <a:ext cx="5622925" cy="7372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t="74835"/>
          <a:stretch>
            <a:fillRect/>
          </a:stretch>
        </p:blipFill>
        <p:spPr>
          <a:xfrm>
            <a:off x="6470650" y="2210435"/>
            <a:ext cx="5622925" cy="4603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040" y="4168140"/>
            <a:ext cx="7216140" cy="23577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5095" y="282575"/>
            <a:ext cx="1061656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Methodology: ab initio multi-shell VS-IMSRG Hamiltonian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252095" y="932180"/>
            <a:ext cx="115970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2800" b="1" i="1">
                <a:solidFill>
                  <a:schemeClr val="tx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Valence-space In-Medium Similarity Renormalization Group (VS-IMSRG)</a:t>
            </a:r>
          </a:p>
        </p:txBody>
      </p:sp>
      <p:sp>
        <p:nvSpPr>
          <p:cNvPr id="11" name="圆角矩形 10"/>
          <p:cNvSpPr/>
          <p:nvPr/>
        </p:nvSpPr>
        <p:spPr>
          <a:xfrm>
            <a:off x="370840" y="4101465"/>
            <a:ext cx="7445375" cy="2557145"/>
          </a:xfrm>
          <a:prstGeom prst="roundRect">
            <a:avLst/>
          </a:prstGeom>
          <a:solidFill>
            <a:schemeClr val="accent4">
              <a:lumMod val="60000"/>
              <a:lumOff val="40000"/>
              <a:alpha val="20000"/>
            </a:schemeClr>
          </a:solidFill>
          <a:ln w="57150" cmpd="sng">
            <a:solidFill>
              <a:schemeClr val="accent3">
                <a:lumMod val="50000"/>
              </a:schemeClr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4975" y="3638550"/>
            <a:ext cx="3875405" cy="3054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/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12090" y="982980"/>
            <a:ext cx="1159700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en-US" altLang="zh-CN" sz="2800" b="1" i="1"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Magnus formulation for VS-IMSRG</a:t>
            </a:r>
            <a:endParaRPr lang="en-US" altLang="zh-CN" sz="2800" b="1" i="1">
              <a:solidFill>
                <a:schemeClr val="tx1"/>
              </a:solidFill>
              <a:latin typeface="Avenir Black Oblique" panose="02000503020000020003" charset="0"/>
              <a:cs typeface="Avenir Black Oblique" panose="02000503020000020003" charset="0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240665" y="2778760"/>
            <a:ext cx="115970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buClr>
                <a:srgbClr val="2169D3"/>
              </a:buClr>
              <a:buSzPct val="90000"/>
              <a:buFont typeface="Wingdings" panose="05000000000000000000" charset="0"/>
              <a:buNone/>
            </a:pPr>
            <a:r>
              <a:rPr lang="en-US" altLang="zh-CN" sz="2400" b="1">
                <a:solidFill>
                  <a:schemeClr val="tx1"/>
                </a:solidFill>
                <a:uFillTx/>
                <a:latin typeface="Avenir Medium" panose="02000503020000020003" charset="0"/>
                <a:cs typeface="Avenir Black Oblique" panose="02000503020000020003" charset="0"/>
                <a:sym typeface="+mn-ea"/>
              </a:rPr>
              <a:t>we use the BCH formula to obtain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40665" y="1564005"/>
            <a:ext cx="115970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buClr>
                <a:srgbClr val="2169D3"/>
              </a:buClr>
              <a:buSzPct val="90000"/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tx1"/>
                </a:solidFill>
                <a:uFillTx/>
                <a:latin typeface="Avenir Medium" panose="02000503020000020003" charset="0"/>
                <a:cs typeface="Avenir Heavy Oblique" panose="02000503020000020003" charset="0"/>
                <a:sym typeface="+mn-ea"/>
              </a:rPr>
              <a:t>Express the IMSRG transformation as the true exponential of the Magnus operator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05" y="3291205"/>
            <a:ext cx="8813800" cy="6515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rcRect l="5587"/>
          <a:stretch>
            <a:fillRect/>
          </a:stretch>
        </p:blipFill>
        <p:spPr>
          <a:xfrm>
            <a:off x="9634220" y="3235960"/>
            <a:ext cx="2557780" cy="85280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9090660" y="3368040"/>
            <a:ext cx="5181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buClr>
                <a:srgbClr val="2169D3"/>
              </a:buClr>
              <a:buSzPct val="90000"/>
              <a:buFont typeface="Wingdings" panose="05000000000000000000" charset="0"/>
              <a:buNone/>
            </a:pPr>
            <a:r>
              <a:rPr lang="en-US" altLang="zh-CN" sz="2400" b="1">
                <a:solidFill>
                  <a:schemeClr val="tx1"/>
                </a:solidFill>
                <a:uFillTx/>
                <a:latin typeface="Avenir Medium" panose="02000503020000020003" charset="0"/>
                <a:cs typeface="Avenir Black Oblique" panose="02000503020000020003" charset="0"/>
                <a:sym typeface="+mn-ea"/>
              </a:rPr>
              <a:t>or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25095" y="282575"/>
            <a:ext cx="1061656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3200" b="1" i="1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Methodology: ab initio multi-shell VS-IMSRG Hamiltonian</a:t>
            </a:r>
          </a:p>
        </p:txBody>
      </p:sp>
      <p:grpSp>
        <p:nvGrpSpPr>
          <p:cNvPr id="6" name="组合 5"/>
          <p:cNvGrpSpPr/>
          <p:nvPr/>
        </p:nvGrpSpPr>
        <p:grpSpPr>
          <a:xfrm>
            <a:off x="569595" y="2042160"/>
            <a:ext cx="8521065" cy="651510"/>
            <a:chOff x="897" y="3216"/>
            <a:chExt cx="13419" cy="1026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5"/>
            <a:srcRect r="63111" b="63086"/>
            <a:stretch>
              <a:fillRect/>
            </a:stretch>
          </p:blipFill>
          <p:spPr>
            <a:xfrm>
              <a:off x="897" y="3391"/>
              <a:ext cx="3828" cy="653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5"/>
            <a:srcRect l="8413" t="42001"/>
            <a:stretch>
              <a:fillRect/>
            </a:stretch>
          </p:blipFill>
          <p:spPr>
            <a:xfrm>
              <a:off x="4812" y="3216"/>
              <a:ext cx="9504" cy="1026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240665" y="4173220"/>
                <a:ext cx="11597005" cy="82994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indent="0" algn="l">
                  <a:buClr>
                    <a:srgbClr val="2169D3"/>
                  </a:buClr>
                  <a:buSzPct val="90000"/>
                  <a:buFont typeface="Wingdings" panose="05000000000000000000" charset="0"/>
                  <a:buNone/>
                </a:pPr>
                <a:r>
                  <a:rPr lang="en-US" altLang="zh-CN" sz="2400">
                    <a:solidFill>
                      <a:schemeClr val="tx1"/>
                    </a:solidFill>
                    <a:uFillTx/>
                    <a:latin typeface="Avenir Medium" panose="02000503020000020003" charset="0"/>
                    <a:cs typeface="Avenir Heavy Oblique" panose="02000503020000020003" charset="0"/>
                    <a:sym typeface="+mn-ea"/>
                  </a:rPr>
                  <a:t>By solving for 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𝛺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(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𝑠</m:t>
                    </m:r>
                    <m:r>
                      <a:rPr lang="en-US" altLang="zh-CN" sz="2400" i="1">
                        <a:solidFill>
                          <a:schemeClr val="tx1"/>
                        </a:solidFill>
                        <a:uFillTx/>
                        <a:latin typeface="Cambria Math" panose="02040503050406030204" pitchFamily="18" charset="0"/>
                        <a:cs typeface="DejaVu Math TeX Gyre" panose="02000503000000000000" charset="0"/>
                        <a:sym typeface="+mn-ea"/>
                      </a:rPr>
                      <m:t>)</m:t>
                    </m:r>
                  </m:oMath>
                </a14:m>
                <a:r>
                  <a:rPr lang="en-US" altLang="zh-CN" sz="2400">
                    <a:solidFill>
                      <a:schemeClr val="tx1"/>
                    </a:solidFill>
                    <a:uFillTx/>
                    <a:latin typeface="Avenir Medium" panose="02000503020000020003" charset="0"/>
                    <a:cs typeface="Avenir Heavy Oblique" panose="02000503020000020003" charset="0"/>
                    <a:sym typeface="+mn-ea"/>
                  </a:rPr>
                  <a:t>, we can compute arbitrary effective operators in a consistent VS-IMSRG transformation.</a:t>
                </a:r>
                <a:endParaRPr lang="en-US" altLang="zh-CN" sz="2400" b="1" i="1">
                  <a:solidFill>
                    <a:schemeClr val="accent1">
                      <a:lumMod val="75000"/>
                    </a:schemeClr>
                  </a:solidFill>
                  <a:uFillTx/>
                  <a:latin typeface="Avenir Heavy Oblique" panose="02000503020000020003" charset="0"/>
                  <a:cs typeface="Avenir Heavy Oblique" panose="02000503020000020003" charset="0"/>
                  <a:sym typeface="+mn-ea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665" y="4173220"/>
                <a:ext cx="11597005" cy="82994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105" y="5070475"/>
            <a:ext cx="6802120" cy="71818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227965" y="5865495"/>
            <a:ext cx="1159700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l">
              <a:buClr>
                <a:srgbClr val="2169D3"/>
              </a:buClr>
              <a:buSzPct val="90000"/>
              <a:buFont typeface="Wingdings" panose="05000000000000000000" charset="0"/>
              <a:buNone/>
            </a:pP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uFillTx/>
                <a:latin typeface="Avenir Heavy Oblique" panose="02000503020000020003" charset="0"/>
                <a:cs typeface="Avenir Heavy Oblique" panose="02000503020000020003" charset="0"/>
                <a:sym typeface="+mn-ea"/>
              </a:rPr>
              <a:t>Cheers! We don’t 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latin typeface="Avenir Heavy Oblique" panose="02000503020000020003" charset="0"/>
                <a:cs typeface="Avenir Heavy Oblique" panose="02000503020000020003" charset="0"/>
                <a:sym typeface="+mn-ea"/>
              </a:rPr>
              <a:t>rely</a:t>
            </a:r>
            <a:r>
              <a:rPr lang="en-US" altLang="zh-CN" sz="2400" b="1" i="1" dirty="0">
                <a:solidFill>
                  <a:schemeClr val="accent1">
                    <a:lumMod val="75000"/>
                  </a:schemeClr>
                </a:solidFill>
                <a:uFillTx/>
                <a:latin typeface="Avenir Heavy Oblique" panose="02000503020000020003" charset="0"/>
                <a:cs typeface="Avenir Heavy Oblique" panose="02000503020000020003" charset="0"/>
                <a:sym typeface="+mn-ea"/>
              </a:rPr>
              <a:t> on effective charges anymore! </a:t>
            </a:r>
            <a:endParaRPr lang="en-US" altLang="zh-CN" sz="2400" b="1" dirty="0">
              <a:solidFill>
                <a:schemeClr val="tx1"/>
              </a:solidFill>
              <a:uFillTx/>
              <a:latin typeface="Avenir Medium" panose="02000503020000020003" charset="0"/>
              <a:cs typeface="Avenir Black Oblique" panose="02000503020000020003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04F74B-7E51-78B7-41E0-661354227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F03A711-7E27-37FC-ED92-C596FBA36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B68DEDF0-915C-F952-02C0-3A711A41B49B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654529A3-AAE3-4E63-A7CA-1D75FB3525D9}"/>
              </a:ext>
            </a:extLst>
          </p:cNvPr>
          <p:cNvSpPr txBox="1"/>
          <p:nvPr/>
        </p:nvSpPr>
        <p:spPr>
          <a:xfrm>
            <a:off x="643346" y="1139734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Outline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55B798F6-D44A-FD4F-C27D-6F00892A016A}"/>
              </a:ext>
            </a:extLst>
          </p:cNvPr>
          <p:cNvSpPr txBox="1"/>
          <p:nvPr/>
        </p:nvSpPr>
        <p:spPr>
          <a:xfrm>
            <a:off x="1280159" y="1812668"/>
            <a:ext cx="212109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AAAAA"/>
                </a:solidFill>
              </a:defRPr>
            </a:pPr>
            <a:r>
              <a:rPr dirty="0">
                <a:solidFill>
                  <a:schemeClr val="bg1">
                    <a:lumMod val="75000"/>
                  </a:schemeClr>
                </a:solidFill>
              </a:rPr>
              <a:t>1.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  <a:endParaRPr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923786C3-8145-E8CA-4E55-7F22CC714759}"/>
              </a:ext>
            </a:extLst>
          </p:cNvPr>
          <p:cNvSpPr txBox="1"/>
          <p:nvPr/>
        </p:nvSpPr>
        <p:spPr>
          <a:xfrm>
            <a:off x="1280159" y="3299053"/>
            <a:ext cx="150714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AAAAA"/>
                </a:solidFill>
              </a:defRPr>
            </a:pPr>
            <a:r>
              <a:rPr lang="en-US" b="1" dirty="0">
                <a:solidFill>
                  <a:srgbClr val="0070C0"/>
                </a:solidFill>
              </a:rPr>
              <a:t>3</a:t>
            </a:r>
            <a:r>
              <a:rPr b="1" dirty="0">
                <a:solidFill>
                  <a:srgbClr val="0070C0"/>
                </a:solidFill>
              </a:rPr>
              <a:t>. </a:t>
            </a:r>
            <a:r>
              <a:rPr lang="en-US" b="1" dirty="0">
                <a:solidFill>
                  <a:srgbClr val="0070C0"/>
                </a:solidFill>
              </a:rPr>
              <a:t>Results</a:t>
            </a:r>
            <a:endParaRPr b="1" dirty="0">
              <a:solidFill>
                <a:srgbClr val="0070C0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FCF7D2-4D35-896E-496E-632952433DF9}"/>
              </a:ext>
            </a:extLst>
          </p:cNvPr>
          <p:cNvSpPr txBox="1"/>
          <p:nvPr/>
        </p:nvSpPr>
        <p:spPr>
          <a:xfrm>
            <a:off x="141423" y="249720"/>
            <a:ext cx="1685141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Contents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5443ED2-55B1-E7D4-46D0-F134FCCAD54D}"/>
              </a:ext>
            </a:extLst>
          </p:cNvPr>
          <p:cNvSpPr txBox="1"/>
          <p:nvPr/>
        </p:nvSpPr>
        <p:spPr>
          <a:xfrm>
            <a:off x="1280159" y="4054516"/>
            <a:ext cx="174919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AAAAA"/>
                </a:solidFill>
              </a:defRP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4. Summary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EDA52DD1-C5B1-38A1-FB40-D7A456F728C6}"/>
              </a:ext>
            </a:extLst>
          </p:cNvPr>
          <p:cNvSpPr txBox="1"/>
          <p:nvPr/>
        </p:nvSpPr>
        <p:spPr>
          <a:xfrm>
            <a:off x="1280159" y="2534690"/>
            <a:ext cx="344677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AAAAA"/>
                </a:solidFill>
              </a:defRP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2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.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eoretical framework</a:t>
            </a:r>
            <a:endParaRPr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7096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7ACDB-1B84-BBF6-6054-7620FA81C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E9081482-143C-8827-B97B-54008B9ED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E9004A77-8FAB-3D9B-6E88-49743961A863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88FFF91-F29A-F39C-8A9C-610038EC20DC}"/>
              </a:ext>
            </a:extLst>
          </p:cNvPr>
          <p:cNvSpPr txBox="1"/>
          <p:nvPr/>
        </p:nvSpPr>
        <p:spPr>
          <a:xfrm>
            <a:off x="141423" y="249720"/>
            <a:ext cx="1395318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Results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08695E4-F5A7-E9CF-4C82-6755336D0D78}"/>
              </a:ext>
            </a:extLst>
          </p:cNvPr>
          <p:cNvSpPr txBox="1"/>
          <p:nvPr/>
        </p:nvSpPr>
        <p:spPr>
          <a:xfrm>
            <a:off x="5797420" y="1194422"/>
            <a:ext cx="60648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231F20"/>
                </a:solidFill>
                <a:effectLst/>
                <a:latin typeface="AdvOT483a8203"/>
              </a:rPr>
              <a:t>valence space (</a:t>
            </a:r>
            <a:r>
              <a:rPr lang="en-US" altLang="zh-CN" sz="2000" b="0" i="0" baseline="30000" dirty="0">
                <a:solidFill>
                  <a:srgbClr val="231F20"/>
                </a:solidFill>
                <a:effectLst/>
                <a:latin typeface="AdvTTbdb21c9e"/>
              </a:rPr>
              <a:t>48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OT483a8203"/>
              </a:rPr>
              <a:t>Ca core) :</a:t>
            </a:r>
          </a:p>
          <a:p>
            <a:r>
              <a:rPr lang="en-US" altLang="zh-CN" sz="2000" b="0" i="0" dirty="0">
                <a:solidFill>
                  <a:srgbClr val="231F20"/>
                </a:solidFill>
                <a:effectLst/>
                <a:latin typeface="AdvOT483a8203"/>
              </a:rPr>
              <a:t>proton orbitals: </a:t>
            </a:r>
            <a:r>
              <a:rPr lang="en-US" altLang="zh-CN" sz="2000" dirty="0">
                <a:solidFill>
                  <a:srgbClr val="231F20"/>
                </a:solidFill>
                <a:latin typeface="AdvP4C4E74"/>
              </a:rPr>
              <a:t>{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0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d0b5fdba.I"/>
              </a:rPr>
              <a:t>f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7</a:t>
            </a:r>
            <a:r>
              <a:rPr lang="en-US" altLang="zh-CN" sz="2000" dirty="0">
                <a:solidFill>
                  <a:srgbClr val="231F20"/>
                </a:solidFill>
                <a:latin typeface="AdvTTd0b5fdba.I"/>
              </a:rPr>
              <a:t>/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2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d0b5fdba.I"/>
              </a:rPr>
              <a:t>; 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0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d0b5fdba.I"/>
              </a:rPr>
              <a:t>f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5</a:t>
            </a:r>
            <a:r>
              <a:rPr lang="en-US" altLang="zh-CN" sz="2000" dirty="0">
                <a:solidFill>
                  <a:srgbClr val="231F20"/>
                </a:solidFill>
                <a:latin typeface="AdvTTd0b5fdba.I"/>
              </a:rPr>
              <a:t>/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2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d0b5fdba.I"/>
              </a:rPr>
              <a:t>; 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1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d0b5fdba.I"/>
              </a:rPr>
              <a:t>p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3</a:t>
            </a:r>
            <a:r>
              <a:rPr lang="en-US" altLang="zh-CN" sz="2000" dirty="0">
                <a:solidFill>
                  <a:srgbClr val="231F20"/>
                </a:solidFill>
                <a:latin typeface="AdvTTd0b5fdba.I"/>
              </a:rPr>
              <a:t>/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2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d0b5fdba.I"/>
              </a:rPr>
              <a:t>; 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1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d0b5fdba.I"/>
              </a:rPr>
              <a:t>p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1</a:t>
            </a:r>
            <a:r>
              <a:rPr lang="en-US" altLang="zh-CN" sz="2000" dirty="0">
                <a:solidFill>
                  <a:srgbClr val="231F20"/>
                </a:solidFill>
                <a:latin typeface="AdvTTd0b5fdba.I"/>
              </a:rPr>
              <a:t>/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2</a:t>
            </a:r>
            <a:r>
              <a:rPr lang="en-US" altLang="zh-CN" sz="2000" dirty="0">
                <a:solidFill>
                  <a:srgbClr val="231F20"/>
                </a:solidFill>
                <a:latin typeface="AdvP4C4E74"/>
              </a:rPr>
              <a:t>}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P4C4E74"/>
              </a:rPr>
              <a:t> </a:t>
            </a:r>
          </a:p>
          <a:p>
            <a:r>
              <a:rPr lang="en-US" altLang="zh-CN" sz="2000" b="0" i="0" dirty="0">
                <a:solidFill>
                  <a:srgbClr val="231F20"/>
                </a:solidFill>
                <a:effectLst/>
                <a:latin typeface="AdvOT483a8203"/>
              </a:rPr>
              <a:t>neutron orbitals :</a:t>
            </a:r>
            <a:r>
              <a:rPr lang="en-US" altLang="zh-CN" sz="2000" dirty="0">
                <a:solidFill>
                  <a:srgbClr val="231F20"/>
                </a:solidFill>
                <a:latin typeface="AdvP4C4E74"/>
              </a:rPr>
              <a:t>{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0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d0b5fdba.I"/>
              </a:rPr>
              <a:t>f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5</a:t>
            </a:r>
            <a:r>
              <a:rPr lang="en-US" altLang="zh-CN" sz="2000" dirty="0">
                <a:solidFill>
                  <a:srgbClr val="231F20"/>
                </a:solidFill>
                <a:latin typeface="AdvTTd0b5fdba.I"/>
              </a:rPr>
              <a:t>/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2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d0b5fdba.I"/>
              </a:rPr>
              <a:t>; 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1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d0b5fdba.I"/>
              </a:rPr>
              <a:t>p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3</a:t>
            </a:r>
            <a:r>
              <a:rPr lang="en-US" altLang="zh-CN" sz="2000" dirty="0">
                <a:solidFill>
                  <a:srgbClr val="231F20"/>
                </a:solidFill>
                <a:latin typeface="AdvTTd0b5fdba.I"/>
              </a:rPr>
              <a:t>/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2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d0b5fdba.I"/>
              </a:rPr>
              <a:t>; 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1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d0b5fdba.I"/>
              </a:rPr>
              <a:t>p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1</a:t>
            </a:r>
            <a:r>
              <a:rPr lang="en-US" altLang="zh-CN" sz="2000" dirty="0">
                <a:solidFill>
                  <a:srgbClr val="231F20"/>
                </a:solidFill>
                <a:latin typeface="AdvTTd0b5fdba.I"/>
              </a:rPr>
              <a:t>/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2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d0b5fdba.I"/>
              </a:rPr>
              <a:t>; 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0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d0b5fdba.I"/>
              </a:rPr>
              <a:t>g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9</a:t>
            </a:r>
            <a:r>
              <a:rPr lang="en-US" altLang="zh-CN" sz="2000" dirty="0">
                <a:solidFill>
                  <a:srgbClr val="231F20"/>
                </a:solidFill>
                <a:latin typeface="AdvTTd0b5fdba.I"/>
              </a:rPr>
              <a:t>/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2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d0b5fdba.I"/>
              </a:rPr>
              <a:t>; 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1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d0b5fdba.I"/>
              </a:rPr>
              <a:t>d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TTbdb21c9e"/>
              </a:rPr>
              <a:t>5/2</a:t>
            </a:r>
            <a:r>
              <a:rPr lang="en-US" altLang="zh-CN" sz="2000" dirty="0">
                <a:solidFill>
                  <a:srgbClr val="231F20"/>
                </a:solidFill>
                <a:latin typeface="AdvP4C4E74"/>
              </a:rPr>
              <a:t>}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P4C4E74"/>
              </a:rPr>
              <a:t> 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7E6E25-5CE4-AC26-B8C4-4128BB4420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27" y="1038132"/>
            <a:ext cx="5251671" cy="574318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D25B37B-CC72-1941-2951-8A3A55AC3E77}"/>
              </a:ext>
            </a:extLst>
          </p:cNvPr>
          <p:cNvSpPr txBox="1"/>
          <p:nvPr/>
        </p:nvSpPr>
        <p:spPr>
          <a:xfrm>
            <a:off x="5662930" y="3355254"/>
            <a:ext cx="62950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0" i="0" dirty="0">
                <a:solidFill>
                  <a:srgbClr val="231F20"/>
                </a:solidFill>
                <a:effectLst/>
                <a:latin typeface="Avenir Black Oblique" panose="02000503020000020003"/>
              </a:rPr>
              <a:t>The dependence of on constrain of 1d</a:t>
            </a:r>
            <a:r>
              <a:rPr lang="en-US" altLang="zh-CN" sz="2400" b="0" i="0" baseline="-25000" dirty="0">
                <a:solidFill>
                  <a:srgbClr val="231F20"/>
                </a:solidFill>
                <a:effectLst/>
                <a:latin typeface="Avenir Black Oblique" panose="02000503020000020003"/>
              </a:rPr>
              <a:t>5/2</a:t>
            </a:r>
            <a:r>
              <a:rPr lang="en-US" altLang="zh-CN" sz="2400" dirty="0">
                <a:solidFill>
                  <a:srgbClr val="231F20"/>
                </a:solidFill>
                <a:latin typeface="Avenir Black Oblique" panose="02000503020000020003"/>
              </a:rPr>
              <a:t> , </a:t>
            </a:r>
            <a:r>
              <a:rPr lang="el-GR" altLang="zh-CN" sz="2000" dirty="0"/>
              <a:t>ℏω</a:t>
            </a:r>
            <a:r>
              <a:rPr lang="en-US" altLang="zh-CN" sz="2400" dirty="0">
                <a:latin typeface="Avenir Black Oblique" panose="02000503020000020003"/>
              </a:rPr>
              <a:t>, </a:t>
            </a:r>
            <a:r>
              <a:rPr lang="en-US" altLang="zh-CN" sz="2400" dirty="0" err="1">
                <a:latin typeface="Avenir Black Oblique" panose="02000503020000020003"/>
              </a:rPr>
              <a:t>emax</a:t>
            </a:r>
            <a:r>
              <a:rPr lang="en-US" altLang="zh-CN" sz="2400" dirty="0">
                <a:latin typeface="Avenir Black Oblique" panose="02000503020000020003"/>
              </a:rPr>
              <a:t>, e3max, </a:t>
            </a:r>
            <a:r>
              <a:rPr lang="el-GR" altLang="zh-CN" sz="2000" dirty="0"/>
              <a:t>β </a:t>
            </a:r>
            <a:r>
              <a:rPr lang="en-US" altLang="zh-CN" sz="2000" dirty="0">
                <a:latin typeface="Avenir Black Oblique" panose="02000503020000020003"/>
              </a:rPr>
              <a:t>and </a:t>
            </a:r>
            <a:r>
              <a:rPr lang="el-GR" altLang="zh-CN" sz="2000" dirty="0"/>
              <a:t>Δ</a:t>
            </a:r>
            <a:r>
              <a:rPr lang="el-GR" altLang="zh-CN" sz="2400" dirty="0"/>
              <a:t> </a:t>
            </a:r>
            <a:r>
              <a:rPr lang="en-US" altLang="zh-CN" sz="2400" dirty="0">
                <a:latin typeface="Avenir Black Oblique" panose="02000503020000020003"/>
              </a:rPr>
              <a:t>is vary small. </a:t>
            </a:r>
            <a:endParaRPr lang="en-US" altLang="zh-CN" sz="2400" b="0" i="0" dirty="0">
              <a:solidFill>
                <a:srgbClr val="231F20"/>
              </a:solidFill>
              <a:effectLst/>
              <a:latin typeface="Avenir Black Oblique" panose="02000503020000020003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400" b="0" i="0" dirty="0">
                <a:solidFill>
                  <a:srgbClr val="231F20"/>
                </a:solidFill>
                <a:effectLst/>
                <a:latin typeface="Avenir Black Oblique" panose="02000503020000020003"/>
              </a:rPr>
              <a:t>It clearly shows the important impact of 2B currents, which is to decrease the GT strength and thus increase the half-life in all cases.</a:t>
            </a:r>
            <a:r>
              <a:rPr lang="en-US" altLang="zh-CN" sz="2400" dirty="0">
                <a:latin typeface="Avenir Black Oblique" panose="02000503020000020003"/>
              </a:rPr>
              <a:t> </a:t>
            </a:r>
            <a:br>
              <a:rPr lang="en-US" altLang="zh-CN" sz="2400" dirty="0">
                <a:latin typeface="Avenir Black Oblique" panose="02000503020000020003"/>
              </a:rPr>
            </a:br>
            <a:endParaRPr lang="zh-CN" altLang="en-US" sz="2400" dirty="0">
              <a:latin typeface="Avenir Black Oblique" panose="02000503020000020003"/>
            </a:endParaRPr>
          </a:p>
        </p:txBody>
      </p:sp>
    </p:spTree>
    <p:extLst>
      <p:ext uri="{BB962C8B-B14F-4D97-AF65-F5344CB8AC3E}">
        <p14:creationId xmlns:p14="http://schemas.microsoft.com/office/powerpoint/2010/main" val="3135114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DFD17-73CF-B647-A5B3-1CD977FD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A912FEE-8D71-FEB4-C268-4DB405584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14C55A5C-2351-E364-97E3-230F9222B453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EB5C280-0044-E236-7AB4-D0564704D950}"/>
              </a:ext>
            </a:extLst>
          </p:cNvPr>
          <p:cNvSpPr txBox="1"/>
          <p:nvPr/>
        </p:nvSpPr>
        <p:spPr>
          <a:xfrm>
            <a:off x="141423" y="249720"/>
            <a:ext cx="1395318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Results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4CF8EB5-2795-2D73-297C-9E813DB314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79" y="1081675"/>
            <a:ext cx="5563825" cy="330507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3C50B67-A381-F7FF-127D-125C7EB17C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008" y="984650"/>
            <a:ext cx="4536913" cy="350185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FD9D912-9917-3D65-DA7C-39407BF212BD}"/>
              </a:ext>
            </a:extLst>
          </p:cNvPr>
          <p:cNvSpPr txBox="1"/>
          <p:nvPr/>
        </p:nvSpPr>
        <p:spPr>
          <a:xfrm>
            <a:off x="394029" y="4566728"/>
            <a:ext cx="563976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Avenir Black Oblique" panose="02000503020000020003"/>
              </a:rPr>
              <a:t>The calculations mildly </a:t>
            </a:r>
            <a:r>
              <a:rPr lang="en-US" altLang="zh-CN" sz="2000" dirty="0">
                <a:highlight>
                  <a:srgbClr val="FF0000"/>
                </a:highlight>
                <a:latin typeface="Avenir Black Oblique" panose="02000503020000020003"/>
              </a:rPr>
              <a:t>overestimate</a:t>
            </a:r>
            <a:r>
              <a:rPr lang="en-US" altLang="zh-CN" sz="2000" dirty="0">
                <a:latin typeface="Avenir Black Oblique" panose="02000503020000020003"/>
              </a:rPr>
              <a:t> the ground-state energies where experimental data exists. </a:t>
            </a:r>
            <a:br>
              <a:rPr lang="en-US" altLang="zh-CN" sz="2000" dirty="0">
                <a:latin typeface="Avenir Black Oblique" panose="02000503020000020003"/>
              </a:rPr>
            </a:br>
            <a:endParaRPr lang="zh-CN" altLang="en-US" sz="2000" dirty="0">
              <a:latin typeface="Avenir Black Oblique" panose="02000503020000020003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0A4C969-0EEB-AC5D-49BA-DE5C0E2660B2}"/>
              </a:ext>
            </a:extLst>
          </p:cNvPr>
          <p:cNvSpPr txBox="1"/>
          <p:nvPr/>
        </p:nvSpPr>
        <p:spPr>
          <a:xfrm>
            <a:off x="6413876" y="4486508"/>
            <a:ext cx="546773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Avenir Black Oblique" panose="02000503020000020003"/>
              </a:rPr>
              <a:t>The inclusion of 2B currents leads to longer total half-lives for all N=50 nuclei studied, leading to a very good agreement with experiment for Z=28–32 and reproducing the trend down to Z=27. </a:t>
            </a:r>
          </a:p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sz="2000" baseline="30000" dirty="0">
                <a:latin typeface="Avenir Black Oblique" panose="02000503020000020003"/>
              </a:rPr>
              <a:t>78</a:t>
            </a:r>
            <a:r>
              <a:rPr lang="en-US" altLang="zh-CN" sz="2000" dirty="0">
                <a:latin typeface="Avenir Black Oblique" panose="02000503020000020003"/>
              </a:rPr>
              <a:t>Ni the ΔN</a:t>
            </a:r>
            <a:r>
              <a:rPr lang="en-US" altLang="zh-CN" sz="2000" baseline="30000" dirty="0">
                <a:latin typeface="Avenir Black Oblique" panose="02000503020000020003"/>
              </a:rPr>
              <a:t>2</a:t>
            </a:r>
            <a:r>
              <a:rPr lang="en-US" altLang="zh-CN" sz="2000" dirty="0">
                <a:latin typeface="Avenir Black Oblique" panose="02000503020000020003"/>
              </a:rPr>
              <a:t>LO</a:t>
            </a:r>
            <a:r>
              <a:rPr lang="en-US" altLang="zh-CN" sz="2000" baseline="-25000" dirty="0">
                <a:latin typeface="Avenir Black Oblique" panose="02000503020000020003"/>
              </a:rPr>
              <a:t>GO</a:t>
            </a:r>
            <a:r>
              <a:rPr lang="en-US" altLang="zh-CN" sz="2000" dirty="0">
                <a:latin typeface="Avenir Black Oblique" panose="02000503020000020003"/>
              </a:rPr>
              <a:t>(394) interaction leads to a longer half-life. </a:t>
            </a:r>
            <a:br>
              <a:rPr lang="en-US" altLang="zh-CN" sz="2000" dirty="0">
                <a:latin typeface="Avenir Black Oblique" panose="02000503020000020003"/>
              </a:rPr>
            </a:br>
            <a:br>
              <a:rPr lang="en-US" altLang="zh-CN" sz="2000" dirty="0">
                <a:latin typeface="Avenir Black Oblique" panose="02000503020000020003"/>
              </a:rPr>
            </a:br>
            <a:endParaRPr lang="zh-CN" altLang="en-US" sz="2000" dirty="0">
              <a:latin typeface="Avenir Black Oblique" panose="02000503020000020003"/>
            </a:endParaRPr>
          </a:p>
        </p:txBody>
      </p:sp>
    </p:spTree>
    <p:extLst>
      <p:ext uri="{BB962C8B-B14F-4D97-AF65-F5344CB8AC3E}">
        <p14:creationId xmlns:p14="http://schemas.microsoft.com/office/powerpoint/2010/main" val="10743371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45A78-A571-2907-1288-71D1B6369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CBC308A0-496E-7026-31BA-DE32EE1A0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F9C05131-622E-BC7F-742E-2A8AA4C7D1FD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C618F08-C2FE-C527-6883-8F12C87556A8}"/>
              </a:ext>
            </a:extLst>
          </p:cNvPr>
          <p:cNvSpPr txBox="1"/>
          <p:nvPr/>
        </p:nvSpPr>
        <p:spPr>
          <a:xfrm>
            <a:off x="141423" y="249720"/>
            <a:ext cx="1395318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Results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8CD6C38-5190-5A3B-CA5A-0E57AC4A9EEB}"/>
              </a:ext>
            </a:extLst>
          </p:cNvPr>
          <p:cNvSpPr txBox="1"/>
          <p:nvPr/>
        </p:nvSpPr>
        <p:spPr>
          <a:xfrm>
            <a:off x="6263729" y="4322765"/>
            <a:ext cx="546773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dirty="0"/>
              <a:t>The phase space factors are also different, and the spectrum is more compressed for the ΔN</a:t>
            </a:r>
            <a:r>
              <a:rPr lang="en-US" altLang="zh-CN" baseline="30000" dirty="0"/>
              <a:t>2</a:t>
            </a:r>
            <a:r>
              <a:rPr lang="en-US" altLang="zh-CN" dirty="0"/>
              <a:t>LO</a:t>
            </a:r>
            <a:r>
              <a:rPr lang="en-US" altLang="zh-CN" baseline="-25000" dirty="0"/>
              <a:t>GO</a:t>
            </a:r>
            <a:r>
              <a:rPr lang="en-US" altLang="zh-CN" dirty="0"/>
              <a:t>(394) interaction. This shows the intricate interplay of the B(GT) and the phase space factors for the total half-life.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br>
              <a:rPr lang="en-US" altLang="zh-CN" sz="2000" dirty="0"/>
            </a:br>
            <a:endParaRPr lang="zh-CN" alt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31A16EC-8DA7-7860-04C4-2BEDFB898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84" y="1148880"/>
            <a:ext cx="11053176" cy="303538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FA0A00E-9D26-657A-13C1-A9E7ACF661E8}"/>
              </a:ext>
            </a:extLst>
          </p:cNvPr>
          <p:cNvSpPr txBox="1"/>
          <p:nvPr/>
        </p:nvSpPr>
        <p:spPr>
          <a:xfrm>
            <a:off x="323484" y="4184265"/>
            <a:ext cx="62950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rgbClr val="231F20"/>
                </a:solidFill>
                <a:effectLst/>
                <a:latin typeface="Avenir Black Oblique" panose="02000503020000020003"/>
              </a:rPr>
              <a:t>distribution of GT transition strength B</a:t>
            </a:r>
            <a:r>
              <a:rPr lang="en-US" altLang="zh-CN" dirty="0">
                <a:solidFill>
                  <a:srgbClr val="231F20"/>
                </a:solidFill>
                <a:latin typeface="Avenir Black Oblique" panose="02000503020000020003"/>
              </a:rPr>
              <a:t>(</a:t>
            </a:r>
            <a:r>
              <a:rPr lang="en-US" altLang="zh-CN" b="0" i="0" dirty="0">
                <a:solidFill>
                  <a:srgbClr val="231F20"/>
                </a:solidFill>
                <a:effectLst/>
                <a:latin typeface="Avenir Black Oblique" panose="02000503020000020003"/>
              </a:rPr>
              <a:t>GT</a:t>
            </a:r>
            <a:r>
              <a:rPr lang="en-US" altLang="zh-CN" dirty="0">
                <a:solidFill>
                  <a:srgbClr val="231F20"/>
                </a:solidFill>
                <a:latin typeface="Avenir Black Oblique" panose="02000503020000020003"/>
              </a:rPr>
              <a:t>) </a:t>
            </a:r>
            <a:r>
              <a:rPr lang="en-US" altLang="zh-CN" dirty="0">
                <a:latin typeface="Avenir Black Oblique" panose="02000503020000020003"/>
              </a:rPr>
              <a:t>as a function of excitation energy in the final nucleus </a:t>
            </a:r>
            <a:br>
              <a:rPr lang="en-US" altLang="zh-CN" dirty="0">
                <a:latin typeface="Avenir Black Oblique" panose="02000503020000020003"/>
              </a:rPr>
            </a:br>
            <a:r>
              <a:rPr lang="en-US" altLang="zh-CN" dirty="0">
                <a:latin typeface="Avenir Black Oblique" panose="02000503020000020003"/>
              </a:rPr>
              <a:t> </a:t>
            </a:r>
            <a:br>
              <a:rPr lang="en-US" altLang="zh-CN" dirty="0">
                <a:latin typeface="Avenir Black Oblique" panose="02000503020000020003"/>
              </a:rPr>
            </a:br>
            <a:endParaRPr lang="zh-CN" altLang="en-US" dirty="0">
              <a:latin typeface="Avenir Black Oblique" panose="02000503020000020003"/>
            </a:endParaRPr>
          </a:p>
        </p:txBody>
      </p:sp>
    </p:spTree>
    <p:extLst>
      <p:ext uri="{BB962C8B-B14F-4D97-AF65-F5344CB8AC3E}">
        <p14:creationId xmlns:p14="http://schemas.microsoft.com/office/powerpoint/2010/main" val="98403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A3C75-4A3B-DFE1-1310-363884F2F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021B46D2-C95E-F15D-19D4-A3ECBF10E9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145528C8-700A-F9B6-AA9E-906E8ED3A448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0B3713-857C-3F96-95D4-58EE9A124FD0}"/>
              </a:ext>
            </a:extLst>
          </p:cNvPr>
          <p:cNvSpPr txBox="1"/>
          <p:nvPr/>
        </p:nvSpPr>
        <p:spPr>
          <a:xfrm>
            <a:off x="141423" y="249720"/>
            <a:ext cx="1395318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Results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F52B02D-2D56-657D-9290-B8BF61DF333F}"/>
              </a:ext>
            </a:extLst>
          </p:cNvPr>
          <p:cNvSpPr txBox="1"/>
          <p:nvPr/>
        </p:nvSpPr>
        <p:spPr>
          <a:xfrm>
            <a:off x="141423" y="4074260"/>
            <a:ext cx="5467738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n"/>
            </a:pPr>
            <a:r>
              <a:rPr lang="en-US" altLang="zh-CN" dirty="0"/>
              <a:t>We find a reduction due to FF transitions, which is most pronounced for the free FF case.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C5DEF67-DB2D-1DEE-35A3-D0F81724C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6303" y="646137"/>
            <a:ext cx="5606615" cy="586098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88BA04CF-15F6-9AE5-5FF7-358FB7567E84}"/>
              </a:ext>
            </a:extLst>
          </p:cNvPr>
          <p:cNvSpPr txBox="1"/>
          <p:nvPr/>
        </p:nvSpPr>
        <p:spPr>
          <a:xfrm>
            <a:off x="266412" y="1626955"/>
            <a:ext cx="51753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0" dirty="0">
                <a:solidFill>
                  <a:srgbClr val="231F20"/>
                </a:solidFill>
                <a:effectLst/>
                <a:latin typeface="AdvOT483a8203"/>
              </a:rPr>
              <a:t>The total FF transition rate is obtained by summing over the 20 lowest final states for each </a:t>
            </a:r>
            <a:r>
              <a:rPr lang="en-US" altLang="zh-CN" sz="2000" b="0" i="0" dirty="0" err="1">
                <a:solidFill>
                  <a:srgbClr val="231F20"/>
                </a:solidFill>
                <a:effectLst/>
                <a:latin typeface="AdvTTd0b5fdba.I"/>
              </a:rPr>
              <a:t>J</a:t>
            </a:r>
            <a:r>
              <a:rPr lang="en-US" altLang="zh-CN" sz="2000" b="0" i="0" baseline="-25000" dirty="0" err="1">
                <a:solidFill>
                  <a:srgbClr val="231F20"/>
                </a:solidFill>
                <a:effectLst/>
                <a:latin typeface="AdvOT483a8203"/>
              </a:rPr>
              <a:t>f</a:t>
            </a:r>
            <a:r>
              <a:rPr lang="en-US" altLang="zh-CN" sz="2000" b="0" i="0" dirty="0">
                <a:solidFill>
                  <a:srgbClr val="231F20"/>
                </a:solidFill>
                <a:effectLst/>
                <a:latin typeface="AdvOT483a8203"/>
              </a:rPr>
              <a:t>, which is sufficient for converged results.</a:t>
            </a:r>
            <a:r>
              <a:rPr lang="en-US" altLang="zh-CN" sz="2000" dirty="0"/>
              <a:t> </a:t>
            </a:r>
            <a:br>
              <a:rPr lang="en-US" altLang="zh-CN" sz="2000" dirty="0"/>
            </a:b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29600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23184-93FD-5529-5D9F-1CD6F89EB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6D2A8B1-CF58-CF76-9473-C9DAC30BB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2F17479D-33AB-68E0-201F-46101E6E8059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367BFE94-516A-B4F0-054D-EF2062CFCC97}"/>
              </a:ext>
            </a:extLst>
          </p:cNvPr>
          <p:cNvSpPr txBox="1"/>
          <p:nvPr/>
        </p:nvSpPr>
        <p:spPr>
          <a:xfrm>
            <a:off x="643346" y="1139734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Outline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1DD61068-8BEE-D6D0-FD71-13B058EA88B4}"/>
              </a:ext>
            </a:extLst>
          </p:cNvPr>
          <p:cNvSpPr txBox="1"/>
          <p:nvPr/>
        </p:nvSpPr>
        <p:spPr>
          <a:xfrm>
            <a:off x="1280159" y="1812668"/>
            <a:ext cx="2121093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AAAAA"/>
                </a:solidFill>
              </a:defRPr>
            </a:pPr>
            <a:r>
              <a:rPr dirty="0">
                <a:solidFill>
                  <a:schemeClr val="bg1">
                    <a:lumMod val="75000"/>
                  </a:schemeClr>
                </a:solidFill>
              </a:rPr>
              <a:t>1.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Introduction</a:t>
            </a:r>
            <a:endParaRPr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CD3C1045-2560-B5D2-E6A0-A8099E5CC3B6}"/>
              </a:ext>
            </a:extLst>
          </p:cNvPr>
          <p:cNvSpPr txBox="1"/>
          <p:nvPr/>
        </p:nvSpPr>
        <p:spPr>
          <a:xfrm>
            <a:off x="1280159" y="3299053"/>
            <a:ext cx="1422184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AAAAA"/>
                </a:solidFill>
              </a:defRP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3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.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Results</a:t>
            </a:r>
            <a:endParaRPr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C7FB7A-25EE-B33A-20E4-C9191D6B1F6D}"/>
              </a:ext>
            </a:extLst>
          </p:cNvPr>
          <p:cNvSpPr txBox="1"/>
          <p:nvPr/>
        </p:nvSpPr>
        <p:spPr>
          <a:xfrm>
            <a:off x="141423" y="249720"/>
            <a:ext cx="1685141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Contents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07E01A34-1510-05ED-68B9-BE3B5A59F13D}"/>
              </a:ext>
            </a:extLst>
          </p:cNvPr>
          <p:cNvSpPr txBox="1"/>
          <p:nvPr/>
        </p:nvSpPr>
        <p:spPr>
          <a:xfrm>
            <a:off x="1280159" y="4054516"/>
            <a:ext cx="1838965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AAAAA"/>
                </a:solidFill>
              </a:defRPr>
            </a:pPr>
            <a:r>
              <a:rPr lang="en-US" b="1" dirty="0">
                <a:solidFill>
                  <a:srgbClr val="0070C0"/>
                </a:solidFill>
              </a:rPr>
              <a:t>4. Summary</a:t>
            </a:r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13AAE600-687B-0986-F6C0-5E848677E1E7}"/>
              </a:ext>
            </a:extLst>
          </p:cNvPr>
          <p:cNvSpPr txBox="1"/>
          <p:nvPr/>
        </p:nvSpPr>
        <p:spPr>
          <a:xfrm>
            <a:off x="1280159" y="2534690"/>
            <a:ext cx="3446777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0">
                <a:solidFill>
                  <a:srgbClr val="AAAAAA"/>
                </a:solidFill>
              </a:defRPr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2</a:t>
            </a:r>
            <a:r>
              <a:rPr dirty="0">
                <a:solidFill>
                  <a:schemeClr val="bg1">
                    <a:lumMod val="75000"/>
                  </a:schemeClr>
                </a:solidFill>
              </a:rPr>
              <a:t>. </a:t>
            </a:r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Th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</a:rPr>
              <a:t>eoretical framework</a:t>
            </a:r>
            <a:endParaRPr i="1" dirty="0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843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9D684-D2A8-6564-BC9C-CBC00C589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B6E3571-0AFB-6074-B201-DFF40DE0B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76660" y="22225"/>
            <a:ext cx="804545" cy="800100"/>
          </a:xfrm>
          <a:prstGeom prst="rect">
            <a:avLst/>
          </a:prstGeom>
        </p:spPr>
      </p:pic>
      <p:sp>
        <p:nvSpPr>
          <p:cNvPr id="765" name="矩形">
            <a:extLst>
              <a:ext uri="{FF2B5EF4-FFF2-40B4-BE49-F238E27FC236}">
                <a16:creationId xmlns:a16="http://schemas.microsoft.com/office/drawing/2014/main" id="{07287497-CE84-16B2-BB44-F347CB7D37D2}"/>
              </a:ext>
            </a:extLst>
          </p:cNvPr>
          <p:cNvSpPr/>
          <p:nvPr/>
        </p:nvSpPr>
        <p:spPr>
          <a:xfrm>
            <a:off x="-38100" y="2540"/>
            <a:ext cx="11402060" cy="899160"/>
          </a:xfrm>
          <a:prstGeom prst="rect">
            <a:avLst/>
          </a:prstGeom>
          <a:gradFill>
            <a:gsLst>
              <a:gs pos="0">
                <a:schemeClr val="accent3">
                  <a:lumMod val="50000"/>
                </a:schemeClr>
              </a:gs>
              <a:gs pos="100000">
                <a:srgbClr val="113C21"/>
              </a:gs>
            </a:gsLst>
            <a:lin ang="5400000"/>
          </a:gradFill>
          <a:ln w="12700">
            <a:miter lim="400000"/>
          </a:ln>
          <a:effectLst>
            <a:outerShdw blurRad="355600" rotWithShape="0">
              <a:srgbClr val="000000">
                <a:alpha val="75000"/>
              </a:srgbClr>
            </a:outerShdw>
          </a:effectLst>
        </p:spPr>
        <p:txBody>
          <a:bodyPr lIns="50800" tIns="50800" rIns="50800" bIns="50800" anchor="ctr"/>
          <a:lstStyle/>
          <a:p>
            <a:pPr algn="l">
              <a:defRPr sz="3500" b="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i="1">
              <a:latin typeface="Helvetica Light Oblique" charset="0"/>
              <a:cs typeface="Helvetica Light Oblique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B4FB70-664A-7569-E224-772D208D2B9D}"/>
              </a:ext>
            </a:extLst>
          </p:cNvPr>
          <p:cNvSpPr txBox="1"/>
          <p:nvPr/>
        </p:nvSpPr>
        <p:spPr>
          <a:xfrm>
            <a:off x="141423" y="249720"/>
            <a:ext cx="1807931" cy="5847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3200" b="1" i="1" dirty="0">
                <a:solidFill>
                  <a:schemeClr val="bg1"/>
                </a:solidFill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E10F873-EE06-0063-8AB3-245BCFAA1C2F}"/>
                  </a:ext>
                </a:extLst>
              </p:cNvPr>
              <p:cNvSpPr txBox="1"/>
              <p:nvPr/>
            </p:nvSpPr>
            <p:spPr>
              <a:xfrm>
                <a:off x="342121" y="1148880"/>
                <a:ext cx="10549813" cy="4154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400" b="1" dirty="0"/>
                  <a:t>First Ab Initio Study</a:t>
                </a:r>
                <a:r>
                  <a:rPr lang="en-US" altLang="zh-CN" sz="2400" dirty="0"/>
                  <a:t> </a:t>
                </a:r>
              </a:p>
              <a:p>
                <a:r>
                  <a:rPr lang="en-US" altLang="zh-CN" sz="2400" dirty="0"/>
                  <a:t>    First VS-IMSRG calculation of total β-decay half-lives for </a:t>
                </a:r>
                <a14:m>
                  <m:oMath xmlns:m="http://schemas.openxmlformats.org/officeDocument/2006/math">
                    <m:r>
                      <a:rPr lang="zh-CN" altLang="en-US" sz="24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sz="240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0">
                        <a:latin typeface="Cambria Math" panose="02040503050406030204" pitchFamily="18" charset="0"/>
                      </a:rPr>
                      <m:t>50</m:t>
                    </m:r>
                    <m:r>
                      <a:rPr lang="en-US" altLang="zh-CN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2400" dirty="0"/>
                  <a:t>waiting-  point nuclei based on chiral NN + 3N interactions and consistent weak currents.</a:t>
                </a:r>
              </a:p>
              <a:p>
                <a:r>
                  <a:rPr lang="en-US" altLang="zh-CN" sz="2400" dirty="0"/>
                  <a:t> </a:t>
                </a:r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400" b="1" dirty="0"/>
                  <a:t>No Phenomenological Adjustments</a:t>
                </a:r>
                <a:r>
                  <a:rPr lang="en-US" altLang="zh-CN" sz="2400" dirty="0"/>
                  <a:t> </a:t>
                </a:r>
              </a:p>
              <a:p>
                <a:r>
                  <a:rPr lang="en-US" altLang="zh-CN" sz="2400" dirty="0"/>
                  <a:t>    Calculations reproduce experimental half-lives without empirical quenching or fitted parameters. </a:t>
                </a:r>
              </a:p>
              <a:p>
                <a:endParaRPr lang="en-US" altLang="zh-CN" sz="2400" dirty="0"/>
              </a:p>
              <a:p>
                <a:pPr>
                  <a:buFont typeface="Arial" panose="020B0604020202020204" pitchFamily="34" charset="0"/>
                  <a:buChar char="•"/>
                </a:pPr>
                <a:r>
                  <a:rPr lang="en-US" altLang="zh-CN" sz="2400" b="1" dirty="0"/>
                  <a:t>Importance of Two-Body Currents</a:t>
                </a:r>
                <a:r>
                  <a:rPr lang="en-US" altLang="zh-CN" sz="2400" dirty="0"/>
                  <a:t> </a:t>
                </a:r>
              </a:p>
              <a:p>
                <a:r>
                  <a:rPr lang="en-US" altLang="zh-CN" sz="2400" dirty="0"/>
                  <a:t>    Inclusion of 2B currents is essential for achieving agreement with experimental data. 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9E10F873-EE06-0063-8AB3-245BCFAA1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121" y="1148880"/>
                <a:ext cx="10549813" cy="4154984"/>
              </a:xfrm>
              <a:prstGeom prst="rect">
                <a:avLst/>
              </a:prstGeom>
              <a:blipFill>
                <a:blip r:embed="rId3"/>
                <a:stretch>
                  <a:fillRect l="-867" t="-1026" r="-1502" b="-24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257341F6-5961-9A2A-B0A5-9025773E79C9}"/>
              </a:ext>
            </a:extLst>
          </p:cNvPr>
          <p:cNvSpPr txBox="1"/>
          <p:nvPr/>
        </p:nvSpPr>
        <p:spPr>
          <a:xfrm>
            <a:off x="434431" y="5551044"/>
            <a:ext cx="1117854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r">
              <a:buClr>
                <a:srgbClr val="2169D3"/>
              </a:buClr>
              <a:buSzPct val="90000"/>
              <a:buFont typeface="Wingdings" panose="05000000000000000000" charset="0"/>
              <a:buNone/>
            </a:pPr>
            <a:r>
              <a:rPr lang="en-US" altLang="zh-CN" sz="3600" b="1" i="1" dirty="0">
                <a:solidFill>
                  <a:srgbClr val="C00000"/>
                </a:solidFill>
                <a:uFillTx/>
                <a:latin typeface="Avenir Black Oblique" panose="02000503020000020003" charset="0"/>
                <a:cs typeface="Avenir Black Oblique" panose="02000503020000020003" charset="0"/>
                <a:sym typeface="+mn-ea"/>
              </a:rPr>
              <a:t>Thanks for your attention!</a:t>
            </a:r>
          </a:p>
        </p:txBody>
      </p:sp>
    </p:spTree>
    <p:extLst>
      <p:ext uri="{BB962C8B-B14F-4D97-AF65-F5344CB8AC3E}">
        <p14:creationId xmlns:p14="http://schemas.microsoft.com/office/powerpoint/2010/main" val="3702464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2485</TotalTime>
  <Words>1243</Words>
  <Application>Microsoft Office PowerPoint</Application>
  <PresentationFormat>宽屏</PresentationFormat>
  <Paragraphs>132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47" baseType="lpstr">
      <vt:lpstr>AdvOT483a8203</vt:lpstr>
      <vt:lpstr>AdvOTdd3b7348.I+03</vt:lpstr>
      <vt:lpstr>AdvP4C4E74</vt:lpstr>
      <vt:lpstr>AdvTTbdb21c9e</vt:lpstr>
      <vt:lpstr>AdvTTd0b5fdba.I</vt:lpstr>
      <vt:lpstr>Avenir Black Oblique</vt:lpstr>
      <vt:lpstr>Avenir Heavy Oblique</vt:lpstr>
      <vt:lpstr>Avenir Medium</vt:lpstr>
      <vt:lpstr>Helvetica Light Oblique</vt:lpstr>
      <vt:lpstr>MTMI</vt:lpstr>
      <vt:lpstr>MTSYN</vt:lpstr>
      <vt:lpstr>RMTMI</vt:lpstr>
      <vt:lpstr>t1-gul-regular</vt:lpstr>
      <vt:lpstr>t1-gul-regular-italic</vt:lpstr>
      <vt:lpstr>Times-Roman</vt:lpstr>
      <vt:lpstr>Yu Mincho</vt:lpstr>
      <vt:lpstr>等线</vt:lpstr>
      <vt:lpstr>等线 Light</vt:lpstr>
      <vt:lpstr>华文楷体</vt:lpstr>
      <vt:lpstr>Arial</vt:lpstr>
      <vt:lpstr>Cambria Math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灿 星</dc:creator>
  <cp:lastModifiedBy>灿 星</cp:lastModifiedBy>
  <cp:revision>6</cp:revision>
  <dcterms:created xsi:type="dcterms:W3CDTF">2026-05-18T08:46:36Z</dcterms:created>
  <dcterms:modified xsi:type="dcterms:W3CDTF">2026-05-20T02:18:18Z</dcterms:modified>
</cp:coreProperties>
</file>