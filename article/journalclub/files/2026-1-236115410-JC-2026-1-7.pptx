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315" r:id="rId3"/>
    <p:sldId id="320" r:id="rId4"/>
    <p:sldId id="335" r:id="rId5"/>
    <p:sldId id="336" r:id="rId6"/>
    <p:sldId id="337" r:id="rId7"/>
    <p:sldId id="338" r:id="rId8"/>
    <p:sldId id="328" r:id="rId9"/>
    <p:sldId id="350" r:id="rId10"/>
    <p:sldId id="351" r:id="rId11"/>
    <p:sldId id="352" r:id="rId12"/>
    <p:sldId id="353" r:id="rId13"/>
    <p:sldId id="355" r:id="rId14"/>
    <p:sldId id="35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ingyang luo" initials="ql" lastIdx="1" clrIdx="0">
    <p:extLst>
      <p:ext uri="{19B8F6BF-5375-455C-9EA6-DF929625EA0E}">
        <p15:presenceInfo xmlns:p15="http://schemas.microsoft.com/office/powerpoint/2012/main" userId="b312fd5b3cbd68e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A01CF"/>
    <a:srgbClr val="01561F"/>
    <a:srgbClr val="D1E1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0" autoAdjust="0"/>
    <p:restoredTop sz="84436" autoAdjust="0"/>
  </p:normalViewPr>
  <p:slideViewPr>
    <p:cSldViewPr snapToGrid="0">
      <p:cViewPr>
        <p:scale>
          <a:sx n="75" d="100"/>
          <a:sy n="75" d="100"/>
        </p:scale>
        <p:origin x="926" y="-43"/>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26FEBC-D78F-4AFC-9840-56810102D243}" type="datetimeFigureOut">
              <a:rPr lang="zh-CN" altLang="en-US" smtClean="0"/>
              <a:t>2026/1/6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F1FB2B-5CBC-4156-B042-EDCBDE701AE4}" type="slidenum">
              <a:rPr lang="zh-CN" altLang="en-US" smtClean="0"/>
              <a:t>‹#›</a:t>
            </a:fld>
            <a:endParaRPr lang="zh-CN" altLang="en-US"/>
          </a:p>
        </p:txBody>
      </p:sp>
    </p:spTree>
    <p:extLst>
      <p:ext uri="{BB962C8B-B14F-4D97-AF65-F5344CB8AC3E}">
        <p14:creationId xmlns:p14="http://schemas.microsoft.com/office/powerpoint/2010/main" val="294889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A8AE0F6-711A-4BE3-8A72-804F5631354C}" type="slidenum">
              <a:rPr lang="zh-CN" altLang="en-US" smtClean="0"/>
              <a:t>1</a:t>
            </a:fld>
            <a:endParaRPr lang="zh-CN" altLang="en-US"/>
          </a:p>
        </p:txBody>
      </p:sp>
    </p:spTree>
    <p:extLst>
      <p:ext uri="{BB962C8B-B14F-4D97-AF65-F5344CB8AC3E}">
        <p14:creationId xmlns:p14="http://schemas.microsoft.com/office/powerpoint/2010/main" val="868358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我们的结果表明，不同的原子核可以用来探测</a:t>
            </a:r>
            <a:r>
              <a:rPr lang="en-US" altLang="zh-CN" sz="1200" b="0" i="0" kern="1200" dirty="0">
                <a:solidFill>
                  <a:schemeClr val="tx1"/>
                </a:solidFill>
                <a:effectLst/>
                <a:latin typeface="+mn-lt"/>
                <a:ea typeface="+mn-ea"/>
                <a:cs typeface="+mn-cs"/>
              </a:rPr>
              <a:t>PT</a:t>
            </a:r>
            <a:r>
              <a:rPr lang="zh-CN" altLang="en-US" sz="1200" b="0" i="0" kern="1200" dirty="0">
                <a:solidFill>
                  <a:schemeClr val="tx1"/>
                </a:solidFill>
                <a:effectLst/>
                <a:latin typeface="+mn-lt"/>
                <a:ea typeface="+mn-ea"/>
                <a:cs typeface="+mn-cs"/>
              </a:rPr>
              <a:t>破坏相互作用的不同项。这些计算使我们能够建议哪些原子核可能是在寻找可测量的永久电偶极矩时的良好候选对象。</a:t>
            </a:r>
            <a:endParaRPr lang="zh-CN" altLang="en-US" dirty="0"/>
          </a:p>
        </p:txBody>
      </p:sp>
      <p:sp>
        <p:nvSpPr>
          <p:cNvPr id="4" name="灯片编号占位符 3"/>
          <p:cNvSpPr>
            <a:spLocks noGrp="1"/>
          </p:cNvSpPr>
          <p:nvPr>
            <p:ph type="sldNum" sz="quarter" idx="5"/>
          </p:nvPr>
        </p:nvSpPr>
        <p:spPr/>
        <p:txBody>
          <a:bodyPr/>
          <a:lstStyle/>
          <a:p>
            <a:fld id="{CAF1FB2B-5CBC-4156-B042-EDCBDE701AE4}" type="slidenum">
              <a:rPr lang="zh-CN" altLang="en-US" smtClean="0"/>
              <a:t>2</a:t>
            </a:fld>
            <a:endParaRPr lang="zh-CN" altLang="en-US"/>
          </a:p>
        </p:txBody>
      </p:sp>
    </p:spTree>
    <p:extLst>
      <p:ext uri="{BB962C8B-B14F-4D97-AF65-F5344CB8AC3E}">
        <p14:creationId xmlns:p14="http://schemas.microsoft.com/office/powerpoint/2010/main" val="971919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24F4-2D05-D4F2-0ED6-A4E7ED1B11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0FB93D-9322-5FBA-2E74-B1DF963A3B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606834-DBA2-A320-9CD3-2DB49779E8F0}"/>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3B215544-1BDE-FB8C-AF65-52EBA59F9818}"/>
              </a:ext>
            </a:extLst>
          </p:cNvPr>
          <p:cNvSpPr>
            <a:spLocks noGrp="1"/>
          </p:cNvSpPr>
          <p:nvPr>
            <p:ph type="sldNum" sz="quarter" idx="5"/>
          </p:nvPr>
        </p:nvSpPr>
        <p:spPr/>
        <p:txBody>
          <a:bodyPr/>
          <a:lstStyle/>
          <a:p>
            <a:fld id="{CAF1FB2B-5CBC-4156-B042-EDCBDE701AE4}" type="slidenum">
              <a:rPr lang="zh-CN" altLang="en-US" smtClean="0"/>
              <a:t>3</a:t>
            </a:fld>
            <a:endParaRPr lang="zh-CN" altLang="en-US"/>
          </a:p>
        </p:txBody>
      </p:sp>
    </p:spTree>
    <p:extLst>
      <p:ext uri="{BB962C8B-B14F-4D97-AF65-F5344CB8AC3E}">
        <p14:creationId xmlns:p14="http://schemas.microsoft.com/office/powerpoint/2010/main" val="3532103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E5424-6369-A700-11EB-35BD749923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B08108-43AF-404F-7D1B-E8BE64D4E2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AE4E7E-F644-A5B1-8548-3BE413E7048C}"/>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BA711B9D-21F7-2F6A-703D-3F4C0AFDBA2C}"/>
              </a:ext>
            </a:extLst>
          </p:cNvPr>
          <p:cNvSpPr>
            <a:spLocks noGrp="1"/>
          </p:cNvSpPr>
          <p:nvPr>
            <p:ph type="sldNum" sz="quarter" idx="5"/>
          </p:nvPr>
        </p:nvSpPr>
        <p:spPr/>
        <p:txBody>
          <a:bodyPr/>
          <a:lstStyle/>
          <a:p>
            <a:fld id="{CAF1FB2B-5CBC-4156-B042-EDCBDE701AE4}" type="slidenum">
              <a:rPr lang="zh-CN" altLang="en-US" smtClean="0"/>
              <a:t>4</a:t>
            </a:fld>
            <a:endParaRPr lang="zh-CN" altLang="en-US"/>
          </a:p>
        </p:txBody>
      </p:sp>
    </p:spTree>
    <p:extLst>
      <p:ext uri="{BB962C8B-B14F-4D97-AF65-F5344CB8AC3E}">
        <p14:creationId xmlns:p14="http://schemas.microsoft.com/office/powerpoint/2010/main" val="4263354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65EB5-9CA0-986D-3DEB-249EBD5D9A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16847B-7FAF-95EE-1918-46B88CEF23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8F25E3-C244-D608-5DD3-C934E756DF4C}"/>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F6300F13-BEF8-AEED-8567-1BDBE2BE29D0}"/>
              </a:ext>
            </a:extLst>
          </p:cNvPr>
          <p:cNvSpPr>
            <a:spLocks noGrp="1"/>
          </p:cNvSpPr>
          <p:nvPr>
            <p:ph type="sldNum" sz="quarter" idx="5"/>
          </p:nvPr>
        </p:nvSpPr>
        <p:spPr/>
        <p:txBody>
          <a:bodyPr/>
          <a:lstStyle/>
          <a:p>
            <a:fld id="{CAF1FB2B-5CBC-4156-B042-EDCBDE701AE4}" type="slidenum">
              <a:rPr lang="zh-CN" altLang="en-US" smtClean="0"/>
              <a:t>5</a:t>
            </a:fld>
            <a:endParaRPr lang="zh-CN" altLang="en-US"/>
          </a:p>
        </p:txBody>
      </p:sp>
    </p:spTree>
    <p:extLst>
      <p:ext uri="{BB962C8B-B14F-4D97-AF65-F5344CB8AC3E}">
        <p14:creationId xmlns:p14="http://schemas.microsoft.com/office/powerpoint/2010/main" val="370655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AD9C0-20E3-1610-37D0-CCF8E543D9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80ACF1-37AF-6AE9-65DD-679B436614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F658A6-AA82-DA77-7BAA-FA751C9314CB}"/>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C2FCFA16-EA81-E232-41B9-3E445F5DF8E3}"/>
              </a:ext>
            </a:extLst>
          </p:cNvPr>
          <p:cNvSpPr>
            <a:spLocks noGrp="1"/>
          </p:cNvSpPr>
          <p:nvPr>
            <p:ph type="sldNum" sz="quarter" idx="5"/>
          </p:nvPr>
        </p:nvSpPr>
        <p:spPr/>
        <p:txBody>
          <a:bodyPr/>
          <a:lstStyle/>
          <a:p>
            <a:fld id="{CAF1FB2B-5CBC-4156-B042-EDCBDE701AE4}" type="slidenum">
              <a:rPr lang="zh-CN" altLang="en-US" smtClean="0"/>
              <a:t>6</a:t>
            </a:fld>
            <a:endParaRPr lang="zh-CN" altLang="en-US"/>
          </a:p>
        </p:txBody>
      </p:sp>
    </p:spTree>
    <p:extLst>
      <p:ext uri="{BB962C8B-B14F-4D97-AF65-F5344CB8AC3E}">
        <p14:creationId xmlns:p14="http://schemas.microsoft.com/office/powerpoint/2010/main" val="2357056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C2DE-F2C5-3B84-71C0-E73FEF9541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4176D0-1E47-3333-3C62-1D1C2C8381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C09410-DECF-DA5C-EC2A-9513842B8565}"/>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CBC9ECF6-0C81-52D5-F5B6-1C271271A865}"/>
              </a:ext>
            </a:extLst>
          </p:cNvPr>
          <p:cNvSpPr>
            <a:spLocks noGrp="1"/>
          </p:cNvSpPr>
          <p:nvPr>
            <p:ph type="sldNum" sz="quarter" idx="5"/>
          </p:nvPr>
        </p:nvSpPr>
        <p:spPr/>
        <p:txBody>
          <a:bodyPr/>
          <a:lstStyle/>
          <a:p>
            <a:fld id="{CAF1FB2B-5CBC-4156-B042-EDCBDE701AE4}" type="slidenum">
              <a:rPr lang="zh-CN" altLang="en-US" smtClean="0"/>
              <a:t>7</a:t>
            </a:fld>
            <a:endParaRPr lang="zh-CN" altLang="en-US"/>
          </a:p>
        </p:txBody>
      </p:sp>
    </p:spTree>
    <p:extLst>
      <p:ext uri="{BB962C8B-B14F-4D97-AF65-F5344CB8AC3E}">
        <p14:creationId xmlns:p14="http://schemas.microsoft.com/office/powerpoint/2010/main" val="1655414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6B3E-FD45-26A6-8D50-831E3707DC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36B42F-73F6-19F3-6237-3C88C504CD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2CACFE-D242-1D4C-4B95-D5D89F97DCAA}"/>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我们对带有非齐次项的广义薛定谔方程进行求逆，</a:t>
            </a:r>
            <a:endParaRPr lang="zh-CN" altLang="en-US" dirty="0"/>
          </a:p>
        </p:txBody>
      </p:sp>
      <p:sp>
        <p:nvSpPr>
          <p:cNvPr id="4" name="灯片编号占位符 3">
            <a:extLst>
              <a:ext uri="{FF2B5EF4-FFF2-40B4-BE49-F238E27FC236}">
                <a16:creationId xmlns:a16="http://schemas.microsoft.com/office/drawing/2014/main" id="{1E002E97-FBC4-55F2-C46C-71959C014010}"/>
              </a:ext>
            </a:extLst>
          </p:cNvPr>
          <p:cNvSpPr>
            <a:spLocks noGrp="1"/>
          </p:cNvSpPr>
          <p:nvPr>
            <p:ph type="sldNum" sz="quarter" idx="5"/>
          </p:nvPr>
        </p:nvSpPr>
        <p:spPr/>
        <p:txBody>
          <a:bodyPr/>
          <a:lstStyle/>
          <a:p>
            <a:fld id="{CAF1FB2B-5CBC-4156-B042-EDCBDE701AE4}" type="slidenum">
              <a:rPr lang="zh-CN" altLang="en-US" smtClean="0"/>
              <a:t>9</a:t>
            </a:fld>
            <a:endParaRPr lang="zh-CN" altLang="en-US"/>
          </a:p>
        </p:txBody>
      </p:sp>
    </p:spTree>
    <p:extLst>
      <p:ext uri="{BB962C8B-B14F-4D97-AF65-F5344CB8AC3E}">
        <p14:creationId xmlns:p14="http://schemas.microsoft.com/office/powerpoint/2010/main" val="3149892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1F0BB-D26F-5334-BA46-4E76CDF5C8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1BBBB6-C836-057D-318C-E8D823922D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605B67-C1CA-803B-5A7F-F17F2A5CB75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86BEF7B3-7DFA-64D3-E973-8C452011ACDA}"/>
              </a:ext>
            </a:extLst>
          </p:cNvPr>
          <p:cNvSpPr>
            <a:spLocks noGrp="1"/>
          </p:cNvSpPr>
          <p:nvPr>
            <p:ph type="sldNum" sz="quarter" idx="5"/>
          </p:nvPr>
        </p:nvSpPr>
        <p:spPr/>
        <p:txBody>
          <a:bodyPr/>
          <a:lstStyle/>
          <a:p>
            <a:fld id="{CAF1FB2B-5CBC-4156-B042-EDCBDE701AE4}" type="slidenum">
              <a:rPr lang="zh-CN" altLang="en-US" smtClean="0"/>
              <a:t>10</a:t>
            </a:fld>
            <a:endParaRPr lang="zh-CN" altLang="en-US"/>
          </a:p>
        </p:txBody>
      </p:sp>
    </p:spTree>
    <p:extLst>
      <p:ext uri="{BB962C8B-B14F-4D97-AF65-F5344CB8AC3E}">
        <p14:creationId xmlns:p14="http://schemas.microsoft.com/office/powerpoint/2010/main" val="4076594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62068-7E87-5B36-6263-12D52FEAFE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2DAE2C-E570-72B5-8012-2375BFEBBD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8B809D-CDA2-3140-663D-C93718D66A92}"/>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722EA366-1327-AC8B-FFCC-E28D831A069E}"/>
              </a:ext>
            </a:extLst>
          </p:cNvPr>
          <p:cNvSpPr>
            <a:spLocks noGrp="1"/>
          </p:cNvSpPr>
          <p:nvPr>
            <p:ph type="sldNum" sz="quarter" idx="5"/>
          </p:nvPr>
        </p:nvSpPr>
        <p:spPr/>
        <p:txBody>
          <a:bodyPr/>
          <a:lstStyle/>
          <a:p>
            <a:fld id="{CAF1FB2B-5CBC-4156-B042-EDCBDE701AE4}" type="slidenum">
              <a:rPr lang="zh-CN" altLang="en-US" smtClean="0"/>
              <a:t>11</a:t>
            </a:fld>
            <a:endParaRPr lang="zh-CN" altLang="en-US"/>
          </a:p>
        </p:txBody>
      </p:sp>
    </p:spTree>
    <p:extLst>
      <p:ext uri="{BB962C8B-B14F-4D97-AF65-F5344CB8AC3E}">
        <p14:creationId xmlns:p14="http://schemas.microsoft.com/office/powerpoint/2010/main" val="3171787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3C07B-298C-6CD5-1F6A-9A9649E98C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C8EAA8-B95F-C8BC-23B6-870A463A69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42FBBD-6B11-9A13-DD4B-0D76533A6C1C}"/>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DBE8BD74-BC7D-30FB-F1DC-0D9B4CC0E4AD}"/>
              </a:ext>
            </a:extLst>
          </p:cNvPr>
          <p:cNvSpPr>
            <a:spLocks noGrp="1"/>
          </p:cNvSpPr>
          <p:nvPr>
            <p:ph type="sldNum" sz="quarter" idx="5"/>
          </p:nvPr>
        </p:nvSpPr>
        <p:spPr/>
        <p:txBody>
          <a:bodyPr/>
          <a:lstStyle/>
          <a:p>
            <a:fld id="{CAF1FB2B-5CBC-4156-B042-EDCBDE701AE4}" type="slidenum">
              <a:rPr lang="zh-CN" altLang="en-US" smtClean="0"/>
              <a:t>12</a:t>
            </a:fld>
            <a:endParaRPr lang="zh-CN" altLang="en-US"/>
          </a:p>
        </p:txBody>
      </p:sp>
    </p:spTree>
    <p:extLst>
      <p:ext uri="{BB962C8B-B14F-4D97-AF65-F5344CB8AC3E}">
        <p14:creationId xmlns:p14="http://schemas.microsoft.com/office/powerpoint/2010/main" val="3059929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6C376-BD80-BF6F-1C07-D87EF73CF2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82766A-68C2-7297-4D66-100F0663A2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99BA1A-5A31-7C45-1FCA-33FEB89FF9F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26A7D22-6285-0712-8D10-86C35C37955A}"/>
              </a:ext>
            </a:extLst>
          </p:cNvPr>
          <p:cNvSpPr>
            <a:spLocks noGrp="1"/>
          </p:cNvSpPr>
          <p:nvPr>
            <p:ph type="sldNum" sz="quarter" idx="5"/>
          </p:nvPr>
        </p:nvSpPr>
        <p:spPr/>
        <p:txBody>
          <a:bodyPr/>
          <a:lstStyle/>
          <a:p>
            <a:fld id="{CAF1FB2B-5CBC-4156-B042-EDCBDE701AE4}" type="slidenum">
              <a:rPr lang="zh-CN" altLang="en-US" smtClean="0"/>
              <a:t>13</a:t>
            </a:fld>
            <a:endParaRPr lang="zh-CN" altLang="en-US"/>
          </a:p>
        </p:txBody>
      </p:sp>
    </p:spTree>
    <p:extLst>
      <p:ext uri="{BB962C8B-B14F-4D97-AF65-F5344CB8AC3E}">
        <p14:creationId xmlns:p14="http://schemas.microsoft.com/office/powerpoint/2010/main" val="770061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7F974-1366-D356-B165-FDE8D83B61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4E1040-A95D-CAB7-3A8E-F80EF60029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6BDDA7-D7C0-D3BC-BA29-C72560E2BB4A}"/>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原子与分子中单个量子态的精确控制和操纵技术的快速发展，极大地推动了量子信息、量子模拟以及量子水平化学反应探测等领域的进步</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a:extLst>
              <a:ext uri="{FF2B5EF4-FFF2-40B4-BE49-F238E27FC236}">
                <a16:creationId xmlns:a16="http://schemas.microsoft.com/office/drawing/2014/main" id="{5513ECE7-E7FA-BBA7-686E-EAAF6AA3A767}"/>
              </a:ext>
            </a:extLst>
          </p:cNvPr>
          <p:cNvSpPr>
            <a:spLocks noGrp="1"/>
          </p:cNvSpPr>
          <p:nvPr>
            <p:ph type="sldNum" sz="quarter" idx="5"/>
          </p:nvPr>
        </p:nvSpPr>
        <p:spPr/>
        <p:txBody>
          <a:bodyPr/>
          <a:lstStyle/>
          <a:p>
            <a:fld id="{CAF1FB2B-5CBC-4156-B042-EDCBDE701AE4}" type="slidenum">
              <a:rPr lang="zh-CN" altLang="en-US" smtClean="0"/>
              <a:t>14</a:t>
            </a:fld>
            <a:endParaRPr lang="zh-CN" altLang="en-US"/>
          </a:p>
        </p:txBody>
      </p:sp>
    </p:spTree>
    <p:extLst>
      <p:ext uri="{BB962C8B-B14F-4D97-AF65-F5344CB8AC3E}">
        <p14:creationId xmlns:p14="http://schemas.microsoft.com/office/powerpoint/2010/main" val="80384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4CFA3-0FA6-BE69-A8C8-5359DD0DAF3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2F4E006-CED1-F748-DADC-9517EE5898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81562AD-242D-382C-DF78-DB26068388D6}"/>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B09D0F3E-43B8-2772-538F-9280C259D3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BB3719-6B35-8DB2-12D5-9C335CC91C69}"/>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937730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0EF11F-CD54-5DAA-64CC-419F1FDD9B8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3A8CF5-3D5A-6C2D-E9AC-B94E6AB1983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7373A7-A3F1-E36B-CAF1-FD8965DF9CA2}"/>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959E722B-93E0-89D4-FE13-6FE2A7C349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6B2B97-3493-9C45-CE9D-73FCAAB3FFF6}"/>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237558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6F400-DC99-3636-4B30-5F83CF1E009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C011B08-EA87-7012-253A-4B8C4BA991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5B50A71-37A3-A7C6-BF20-B4A69E0C8296}"/>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759BC891-12C6-F075-78C3-5D5EAA99E0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A6E6D1-7B47-4726-5398-8605B332D552}"/>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1470578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BB514B-D9B1-77C3-4F5D-41860A2CC0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68AD90-B32D-D9F5-21FD-0EE3B1B95A7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77BB786-EE74-578C-60AE-68E6EF13544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0B7E3A2-3E1F-56D7-16B7-A699130639FF}"/>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6" name="页脚占位符 5">
            <a:extLst>
              <a:ext uri="{FF2B5EF4-FFF2-40B4-BE49-F238E27FC236}">
                <a16:creationId xmlns:a16="http://schemas.microsoft.com/office/drawing/2014/main" id="{E9107275-AAFC-A52E-DA6F-CB4A7E36ACC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A6EDCB2-0B19-74CC-ECE4-231B467BE9DE}"/>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1438530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F460CB-DE9F-80BD-A3BE-A8293C9C208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AA80FAB-3FBB-B802-DAA6-0662437561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96714B1-1CF5-E668-1E68-3DD1F55A72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C02443B-C183-CC11-28B1-3CB9CFA5C5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F1726D8-E082-5493-C9E5-6DB1CFB63F8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2B77064-96B2-D3BC-1AF8-FF0F0C72D88C}"/>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8" name="页脚占位符 7">
            <a:extLst>
              <a:ext uri="{FF2B5EF4-FFF2-40B4-BE49-F238E27FC236}">
                <a16:creationId xmlns:a16="http://schemas.microsoft.com/office/drawing/2014/main" id="{1D876841-351E-B6AA-E04B-6BB8B6DD168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526A21D-AF44-95E3-27AE-5BC57473D6D3}"/>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2807125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5DCD0-C83D-C5BC-65E8-403EA397A69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15F312-E161-1259-D1A2-584ABB69E4DB}"/>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4" name="页脚占位符 3">
            <a:extLst>
              <a:ext uri="{FF2B5EF4-FFF2-40B4-BE49-F238E27FC236}">
                <a16:creationId xmlns:a16="http://schemas.microsoft.com/office/drawing/2014/main" id="{5860E3E0-977F-8B32-01A8-C8728445510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C3F9CCD-EA74-CF7C-3892-E8220C7C2DB9}"/>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94518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76CF636-D5D9-7944-4AA5-931D18E15C05}"/>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3" name="页脚占位符 2">
            <a:extLst>
              <a:ext uri="{FF2B5EF4-FFF2-40B4-BE49-F238E27FC236}">
                <a16:creationId xmlns:a16="http://schemas.microsoft.com/office/drawing/2014/main" id="{44413784-5C34-A681-6A63-AEADD2DBAE0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580EF2E-1A18-3205-223E-1DB05E03B05F}"/>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130767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9312B-483B-135D-8DBB-7E2DF6D8D70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A47509D-BAFD-C332-DC23-073006FDBB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F913C92-3096-A445-3871-7610EC4AE0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21EF408-3175-0B74-7D41-51730E33E223}"/>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6" name="页脚占位符 5">
            <a:extLst>
              <a:ext uri="{FF2B5EF4-FFF2-40B4-BE49-F238E27FC236}">
                <a16:creationId xmlns:a16="http://schemas.microsoft.com/office/drawing/2014/main" id="{DC8F2335-D456-5A4D-54E4-D442629F2BA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F368CA9-C816-B078-A14A-3257B4CBFB8D}"/>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1673513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50E68-843C-5897-43C4-39AB5AB9019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1555DFF-D6F9-2BC1-2FC7-EE381D9901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F15E421-3A67-E710-7386-E10CB5250E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1BC466E-78D6-C8B8-5322-8FDF95BDF701}"/>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6" name="页脚占位符 5">
            <a:extLst>
              <a:ext uri="{FF2B5EF4-FFF2-40B4-BE49-F238E27FC236}">
                <a16:creationId xmlns:a16="http://schemas.microsoft.com/office/drawing/2014/main" id="{94D86354-0841-88B3-0B9D-F1A89CD5EC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4CEBD84-66E5-7097-4605-76AAC7248E75}"/>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4064034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02B4DB-844D-63DD-4D4D-EE3C2486196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6F97B8B-1A28-ECBD-64B7-2C83EE5DCE3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F8AB75-66EA-23F1-25AE-F286D579CC6F}"/>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485822E1-1B6C-8D41-E4D5-B99E8EA9AB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A3FE66-C56E-E2BE-0DE5-953426CD34AF}"/>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1087344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2E1EB38-9317-B4D3-B5C0-6F3405A86B4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C09618B-FE60-477F-3180-37460C51424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7018EB-086D-25AB-7B04-EC3F79EF067F}"/>
              </a:ext>
            </a:extLst>
          </p:cNvPr>
          <p:cNvSpPr>
            <a:spLocks noGrp="1"/>
          </p:cNvSpPr>
          <p:nvPr>
            <p:ph type="dt" sz="half" idx="10"/>
          </p:nvPr>
        </p:nvSpPr>
        <p:spPr/>
        <p:txBody>
          <a:bodyPr/>
          <a:lstStyle/>
          <a:p>
            <a:fld id="{21C1B438-41CA-4120-875E-50B341238E10}"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7E56C4B0-D1A1-6EEB-AD53-B06912C41E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6C7E59-E909-CE2F-91BB-D5BC648036E8}"/>
              </a:ext>
            </a:extLst>
          </p:cNvPr>
          <p:cNvSpPr>
            <a:spLocks noGrp="1"/>
          </p:cNvSpPr>
          <p:nvPr>
            <p:ph type="sldNum" sz="quarter" idx="12"/>
          </p:nvPr>
        </p:nvSpPr>
        <p:spPr/>
        <p:txBody>
          <a:body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4033018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B8579B4-BA25-343E-F7D8-4486BAEE9F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A1ED8EF-2D6E-D3E8-53A7-9D5A397F52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FFD9E2-5436-3F4E-06A8-B06697E4B2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C1B438-41CA-4120-875E-50B341238E10}"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30EFF6F6-4059-BE0A-AA86-8CE2CB3D09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148F25D-A8DD-58F4-C69D-1ED697FA05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192826-8148-4CE2-BE0F-080E1996036F}" type="slidenum">
              <a:rPr lang="zh-CN" altLang="en-US" smtClean="0"/>
              <a:t>‹#›</a:t>
            </a:fld>
            <a:endParaRPr lang="zh-CN" altLang="en-US"/>
          </a:p>
        </p:txBody>
      </p:sp>
    </p:spTree>
    <p:extLst>
      <p:ext uri="{BB962C8B-B14F-4D97-AF65-F5344CB8AC3E}">
        <p14:creationId xmlns:p14="http://schemas.microsoft.com/office/powerpoint/2010/main" val="1521834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3.png"/><Relationship Id="rId7" Type="http://schemas.openxmlformats.org/officeDocument/2006/relationships/image" Target="../media/image31.png"/><Relationship Id="rId12" Type="http://schemas.openxmlformats.org/officeDocument/2006/relationships/image" Target="../media/image26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2.png"/><Relationship Id="rId5" Type="http://schemas.openxmlformats.org/officeDocument/2006/relationships/image" Target="../media/image29.png"/><Relationship Id="rId10" Type="http://schemas.openxmlformats.org/officeDocument/2006/relationships/image" Target="../media/image240.png"/><Relationship Id="rId4" Type="http://schemas.openxmlformats.org/officeDocument/2006/relationships/image" Target="../media/image28.png"/><Relationship Id="rId9" Type="http://schemas.openxmlformats.org/officeDocument/2006/relationships/image" Target="../media/image230.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A5A5F22-BF4A-19AA-7917-D331D05ED064}"/>
              </a:ext>
            </a:extLst>
          </p:cNvPr>
          <p:cNvSpPr/>
          <p:nvPr/>
        </p:nvSpPr>
        <p:spPr>
          <a:xfrm>
            <a:off x="6155808" y="6679546"/>
            <a:ext cx="6036192" cy="178454"/>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AD5399B5-7299-FD9E-AB28-0D6F719222B9}"/>
              </a:ext>
            </a:extLst>
          </p:cNvPr>
          <p:cNvSpPr/>
          <p:nvPr/>
        </p:nvSpPr>
        <p:spPr>
          <a:xfrm>
            <a:off x="0" y="6680985"/>
            <a:ext cx="6155808" cy="178454"/>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42C171F9-E37C-FBE2-0DB6-4937335EA2E4}"/>
              </a:ext>
            </a:extLst>
          </p:cNvPr>
          <p:cNvSpPr/>
          <p:nvPr/>
        </p:nvSpPr>
        <p:spPr>
          <a:xfrm>
            <a:off x="2328087" y="1205843"/>
            <a:ext cx="7655441" cy="1200329"/>
          </a:xfrm>
          <a:prstGeom prst="roundRect">
            <a:avLst/>
          </a:prstGeom>
          <a:solidFill>
            <a:srgbClr val="01561F"/>
          </a:solidFill>
          <a:ln>
            <a:solidFill>
              <a:srgbClr val="01561F"/>
            </a:solidFill>
          </a:ln>
          <a:effectLst>
            <a:outerShdw blurRad="152400" sx="102000" sy="102000" algn="ctr" rotWithShape="0">
              <a:schemeClr val="accent6">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1561F"/>
              </a:solidFill>
            </a:endParaRPr>
          </a:p>
        </p:txBody>
      </p:sp>
      <p:sp>
        <p:nvSpPr>
          <p:cNvPr id="7" name="文本框 6">
            <a:extLst>
              <a:ext uri="{FF2B5EF4-FFF2-40B4-BE49-F238E27FC236}">
                <a16:creationId xmlns:a16="http://schemas.microsoft.com/office/drawing/2014/main" id="{E6B116AA-5AA3-DAC5-0E0D-D8270DD020C7}"/>
              </a:ext>
            </a:extLst>
          </p:cNvPr>
          <p:cNvSpPr txBox="1"/>
          <p:nvPr/>
        </p:nvSpPr>
        <p:spPr>
          <a:xfrm>
            <a:off x="2708201" y="1205843"/>
            <a:ext cx="6895214" cy="1200329"/>
          </a:xfrm>
          <a:prstGeom prst="rect">
            <a:avLst/>
          </a:prstGeom>
          <a:noFill/>
        </p:spPr>
        <p:txBody>
          <a:bodyPr wrap="square" rtlCol="0">
            <a:spAutoFit/>
          </a:bodyPr>
          <a:lstStyle/>
          <a:p>
            <a:pPr algn="ctr"/>
            <a:r>
              <a:rPr lang="en-US" altLang="zh-CN" sz="3600" b="1" dirty="0">
                <a:solidFill>
                  <a:schemeClr val="bg1"/>
                </a:solidFill>
                <a:latin typeface="+mj-ea"/>
              </a:rPr>
              <a:t>Ab initio calculations of electric dipole moments of light nuclei</a:t>
            </a:r>
            <a:endParaRPr lang="zh-CN" altLang="en-US" sz="3600" b="1" dirty="0">
              <a:solidFill>
                <a:schemeClr val="bg1"/>
              </a:solidFill>
              <a:latin typeface="+mj-ea"/>
              <a:ea typeface="+mj-ea"/>
            </a:endParaRPr>
          </a:p>
        </p:txBody>
      </p:sp>
      <p:sp>
        <p:nvSpPr>
          <p:cNvPr id="8" name="矩形 7">
            <a:extLst>
              <a:ext uri="{FF2B5EF4-FFF2-40B4-BE49-F238E27FC236}">
                <a16:creationId xmlns:a16="http://schemas.microsoft.com/office/drawing/2014/main" id="{B9624251-B694-98E3-E7E6-9766273C303E}"/>
              </a:ext>
            </a:extLst>
          </p:cNvPr>
          <p:cNvSpPr/>
          <p:nvPr/>
        </p:nvSpPr>
        <p:spPr>
          <a:xfrm>
            <a:off x="0" y="0"/>
            <a:ext cx="12192000" cy="178454"/>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11" name="文本框 10">
            <a:extLst>
              <a:ext uri="{FF2B5EF4-FFF2-40B4-BE49-F238E27FC236}">
                <a16:creationId xmlns:a16="http://schemas.microsoft.com/office/drawing/2014/main" id="{77F4E3CE-EB33-8F68-EB51-2967D4C67A92}"/>
              </a:ext>
            </a:extLst>
          </p:cNvPr>
          <p:cNvSpPr txBox="1"/>
          <p:nvPr/>
        </p:nvSpPr>
        <p:spPr>
          <a:xfrm>
            <a:off x="1937883" y="3912656"/>
            <a:ext cx="8865583" cy="461665"/>
          </a:xfrm>
          <a:prstGeom prst="rect">
            <a:avLst/>
          </a:prstGeom>
          <a:noFill/>
        </p:spPr>
        <p:txBody>
          <a:bodyPr wrap="square">
            <a:spAutoFit/>
          </a:bodyPr>
          <a:lstStyle/>
          <a:p>
            <a:pPr algn="ctr"/>
            <a:r>
              <a:rPr lang="zh-CN" altLang="en-US" sz="2400" b="1" dirty="0">
                <a:latin typeface="Cambria" panose="02040503050406030204" pitchFamily="18" charset="0"/>
              </a:rPr>
              <a:t>School of Physics and Astronomy</a:t>
            </a:r>
            <a:r>
              <a:rPr lang="en-US" altLang="zh-CN" sz="2400" b="1" dirty="0">
                <a:latin typeface="Cambria" panose="02040503050406030204" pitchFamily="18" charset="0"/>
                <a:ea typeface="Cambria" panose="02040503050406030204" pitchFamily="18" charset="0"/>
              </a:rPr>
              <a:t>,</a:t>
            </a:r>
            <a:r>
              <a:rPr lang="zh-CN" altLang="en-US" sz="2400" b="1" dirty="0">
                <a:latin typeface="Cambria" panose="02040503050406030204" pitchFamily="18" charset="0"/>
              </a:rPr>
              <a:t> Sun Yat-Sen University</a:t>
            </a:r>
          </a:p>
        </p:txBody>
      </p:sp>
      <p:sp>
        <p:nvSpPr>
          <p:cNvPr id="12" name="文本框 11">
            <a:extLst>
              <a:ext uri="{FF2B5EF4-FFF2-40B4-BE49-F238E27FC236}">
                <a16:creationId xmlns:a16="http://schemas.microsoft.com/office/drawing/2014/main" id="{11365AEA-FBC5-6B6B-4981-DA29846EA432}"/>
              </a:ext>
            </a:extLst>
          </p:cNvPr>
          <p:cNvSpPr txBox="1"/>
          <p:nvPr/>
        </p:nvSpPr>
        <p:spPr>
          <a:xfrm>
            <a:off x="4571999" y="2993427"/>
            <a:ext cx="3167617" cy="461665"/>
          </a:xfrm>
          <a:prstGeom prst="rect">
            <a:avLst/>
          </a:prstGeom>
          <a:noFill/>
        </p:spPr>
        <p:txBody>
          <a:bodyPr wrap="square" rtlCol="0">
            <a:spAutoFit/>
          </a:bodyPr>
          <a:lstStyle/>
          <a:p>
            <a:pPr algn="ctr"/>
            <a:r>
              <a:rPr lang="zh-CN" altLang="en-US" sz="2400" b="1" dirty="0">
                <a:latin typeface="+mn-ea"/>
              </a:rPr>
              <a:t>罗青杨</a:t>
            </a:r>
          </a:p>
        </p:txBody>
      </p:sp>
      <p:sp>
        <p:nvSpPr>
          <p:cNvPr id="16" name="文本框 15">
            <a:extLst>
              <a:ext uri="{FF2B5EF4-FFF2-40B4-BE49-F238E27FC236}">
                <a16:creationId xmlns:a16="http://schemas.microsoft.com/office/drawing/2014/main" id="{EB1D96E0-1FF8-1D5D-B370-CD6665B3CB3C}"/>
              </a:ext>
            </a:extLst>
          </p:cNvPr>
          <p:cNvSpPr txBox="1"/>
          <p:nvPr/>
        </p:nvSpPr>
        <p:spPr>
          <a:xfrm>
            <a:off x="4881033" y="4647218"/>
            <a:ext cx="3467100" cy="369332"/>
          </a:xfrm>
          <a:prstGeom prst="rect">
            <a:avLst/>
          </a:prstGeom>
          <a:noFill/>
        </p:spPr>
        <p:txBody>
          <a:bodyPr wrap="square">
            <a:spAutoFit/>
          </a:bodyPr>
          <a:lstStyle/>
          <a:p>
            <a:r>
              <a:rPr lang="en-US" altLang="zh-CN" b="1" dirty="0">
                <a:solidFill>
                  <a:srgbClr val="FF0000"/>
                </a:solidFill>
              </a:rPr>
              <a:t>Journal Club (2026/01/07)</a:t>
            </a:r>
            <a:endParaRPr lang="zh-CN" altLang="en-US" b="1" dirty="0">
              <a:solidFill>
                <a:srgbClr val="FF0000"/>
              </a:solidFill>
            </a:endParaRPr>
          </a:p>
        </p:txBody>
      </p:sp>
      <p:sp>
        <p:nvSpPr>
          <p:cNvPr id="17" name="文本框 16">
            <a:extLst>
              <a:ext uri="{FF2B5EF4-FFF2-40B4-BE49-F238E27FC236}">
                <a16:creationId xmlns:a16="http://schemas.microsoft.com/office/drawing/2014/main" id="{8A479241-3B97-1835-593B-B657E6F5EF60}"/>
              </a:ext>
            </a:extLst>
          </p:cNvPr>
          <p:cNvSpPr txBox="1"/>
          <p:nvPr/>
        </p:nvSpPr>
        <p:spPr>
          <a:xfrm>
            <a:off x="3653967" y="5524163"/>
            <a:ext cx="7890934" cy="646331"/>
          </a:xfrm>
          <a:prstGeom prst="rect">
            <a:avLst/>
          </a:prstGeom>
          <a:noFill/>
        </p:spPr>
        <p:txBody>
          <a:bodyPr wrap="square" rtlCol="0">
            <a:spAutoFit/>
          </a:bodyPr>
          <a:lstStyle/>
          <a:p>
            <a:r>
              <a:rPr lang="en-US" altLang="zh-CN" sz="1800" b="0" i="0" dirty="0">
                <a:solidFill>
                  <a:schemeClr val="accent1"/>
                </a:solidFill>
                <a:effectLst/>
                <a:latin typeface="Times-Roman"/>
              </a:rPr>
              <a:t>Reference: Kia Boon Ng et al.,</a:t>
            </a:r>
            <a:r>
              <a:rPr lang="en-US" altLang="zh-CN" dirty="0">
                <a:solidFill>
                  <a:schemeClr val="accent1"/>
                </a:solidFill>
                <a:latin typeface="Times-Roman"/>
              </a:rPr>
              <a:t> arXiv:2103.06365v2</a:t>
            </a:r>
            <a:br>
              <a:rPr lang="en-US" altLang="zh-CN" dirty="0">
                <a:solidFill>
                  <a:schemeClr val="accent1"/>
                </a:solidFill>
              </a:rPr>
            </a:br>
            <a:endParaRPr lang="zh-CN" altLang="en-US" dirty="0">
              <a:solidFill>
                <a:schemeClr val="accent1"/>
              </a:solidFill>
            </a:endParaRPr>
          </a:p>
        </p:txBody>
      </p:sp>
    </p:spTree>
    <p:extLst>
      <p:ext uri="{BB962C8B-B14F-4D97-AF65-F5344CB8AC3E}">
        <p14:creationId xmlns:p14="http://schemas.microsoft.com/office/powerpoint/2010/main" val="4023917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E3E4C3E-1CC4-87B7-9DAC-EA30A48D474B}"/>
              </a:ext>
            </a:extLst>
          </p:cNvPr>
          <p:cNvPicPr>
            <a:picLocks noChangeAspect="1"/>
          </p:cNvPicPr>
          <p:nvPr/>
        </p:nvPicPr>
        <p:blipFill>
          <a:blip r:embed="rId3"/>
          <a:stretch>
            <a:fillRect/>
          </a:stretch>
        </p:blipFill>
        <p:spPr>
          <a:xfrm>
            <a:off x="-129445" y="534994"/>
            <a:ext cx="12450890" cy="5014469"/>
          </a:xfrm>
          <a:prstGeom prst="rect">
            <a:avLst/>
          </a:prstGeom>
        </p:spPr>
      </p:pic>
    </p:spTree>
    <p:extLst>
      <p:ext uri="{BB962C8B-B14F-4D97-AF65-F5344CB8AC3E}">
        <p14:creationId xmlns:p14="http://schemas.microsoft.com/office/powerpoint/2010/main" val="3618432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56879-BC1C-754B-4B79-5F02A7740BA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E0035E-4E46-E45F-EABF-CCFCF4CA9B3B}"/>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7372308A-A928-6583-6C99-1C9143AFBD86}"/>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B99FB006-9018-4048-01FB-3B98FF3B7857}"/>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4A5F3F33-6F9E-C3BD-05E1-CF172C408584}"/>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0D9B6095-11CE-EED3-669B-F80154C2D5F3}"/>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1</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4AC33BE8-592F-95C7-EDA0-C10C7D508D87}"/>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5862D1BF-6B62-037B-6436-2273E4754B5E}"/>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37F6393B-FA8B-31AA-756A-4D323EF5C217}"/>
              </a:ext>
            </a:extLst>
          </p:cNvPr>
          <p:cNvPicPr>
            <a:picLocks noChangeAspect="1"/>
          </p:cNvPicPr>
          <p:nvPr/>
        </p:nvPicPr>
        <p:blipFill>
          <a:blip r:embed="rId4"/>
          <a:stretch>
            <a:fillRect/>
          </a:stretch>
        </p:blipFill>
        <p:spPr>
          <a:xfrm>
            <a:off x="10243139" y="7107"/>
            <a:ext cx="1540377" cy="615001"/>
          </a:xfrm>
          <a:prstGeom prst="rect">
            <a:avLst/>
          </a:prstGeom>
        </p:spPr>
      </p:pic>
      <p:sp>
        <p:nvSpPr>
          <p:cNvPr id="11" name="文本框 10">
            <a:extLst>
              <a:ext uri="{FF2B5EF4-FFF2-40B4-BE49-F238E27FC236}">
                <a16:creationId xmlns:a16="http://schemas.microsoft.com/office/drawing/2014/main" id="{C00A0FBC-53BA-2A83-BE2C-F80B439BECA2}"/>
              </a:ext>
            </a:extLst>
          </p:cNvPr>
          <p:cNvSpPr txBox="1"/>
          <p:nvPr/>
        </p:nvSpPr>
        <p:spPr>
          <a:xfrm>
            <a:off x="3052233" y="3295134"/>
            <a:ext cx="6104466" cy="646331"/>
          </a:xfrm>
          <a:prstGeom prst="rect">
            <a:avLst/>
          </a:prstGeom>
          <a:noFill/>
        </p:spPr>
        <p:txBody>
          <a:bodyPr wrap="square">
            <a:spAutoFit/>
          </a:bodyPr>
          <a:lstStyle/>
          <a:p>
            <a:r>
              <a:rPr lang="en-US" altLang="zh-CN" sz="1800" b="0" i="0" dirty="0">
                <a:solidFill>
                  <a:srgbClr val="FFFFFF"/>
                </a:solidFill>
                <a:effectLst/>
                <a:latin typeface="LMSans12-Regular"/>
              </a:rPr>
              <a:t>Violation of discrete Symmetries</a:t>
            </a:r>
            <a:r>
              <a:rPr lang="en-US" altLang="zh-CN" sz="1800" dirty="0"/>
              <a:t> </a:t>
            </a:r>
            <a:r>
              <a:rPr lang="en-US" altLang="zh-CN" sz="1800" b="0" i="0" dirty="0">
                <a:solidFill>
                  <a:srgbClr val="FFFFFF"/>
                </a:solidFill>
                <a:effectLst/>
                <a:latin typeface="LMSans12-Regular"/>
              </a:rPr>
              <a:t>Violation of discrete Symmetries</a:t>
            </a:r>
            <a:r>
              <a:rPr lang="en-US" altLang="zh-CN" sz="1800" dirty="0"/>
              <a:t> </a:t>
            </a:r>
            <a:r>
              <a:rPr lang="en-US" altLang="zh-CN" sz="1800" b="0" i="0" dirty="0">
                <a:solidFill>
                  <a:srgbClr val="FFFFFF"/>
                </a:solidFill>
                <a:effectLst/>
                <a:latin typeface="LMSans12-Regular"/>
              </a:rPr>
              <a:t>Violation of discrete Symmetries</a:t>
            </a:r>
            <a:r>
              <a:rPr lang="en-US" altLang="zh-CN" sz="1800" dirty="0"/>
              <a:t> </a:t>
            </a:r>
            <a:endParaRPr lang="zh-CN" altLang="en-US" dirty="0"/>
          </a:p>
        </p:txBody>
      </p:sp>
      <p:sp>
        <p:nvSpPr>
          <p:cNvPr id="2" name="文本框 1">
            <a:extLst>
              <a:ext uri="{FF2B5EF4-FFF2-40B4-BE49-F238E27FC236}">
                <a16:creationId xmlns:a16="http://schemas.microsoft.com/office/drawing/2014/main" id="{A09A7A10-C175-966C-2D23-E16433877835}"/>
              </a:ext>
            </a:extLst>
          </p:cNvPr>
          <p:cNvSpPr txBox="1"/>
          <p:nvPr/>
        </p:nvSpPr>
        <p:spPr>
          <a:xfrm>
            <a:off x="82982" y="66597"/>
            <a:ext cx="6104466" cy="523220"/>
          </a:xfrm>
          <a:prstGeom prst="rect">
            <a:avLst/>
          </a:prstGeom>
          <a:noFill/>
        </p:spPr>
        <p:txBody>
          <a:bodyPr wrap="square">
            <a:spAutoFit/>
          </a:bodyPr>
          <a:lstStyle/>
          <a:p>
            <a:r>
              <a:rPr kumimoji="0" lang="en-US" altLang="zh-CN" sz="2800" b="0" i="0" u="none" strike="noStrike" kern="1200" cap="none" spc="0" normalizeH="0" baseline="0" noProof="0" dirty="0">
                <a:ln>
                  <a:noFill/>
                </a:ln>
                <a:solidFill>
                  <a:srgbClr val="FFFFFF"/>
                </a:solidFill>
                <a:effectLst/>
                <a:uLnTx/>
                <a:uFillTx/>
                <a:latin typeface="LMSans12-Regular"/>
                <a:ea typeface="等线" panose="02010600030101010101" pitchFamily="2" charset="-122"/>
                <a:cs typeface="+mn-cs"/>
              </a:rPr>
              <a:t>Introduction</a:t>
            </a:r>
            <a:endParaRPr lang="zh-CN" altLang="en-US" dirty="0"/>
          </a:p>
        </p:txBody>
      </p:sp>
      <p:pic>
        <p:nvPicPr>
          <p:cNvPr id="13" name="图片 12">
            <a:extLst>
              <a:ext uri="{FF2B5EF4-FFF2-40B4-BE49-F238E27FC236}">
                <a16:creationId xmlns:a16="http://schemas.microsoft.com/office/drawing/2014/main" id="{A92A37A2-2C3D-40DD-F321-1A2519068503}"/>
              </a:ext>
            </a:extLst>
          </p:cNvPr>
          <p:cNvPicPr>
            <a:picLocks noChangeAspect="1"/>
          </p:cNvPicPr>
          <p:nvPr/>
        </p:nvPicPr>
        <p:blipFill>
          <a:blip r:embed="rId5"/>
          <a:stretch>
            <a:fillRect/>
          </a:stretch>
        </p:blipFill>
        <p:spPr>
          <a:xfrm>
            <a:off x="82982" y="1202034"/>
            <a:ext cx="5640252" cy="4900546"/>
          </a:xfrm>
          <a:prstGeom prst="rect">
            <a:avLst/>
          </a:prstGeom>
        </p:spPr>
      </p:pic>
      <p:pic>
        <p:nvPicPr>
          <p:cNvPr id="15" name="图片 14">
            <a:extLst>
              <a:ext uri="{FF2B5EF4-FFF2-40B4-BE49-F238E27FC236}">
                <a16:creationId xmlns:a16="http://schemas.microsoft.com/office/drawing/2014/main" id="{74E5F209-F70E-CF58-C505-8F1780457A6C}"/>
              </a:ext>
            </a:extLst>
          </p:cNvPr>
          <p:cNvPicPr>
            <a:picLocks noChangeAspect="1"/>
          </p:cNvPicPr>
          <p:nvPr/>
        </p:nvPicPr>
        <p:blipFill>
          <a:blip r:embed="rId6"/>
          <a:stretch>
            <a:fillRect/>
          </a:stretch>
        </p:blipFill>
        <p:spPr>
          <a:xfrm>
            <a:off x="5817972" y="1169649"/>
            <a:ext cx="6158850" cy="1116351"/>
          </a:xfrm>
          <a:prstGeom prst="rect">
            <a:avLst/>
          </a:prstGeom>
        </p:spPr>
      </p:pic>
      <p:pic>
        <p:nvPicPr>
          <p:cNvPr id="17" name="图片 16">
            <a:extLst>
              <a:ext uri="{FF2B5EF4-FFF2-40B4-BE49-F238E27FC236}">
                <a16:creationId xmlns:a16="http://schemas.microsoft.com/office/drawing/2014/main" id="{6981FA75-33F8-00EB-0741-9E300449C51F}"/>
              </a:ext>
            </a:extLst>
          </p:cNvPr>
          <p:cNvPicPr>
            <a:picLocks noChangeAspect="1"/>
          </p:cNvPicPr>
          <p:nvPr/>
        </p:nvPicPr>
        <p:blipFill>
          <a:blip r:embed="rId7"/>
          <a:stretch>
            <a:fillRect/>
          </a:stretch>
        </p:blipFill>
        <p:spPr>
          <a:xfrm>
            <a:off x="5926430" y="2312177"/>
            <a:ext cx="6182588" cy="1914792"/>
          </a:xfrm>
          <a:prstGeom prst="rect">
            <a:avLst/>
          </a:prstGeom>
        </p:spPr>
      </p:pic>
      <p:pic>
        <p:nvPicPr>
          <p:cNvPr id="19" name="图片 18">
            <a:extLst>
              <a:ext uri="{FF2B5EF4-FFF2-40B4-BE49-F238E27FC236}">
                <a16:creationId xmlns:a16="http://schemas.microsoft.com/office/drawing/2014/main" id="{B21C1665-BCEA-63D0-5323-3F2141BBE3D0}"/>
              </a:ext>
            </a:extLst>
          </p:cNvPr>
          <p:cNvPicPr>
            <a:picLocks noChangeAspect="1"/>
          </p:cNvPicPr>
          <p:nvPr/>
        </p:nvPicPr>
        <p:blipFill>
          <a:blip r:embed="rId8"/>
          <a:stretch>
            <a:fillRect/>
          </a:stretch>
        </p:blipFill>
        <p:spPr>
          <a:xfrm>
            <a:off x="5796121" y="4253146"/>
            <a:ext cx="6115904" cy="1400370"/>
          </a:xfrm>
          <a:prstGeom prst="rect">
            <a:avLst/>
          </a:prstGeom>
        </p:spPr>
      </p:pic>
      <p:sp>
        <p:nvSpPr>
          <p:cNvPr id="20" name="文本框 19">
            <a:extLst>
              <a:ext uri="{FF2B5EF4-FFF2-40B4-BE49-F238E27FC236}">
                <a16:creationId xmlns:a16="http://schemas.microsoft.com/office/drawing/2014/main" id="{30E598E8-2135-EEB1-6217-C6C12A919C8C}"/>
              </a:ext>
            </a:extLst>
          </p:cNvPr>
          <p:cNvSpPr txBox="1"/>
          <p:nvPr/>
        </p:nvSpPr>
        <p:spPr>
          <a:xfrm>
            <a:off x="8595360" y="5653517"/>
            <a:ext cx="2854960" cy="307777"/>
          </a:xfrm>
          <a:prstGeom prst="rect">
            <a:avLst/>
          </a:prstGeom>
          <a:noFill/>
        </p:spPr>
        <p:txBody>
          <a:bodyPr wrap="square">
            <a:spAutoFit/>
          </a:bodyPr>
          <a:lstStyle/>
          <a:p>
            <a:pPr lvl="0">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rPr>
              <a:t>Igor Ivanov EPP2 lecture notes</a:t>
            </a:r>
          </a:p>
        </p:txBody>
      </p:sp>
    </p:spTree>
    <p:extLst>
      <p:ext uri="{BB962C8B-B14F-4D97-AF65-F5344CB8AC3E}">
        <p14:creationId xmlns:p14="http://schemas.microsoft.com/office/powerpoint/2010/main" val="2911637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9941-1516-B79E-A250-00AB41D5F7B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B71D911-61BB-132B-4BFA-D4CFC01C5AB7}"/>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CF398E4A-CF68-9D04-A320-01C5C1B58FD7}"/>
              </a:ext>
            </a:extLst>
          </p:cNvPr>
          <p:cNvSpPr/>
          <p:nvPr/>
        </p:nvSpPr>
        <p:spPr>
          <a:xfrm>
            <a:off x="0" y="1016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8DBD1D9F-2845-1A78-BC61-48FDE81532FF}"/>
              </a:ext>
            </a:extLst>
          </p:cNvPr>
          <p:cNvSpPr/>
          <p:nvPr/>
        </p:nvSpPr>
        <p:spPr>
          <a:xfrm>
            <a:off x="0"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2C490B1E-C9D4-9BFE-8D97-2CA4AC2BB501}"/>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DBBEE0DA-B619-F403-F70A-9B1572970F40}"/>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2</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9CF4BC16-E58A-5F1E-7CEB-75934C6D9430}"/>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pic>
        <p:nvPicPr>
          <p:cNvPr id="21" name="图片 20">
            <a:extLst>
              <a:ext uri="{FF2B5EF4-FFF2-40B4-BE49-F238E27FC236}">
                <a16:creationId xmlns:a16="http://schemas.microsoft.com/office/drawing/2014/main" id="{BD96A0AC-1F61-EBB2-729D-2FD8BDB566CD}"/>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EC153499-B056-C93E-10F0-B76C5229C083}"/>
              </a:ext>
            </a:extLst>
          </p:cNvPr>
          <p:cNvSpPr txBox="1"/>
          <p:nvPr/>
        </p:nvSpPr>
        <p:spPr>
          <a:xfrm>
            <a:off x="82982" y="66597"/>
            <a:ext cx="6104466" cy="523220"/>
          </a:xfrm>
          <a:prstGeom prst="rect">
            <a:avLst/>
          </a:prstGeom>
          <a:noFill/>
        </p:spPr>
        <p:txBody>
          <a:bodyPr wrap="square">
            <a:spAutoFit/>
          </a:bodyPr>
          <a:lstStyle/>
          <a:p>
            <a:r>
              <a:rPr kumimoji="0" lang="en-US" altLang="zh-CN" sz="2800" b="0" i="0" u="none" strike="noStrike" kern="1200" cap="none" spc="0" normalizeH="0" baseline="0" noProof="0" dirty="0">
                <a:ln>
                  <a:noFill/>
                </a:ln>
                <a:solidFill>
                  <a:srgbClr val="FFFFFF"/>
                </a:solidFill>
                <a:effectLst/>
                <a:uLnTx/>
                <a:uFillTx/>
                <a:latin typeface="LMSans12-Regular"/>
                <a:ea typeface="等线" panose="02010600030101010101" pitchFamily="2" charset="-122"/>
                <a:cs typeface="+mn-cs"/>
              </a:rPr>
              <a:t>Introduction</a:t>
            </a:r>
            <a:endParaRPr lang="zh-CN" altLang="en-US" dirty="0"/>
          </a:p>
        </p:txBody>
      </p:sp>
      <p:grpSp>
        <p:nvGrpSpPr>
          <p:cNvPr id="26" name="组合 25">
            <a:extLst>
              <a:ext uri="{FF2B5EF4-FFF2-40B4-BE49-F238E27FC236}">
                <a16:creationId xmlns:a16="http://schemas.microsoft.com/office/drawing/2014/main" id="{E35430E0-A938-0973-9AC8-8EC09FFD1416}"/>
              </a:ext>
            </a:extLst>
          </p:cNvPr>
          <p:cNvGrpSpPr/>
          <p:nvPr/>
        </p:nvGrpSpPr>
        <p:grpSpPr>
          <a:xfrm>
            <a:off x="329661" y="985590"/>
            <a:ext cx="6204250" cy="2231537"/>
            <a:chOff x="149931" y="1122750"/>
            <a:chExt cx="6204250" cy="2231537"/>
          </a:xfrm>
        </p:grpSpPr>
        <p:pic>
          <p:nvPicPr>
            <p:cNvPr id="12" name="图片 11">
              <a:extLst>
                <a:ext uri="{FF2B5EF4-FFF2-40B4-BE49-F238E27FC236}">
                  <a16:creationId xmlns:a16="http://schemas.microsoft.com/office/drawing/2014/main" id="{0867CAD1-660C-2100-7CD9-6949CD0E583F}"/>
                </a:ext>
              </a:extLst>
            </p:cNvPr>
            <p:cNvPicPr>
              <a:picLocks noChangeAspect="1"/>
            </p:cNvPicPr>
            <p:nvPr/>
          </p:nvPicPr>
          <p:blipFill>
            <a:blip r:embed="rId5"/>
            <a:srcRect t="6666" b="1"/>
            <a:stretch>
              <a:fillRect/>
            </a:stretch>
          </p:blipFill>
          <p:spPr>
            <a:xfrm>
              <a:off x="149931" y="1122750"/>
              <a:ext cx="2935331" cy="404875"/>
            </a:xfrm>
            <a:prstGeom prst="rect">
              <a:avLst/>
            </a:prstGeom>
          </p:spPr>
        </p:pic>
        <p:grpSp>
          <p:nvGrpSpPr>
            <p:cNvPr id="25" name="组合 24">
              <a:extLst>
                <a:ext uri="{FF2B5EF4-FFF2-40B4-BE49-F238E27FC236}">
                  <a16:creationId xmlns:a16="http://schemas.microsoft.com/office/drawing/2014/main" id="{809F05D6-922E-FA0E-3C0D-6489C15DD610}"/>
                </a:ext>
              </a:extLst>
            </p:cNvPr>
            <p:cNvGrpSpPr/>
            <p:nvPr/>
          </p:nvGrpSpPr>
          <p:grpSpPr>
            <a:xfrm>
              <a:off x="196002" y="1567406"/>
              <a:ext cx="6158179" cy="1786881"/>
              <a:chOff x="196002" y="1567406"/>
              <a:chExt cx="6158179" cy="1786881"/>
            </a:xfrm>
          </p:grpSpPr>
          <p:sp>
            <p:nvSpPr>
              <p:cNvPr id="20" name="文本框 19">
                <a:extLst>
                  <a:ext uri="{FF2B5EF4-FFF2-40B4-BE49-F238E27FC236}">
                    <a16:creationId xmlns:a16="http://schemas.microsoft.com/office/drawing/2014/main" id="{639D4AF1-20CB-5170-FDF6-BA5CE85C7E0A}"/>
                  </a:ext>
                </a:extLst>
              </p:cNvPr>
              <p:cNvSpPr txBox="1"/>
              <p:nvPr/>
            </p:nvSpPr>
            <p:spPr>
              <a:xfrm>
                <a:off x="249943" y="1567406"/>
                <a:ext cx="6104238" cy="307777"/>
              </a:xfrm>
              <a:prstGeom prst="rect">
                <a:avLst/>
              </a:prstGeom>
              <a:noFill/>
            </p:spPr>
            <p:txBody>
              <a:bodyPr wrap="square">
                <a:spAutoFit/>
              </a:bodyPr>
              <a:lstStyle/>
              <a:p>
                <a:pPr lvl="0">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rPr>
                  <a:t>C. Abel  et.al, Phys. Rev. Lett. 124, 081803 (2020). </a:t>
                </a:r>
              </a:p>
            </p:txBody>
          </p:sp>
          <p:pic>
            <p:nvPicPr>
              <p:cNvPr id="16" name="图片 15">
                <a:extLst>
                  <a:ext uri="{FF2B5EF4-FFF2-40B4-BE49-F238E27FC236}">
                    <a16:creationId xmlns:a16="http://schemas.microsoft.com/office/drawing/2014/main" id="{8FDCEB3E-3BE2-91F2-06A2-0E747F827956}"/>
                  </a:ext>
                </a:extLst>
              </p:cNvPr>
              <p:cNvPicPr>
                <a:picLocks noChangeAspect="1"/>
              </p:cNvPicPr>
              <p:nvPr/>
            </p:nvPicPr>
            <p:blipFill>
              <a:blip r:embed="rId6"/>
              <a:stretch>
                <a:fillRect/>
              </a:stretch>
            </p:blipFill>
            <p:spPr>
              <a:xfrm>
                <a:off x="231546" y="1886585"/>
                <a:ext cx="2741606" cy="383236"/>
              </a:xfrm>
              <a:prstGeom prst="rect">
                <a:avLst/>
              </a:prstGeom>
            </p:spPr>
          </p:pic>
          <p:pic>
            <p:nvPicPr>
              <p:cNvPr id="22" name="图片 21">
                <a:extLst>
                  <a:ext uri="{FF2B5EF4-FFF2-40B4-BE49-F238E27FC236}">
                    <a16:creationId xmlns:a16="http://schemas.microsoft.com/office/drawing/2014/main" id="{468F80BE-7ADD-ACB7-8F61-3A3157D4E09F}"/>
                  </a:ext>
                </a:extLst>
              </p:cNvPr>
              <p:cNvPicPr>
                <a:picLocks noChangeAspect="1"/>
              </p:cNvPicPr>
              <p:nvPr/>
            </p:nvPicPr>
            <p:blipFill>
              <a:blip r:embed="rId7"/>
              <a:srcRect t="11232" b="-1"/>
              <a:stretch>
                <a:fillRect/>
              </a:stretch>
            </p:blipFill>
            <p:spPr>
              <a:xfrm>
                <a:off x="196002" y="2655178"/>
                <a:ext cx="2751750" cy="354380"/>
              </a:xfrm>
              <a:prstGeom prst="rect">
                <a:avLst/>
              </a:prstGeom>
            </p:spPr>
          </p:pic>
          <p:sp>
            <p:nvSpPr>
              <p:cNvPr id="23" name="文本框 22">
                <a:extLst>
                  <a:ext uri="{FF2B5EF4-FFF2-40B4-BE49-F238E27FC236}">
                    <a16:creationId xmlns:a16="http://schemas.microsoft.com/office/drawing/2014/main" id="{46676980-8F91-2531-E8C5-75311CAEE12B}"/>
                  </a:ext>
                </a:extLst>
              </p:cNvPr>
              <p:cNvSpPr txBox="1"/>
              <p:nvPr/>
            </p:nvSpPr>
            <p:spPr>
              <a:xfrm>
                <a:off x="226474" y="2381997"/>
                <a:ext cx="6104238" cy="307777"/>
              </a:xfrm>
              <a:prstGeom prst="rect">
                <a:avLst/>
              </a:prstGeom>
              <a:noFill/>
            </p:spPr>
            <p:txBody>
              <a:bodyPr wrap="square">
                <a:spAutoFit/>
              </a:bodyPr>
              <a:lstStyle/>
              <a:p>
                <a:pPr lvl="0">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rPr>
                  <a:t>B. Graner et.al, Phys. Rev. Lett. 116, 161601 (2016).   </a:t>
                </a: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sym typeface="Wingdings" panose="05000000000000000000" pitchFamily="2" charset="2"/>
                  </a:rPr>
                  <a:t> Hg199 atom</a:t>
                </a:r>
                <a:endPar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24" name="文本框 23">
                <a:extLst>
                  <a:ext uri="{FF2B5EF4-FFF2-40B4-BE49-F238E27FC236}">
                    <a16:creationId xmlns:a16="http://schemas.microsoft.com/office/drawing/2014/main" id="{32588EFA-6164-F001-57EE-56D6BE63CD1F}"/>
                  </a:ext>
                </a:extLst>
              </p:cNvPr>
              <p:cNvSpPr txBox="1"/>
              <p:nvPr/>
            </p:nvSpPr>
            <p:spPr>
              <a:xfrm>
                <a:off x="249943" y="3046510"/>
                <a:ext cx="6104238" cy="307777"/>
              </a:xfrm>
              <a:prstGeom prst="rect">
                <a:avLst/>
              </a:prstGeom>
              <a:noFill/>
            </p:spPr>
            <p:txBody>
              <a:bodyPr wrap="square">
                <a:spAutoFit/>
              </a:bodyPr>
              <a:lstStyle/>
              <a:p>
                <a:pPr lvl="0">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rPr>
                  <a:t>J. Baron, et.al, Science 343, 269 (2014).  </a:t>
                </a: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sym typeface="Wingdings" panose="05000000000000000000" pitchFamily="2" charset="2"/>
                  </a:rPr>
                  <a:t> </a:t>
                </a:r>
                <a:r>
                  <a:rPr kumimoji="0" lang="en-US" altLang="zh-CN" sz="1400" b="0" i="0" u="none" strike="noStrike" kern="1200" cap="none" spc="0" normalizeH="0" baseline="0" noProof="0" dirty="0" err="1">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sym typeface="Wingdings" panose="05000000000000000000" pitchFamily="2" charset="2"/>
                  </a:rPr>
                  <a:t>ThO</a:t>
                </a: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sym typeface="Wingdings" panose="05000000000000000000" pitchFamily="2" charset="2"/>
                  </a:rPr>
                  <a:t> molecule.</a:t>
                </a:r>
                <a:endPar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grpSp>
      <p:grpSp>
        <p:nvGrpSpPr>
          <p:cNvPr id="32" name="组合 31">
            <a:extLst>
              <a:ext uri="{FF2B5EF4-FFF2-40B4-BE49-F238E27FC236}">
                <a16:creationId xmlns:a16="http://schemas.microsoft.com/office/drawing/2014/main" id="{26E516E5-0C5B-081C-D017-0BEDDDD46A8C}"/>
              </a:ext>
            </a:extLst>
          </p:cNvPr>
          <p:cNvGrpSpPr/>
          <p:nvPr/>
        </p:nvGrpSpPr>
        <p:grpSpPr>
          <a:xfrm>
            <a:off x="128701" y="3429000"/>
            <a:ext cx="5782337" cy="3045220"/>
            <a:chOff x="128702" y="3313436"/>
            <a:chExt cx="5782337" cy="3045220"/>
          </a:xfrm>
        </p:grpSpPr>
        <p:pic>
          <p:nvPicPr>
            <p:cNvPr id="28" name="图片 27">
              <a:extLst>
                <a:ext uri="{FF2B5EF4-FFF2-40B4-BE49-F238E27FC236}">
                  <a16:creationId xmlns:a16="http://schemas.microsoft.com/office/drawing/2014/main" id="{48B8E972-9B30-2B5B-AF33-BD4AF6B05F46}"/>
                </a:ext>
              </a:extLst>
            </p:cNvPr>
            <p:cNvPicPr>
              <a:picLocks noChangeAspect="1"/>
            </p:cNvPicPr>
            <p:nvPr/>
          </p:nvPicPr>
          <p:blipFill>
            <a:blip r:embed="rId8"/>
            <a:stretch>
              <a:fillRect/>
            </a:stretch>
          </p:blipFill>
          <p:spPr>
            <a:xfrm>
              <a:off x="137584" y="3313436"/>
              <a:ext cx="5773455" cy="2141078"/>
            </a:xfrm>
            <a:prstGeom prst="rect">
              <a:avLst/>
            </a:prstGeom>
          </p:spPr>
        </p:pic>
        <p:pic>
          <p:nvPicPr>
            <p:cNvPr id="31" name="图片 30">
              <a:extLst>
                <a:ext uri="{FF2B5EF4-FFF2-40B4-BE49-F238E27FC236}">
                  <a16:creationId xmlns:a16="http://schemas.microsoft.com/office/drawing/2014/main" id="{77814A56-B9AE-996A-0653-CA51AAC05825}"/>
                </a:ext>
              </a:extLst>
            </p:cNvPr>
            <p:cNvPicPr>
              <a:picLocks noChangeAspect="1"/>
            </p:cNvPicPr>
            <p:nvPr/>
          </p:nvPicPr>
          <p:blipFill>
            <a:blip r:embed="rId9"/>
            <a:srcRect t="14371"/>
            <a:stretch>
              <a:fillRect/>
            </a:stretch>
          </p:blipFill>
          <p:spPr>
            <a:xfrm>
              <a:off x="128702" y="5382768"/>
              <a:ext cx="5613950" cy="975888"/>
            </a:xfrm>
            <a:prstGeom prst="rect">
              <a:avLst/>
            </a:prstGeom>
          </p:spPr>
        </p:pic>
      </p:grpSp>
      <p:pic>
        <p:nvPicPr>
          <p:cNvPr id="34" name="图片 33">
            <a:extLst>
              <a:ext uri="{FF2B5EF4-FFF2-40B4-BE49-F238E27FC236}">
                <a16:creationId xmlns:a16="http://schemas.microsoft.com/office/drawing/2014/main" id="{9709A39E-8EBD-8C56-5974-BAE8D59EEE97}"/>
              </a:ext>
            </a:extLst>
          </p:cNvPr>
          <p:cNvPicPr>
            <a:picLocks noChangeAspect="1"/>
          </p:cNvPicPr>
          <p:nvPr/>
        </p:nvPicPr>
        <p:blipFill>
          <a:blip r:embed="rId10"/>
          <a:stretch>
            <a:fillRect/>
          </a:stretch>
        </p:blipFill>
        <p:spPr>
          <a:xfrm>
            <a:off x="6046024" y="993934"/>
            <a:ext cx="5748500" cy="3181826"/>
          </a:xfrm>
          <a:prstGeom prst="rect">
            <a:avLst/>
          </a:prstGeom>
        </p:spPr>
      </p:pic>
      <p:pic>
        <p:nvPicPr>
          <p:cNvPr id="35" name="图片 34">
            <a:extLst>
              <a:ext uri="{FF2B5EF4-FFF2-40B4-BE49-F238E27FC236}">
                <a16:creationId xmlns:a16="http://schemas.microsoft.com/office/drawing/2014/main" id="{55B99CA9-6A07-1D4E-91B6-0946EA449BF9}"/>
              </a:ext>
            </a:extLst>
          </p:cNvPr>
          <p:cNvPicPr>
            <a:picLocks noChangeAspect="1"/>
          </p:cNvPicPr>
          <p:nvPr/>
        </p:nvPicPr>
        <p:blipFill>
          <a:blip r:embed="rId11"/>
          <a:stretch>
            <a:fillRect/>
          </a:stretch>
        </p:blipFill>
        <p:spPr>
          <a:xfrm>
            <a:off x="6280964" y="4287936"/>
            <a:ext cx="5334000" cy="1825838"/>
          </a:xfrm>
          <a:prstGeom prst="rect">
            <a:avLst/>
          </a:prstGeom>
        </p:spPr>
      </p:pic>
    </p:spTree>
    <p:extLst>
      <p:ext uri="{BB962C8B-B14F-4D97-AF65-F5344CB8AC3E}">
        <p14:creationId xmlns:p14="http://schemas.microsoft.com/office/powerpoint/2010/main" val="3807573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5F4C0-45B4-0C49-3893-D42825B8675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4D2F46B-D1D1-C0B0-D4B6-7DEFAB8C9251}"/>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F1DEDC51-8579-4BD9-91DD-284771756C7F}"/>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649DF37E-AF23-DF4B-AD15-E88AF94E58CE}"/>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2078D181-CD8F-1188-53A1-E9A023A2C75A}"/>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63EACF86-7B2E-69E3-D829-0621EF1AFCD2}"/>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3</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3D7B7BF3-4ABB-C0EB-8CC4-9267487C18EA}"/>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A4DC1C41-D2DA-4F6C-4F93-C59A2D71C077}"/>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1E70D5DF-47D2-476A-B9E6-481231BCEEC4}"/>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C2AD70D2-153D-0EBE-2903-87B3A3A9DAAE}"/>
              </a:ext>
            </a:extLst>
          </p:cNvPr>
          <p:cNvSpPr txBox="1"/>
          <p:nvPr/>
        </p:nvSpPr>
        <p:spPr>
          <a:xfrm>
            <a:off x="82982" y="66597"/>
            <a:ext cx="6104466" cy="523220"/>
          </a:xfrm>
          <a:prstGeom prst="rect">
            <a:avLst/>
          </a:prstGeom>
          <a:noFill/>
        </p:spPr>
        <p:txBody>
          <a:bodyPr wrap="square">
            <a:spAutoFit/>
          </a:bodyPr>
          <a:lstStyle/>
          <a:p>
            <a:r>
              <a:rPr kumimoji="0" lang="en-US" altLang="zh-CN" sz="2800" b="0" i="0" u="none" strike="noStrike" kern="1200" cap="none" spc="0" normalizeH="0" baseline="0" noProof="0" dirty="0">
                <a:ln>
                  <a:noFill/>
                </a:ln>
                <a:solidFill>
                  <a:srgbClr val="FFFFFF"/>
                </a:solidFill>
                <a:effectLst/>
                <a:uLnTx/>
                <a:uFillTx/>
                <a:latin typeface="LMSans12-Regular"/>
                <a:ea typeface="等线" panose="02010600030101010101" pitchFamily="2" charset="-122"/>
                <a:cs typeface="+mn-cs"/>
              </a:rPr>
              <a:t>NCSM</a:t>
            </a:r>
            <a:endParaRPr lang="zh-CN" altLang="en-US" dirty="0"/>
          </a:p>
        </p:txBody>
      </p:sp>
      <p:grpSp>
        <p:nvGrpSpPr>
          <p:cNvPr id="18" name="组合 17">
            <a:extLst>
              <a:ext uri="{FF2B5EF4-FFF2-40B4-BE49-F238E27FC236}">
                <a16:creationId xmlns:a16="http://schemas.microsoft.com/office/drawing/2014/main" id="{EBBFD33B-4D3F-84B3-8B06-67D3F037F7A0}"/>
              </a:ext>
            </a:extLst>
          </p:cNvPr>
          <p:cNvGrpSpPr/>
          <p:nvPr/>
        </p:nvGrpSpPr>
        <p:grpSpPr>
          <a:xfrm>
            <a:off x="126231" y="1001641"/>
            <a:ext cx="5281845" cy="2044273"/>
            <a:chOff x="36576" y="1027160"/>
            <a:chExt cx="5281845" cy="2044273"/>
          </a:xfrm>
        </p:grpSpPr>
        <p:pic>
          <p:nvPicPr>
            <p:cNvPr id="12" name="图片 11">
              <a:extLst>
                <a:ext uri="{FF2B5EF4-FFF2-40B4-BE49-F238E27FC236}">
                  <a16:creationId xmlns:a16="http://schemas.microsoft.com/office/drawing/2014/main" id="{7EC050BC-8D28-9305-629F-CEFC8AAE6FEC}"/>
                </a:ext>
              </a:extLst>
            </p:cNvPr>
            <p:cNvPicPr>
              <a:picLocks noChangeAspect="1"/>
            </p:cNvPicPr>
            <p:nvPr/>
          </p:nvPicPr>
          <p:blipFill>
            <a:blip r:embed="rId5"/>
            <a:stretch>
              <a:fillRect/>
            </a:stretch>
          </p:blipFill>
          <p:spPr>
            <a:xfrm>
              <a:off x="107519" y="1027160"/>
              <a:ext cx="5210902" cy="1895740"/>
            </a:xfrm>
            <a:prstGeom prst="rect">
              <a:avLst/>
            </a:prstGeom>
          </p:spPr>
        </p:pic>
        <p:pic>
          <p:nvPicPr>
            <p:cNvPr id="16" name="图片 15">
              <a:extLst>
                <a:ext uri="{FF2B5EF4-FFF2-40B4-BE49-F238E27FC236}">
                  <a16:creationId xmlns:a16="http://schemas.microsoft.com/office/drawing/2014/main" id="{A8C059EA-FC83-3F44-5090-793685B00849}"/>
                </a:ext>
              </a:extLst>
            </p:cNvPr>
            <p:cNvPicPr>
              <a:picLocks noChangeAspect="1"/>
            </p:cNvPicPr>
            <p:nvPr/>
          </p:nvPicPr>
          <p:blipFill>
            <a:blip r:embed="rId6"/>
            <a:srcRect t="47117"/>
            <a:stretch>
              <a:fillRect/>
            </a:stretch>
          </p:blipFill>
          <p:spPr>
            <a:xfrm>
              <a:off x="36576" y="2834654"/>
              <a:ext cx="4153480" cy="236779"/>
            </a:xfrm>
            <a:prstGeom prst="rect">
              <a:avLst/>
            </a:prstGeom>
          </p:spPr>
        </p:pic>
      </p:grpSp>
      <p:pic>
        <p:nvPicPr>
          <p:cNvPr id="23" name="图片 22">
            <a:extLst>
              <a:ext uri="{FF2B5EF4-FFF2-40B4-BE49-F238E27FC236}">
                <a16:creationId xmlns:a16="http://schemas.microsoft.com/office/drawing/2014/main" id="{2C4009C0-AD7A-5F10-86B7-0FCFE250B820}"/>
              </a:ext>
            </a:extLst>
          </p:cNvPr>
          <p:cNvPicPr>
            <a:picLocks noChangeAspect="1"/>
          </p:cNvPicPr>
          <p:nvPr/>
        </p:nvPicPr>
        <p:blipFill>
          <a:blip r:embed="rId7"/>
          <a:srcRect l="461" t="1457" r="-461" b="-1457"/>
          <a:stretch>
            <a:fillRect/>
          </a:stretch>
        </p:blipFill>
        <p:spPr>
          <a:xfrm>
            <a:off x="197174" y="3258470"/>
            <a:ext cx="4721781" cy="1864320"/>
          </a:xfrm>
          <a:prstGeom prst="rect">
            <a:avLst/>
          </a:prstGeom>
        </p:spPr>
      </p:pic>
      <p:sp>
        <p:nvSpPr>
          <p:cNvPr id="24" name="文本框 23">
            <a:extLst>
              <a:ext uri="{FF2B5EF4-FFF2-40B4-BE49-F238E27FC236}">
                <a16:creationId xmlns:a16="http://schemas.microsoft.com/office/drawing/2014/main" id="{16B27B25-179E-6064-B179-A1C5E4AD50D6}"/>
              </a:ext>
            </a:extLst>
          </p:cNvPr>
          <p:cNvSpPr txBox="1"/>
          <p:nvPr/>
        </p:nvSpPr>
        <p:spPr>
          <a:xfrm>
            <a:off x="82982" y="5314490"/>
            <a:ext cx="5517311" cy="923330"/>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Microsoft JhengHei UI" panose="020B0604030504040204" pitchFamily="34" charset="-120"/>
                <a:ea typeface="Microsoft JhengHei UI" panose="020B0604030504040204" pitchFamily="34" charset="-120"/>
              </a:rPr>
              <a:t>Only the eigenstates (1) obtained by diagonalization using the Lanczos algorithm have good I and approximately good T .</a:t>
            </a:r>
            <a:endParaRPr lang="zh-CN" altLang="en-US" dirty="0">
              <a:latin typeface="Microsoft JhengHei UI" panose="020B0604030504040204" pitchFamily="34" charset="-120"/>
              <a:ea typeface="Microsoft JhengHei UI" panose="020B0604030504040204" pitchFamily="34" charset="-120"/>
            </a:endParaRPr>
          </a:p>
        </p:txBody>
      </p:sp>
      <p:pic>
        <p:nvPicPr>
          <p:cNvPr id="26" name="图片 25">
            <a:extLst>
              <a:ext uri="{FF2B5EF4-FFF2-40B4-BE49-F238E27FC236}">
                <a16:creationId xmlns:a16="http://schemas.microsoft.com/office/drawing/2014/main" id="{F1302029-187E-FC62-6053-7F61E641017C}"/>
              </a:ext>
            </a:extLst>
          </p:cNvPr>
          <p:cNvPicPr>
            <a:picLocks noChangeAspect="1"/>
          </p:cNvPicPr>
          <p:nvPr/>
        </p:nvPicPr>
        <p:blipFill>
          <a:blip r:embed="rId8"/>
          <a:stretch>
            <a:fillRect/>
          </a:stretch>
        </p:blipFill>
        <p:spPr>
          <a:xfrm>
            <a:off x="5648086" y="1233457"/>
            <a:ext cx="6236768" cy="987775"/>
          </a:xfrm>
          <a:prstGeom prst="rect">
            <a:avLst/>
          </a:prstGeom>
        </p:spPr>
      </p:pic>
      <p:sp>
        <p:nvSpPr>
          <p:cNvPr id="27" name="文本框 26">
            <a:extLst>
              <a:ext uri="{FF2B5EF4-FFF2-40B4-BE49-F238E27FC236}">
                <a16:creationId xmlns:a16="http://schemas.microsoft.com/office/drawing/2014/main" id="{743FB10B-30FF-45A1-1720-5DE2575C544C}"/>
              </a:ext>
            </a:extLst>
          </p:cNvPr>
          <p:cNvSpPr txBox="1"/>
          <p:nvPr/>
        </p:nvSpPr>
        <p:spPr>
          <a:xfrm>
            <a:off x="6057895" y="2331488"/>
            <a:ext cx="5172797" cy="113178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2400" dirty="0">
                <a:latin typeface="Cambria" panose="02040503050406030204" pitchFamily="18" charset="0"/>
                <a:ea typeface="Cambria" panose="02040503050406030204" pitchFamily="18" charset="0"/>
              </a:rPr>
              <a:t>Identify neutron and proton?</a:t>
            </a:r>
          </a:p>
          <a:p>
            <a:pPr marL="342900" indent="-342900">
              <a:lnSpc>
                <a:spcPct val="150000"/>
              </a:lnSpc>
              <a:buFont typeface="Wingdings" panose="05000000000000000000" pitchFamily="2" charset="2"/>
              <a:buChar char="Ø"/>
            </a:pPr>
            <a:r>
              <a:rPr lang="en-US" altLang="zh-CN" sz="2400" dirty="0" err="1">
                <a:latin typeface="Cambria" panose="02040503050406030204" pitchFamily="18" charset="0"/>
                <a:ea typeface="Cambria" panose="02040503050406030204" pitchFamily="18" charset="0"/>
              </a:rPr>
              <a:t>nn</a:t>
            </a:r>
            <a:r>
              <a:rPr lang="en-US" altLang="zh-CN" sz="2400" dirty="0">
                <a:latin typeface="Cambria" panose="02040503050406030204" pitchFamily="18" charset="0"/>
                <a:ea typeface="Cambria" panose="02040503050406030204" pitchFamily="18" charset="0"/>
              </a:rPr>
              <a:t>, pp, np interaction?</a:t>
            </a:r>
            <a:endParaRPr lang="zh-CN" altLang="en-US" sz="2400" dirty="0">
              <a:latin typeface="Cambria" panose="02040503050406030204" pitchFamily="18" charset="0"/>
            </a:endParaRPr>
          </a:p>
        </p:txBody>
      </p:sp>
      <p:pic>
        <p:nvPicPr>
          <p:cNvPr id="29" name="图片 28">
            <a:extLst>
              <a:ext uri="{FF2B5EF4-FFF2-40B4-BE49-F238E27FC236}">
                <a16:creationId xmlns:a16="http://schemas.microsoft.com/office/drawing/2014/main" id="{1E053133-74CE-39E2-5B15-3F51B730625B}"/>
              </a:ext>
            </a:extLst>
          </p:cNvPr>
          <p:cNvPicPr>
            <a:picLocks noChangeAspect="1"/>
          </p:cNvPicPr>
          <p:nvPr/>
        </p:nvPicPr>
        <p:blipFill>
          <a:blip r:embed="rId9"/>
          <a:stretch>
            <a:fillRect/>
          </a:stretch>
        </p:blipFill>
        <p:spPr>
          <a:xfrm>
            <a:off x="5817677" y="3688963"/>
            <a:ext cx="5653232" cy="2706567"/>
          </a:xfrm>
          <a:prstGeom prst="rect">
            <a:avLst/>
          </a:prstGeom>
        </p:spPr>
      </p:pic>
    </p:spTree>
    <p:extLst>
      <p:ext uri="{BB962C8B-B14F-4D97-AF65-F5344CB8AC3E}">
        <p14:creationId xmlns:p14="http://schemas.microsoft.com/office/powerpoint/2010/main" val="2080947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725F7-4BA9-4792-DE4E-E3369F83458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24EA3D1-8F80-6B87-6D48-6052AF6BE436}"/>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749F4482-D8D3-9693-1D47-ECBE7AC62920}"/>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FB8514B7-0459-2CFB-DEA0-CBA58C7A36D1}"/>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A32BA652-8D31-95CF-4465-968632B33A46}"/>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06CB26DB-B429-2EDB-D5FA-B608AFA0C005}"/>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4</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FB74E9F8-5343-1B36-8C0E-4FA752E4349A}"/>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DB126C2B-F912-A99D-9FB1-746095E2A208}"/>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73EFAB2E-AE5A-0DA3-F89F-27492B22E4C2}"/>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3B78D90D-EAAA-62D0-05EF-94C4B69A2ACE}"/>
              </a:ext>
            </a:extLst>
          </p:cNvPr>
          <p:cNvSpPr txBox="1"/>
          <p:nvPr/>
        </p:nvSpPr>
        <p:spPr>
          <a:xfrm>
            <a:off x="82982" y="66597"/>
            <a:ext cx="6104466" cy="523220"/>
          </a:xfrm>
          <a:prstGeom prst="rect">
            <a:avLst/>
          </a:prstGeom>
          <a:noFill/>
        </p:spPr>
        <p:txBody>
          <a:bodyPr wrap="square">
            <a:spAutoFit/>
          </a:bodyPr>
          <a:lstStyle/>
          <a:p>
            <a:r>
              <a:rPr kumimoji="0" lang="en-US" altLang="zh-CN" sz="2800" b="0" i="0" u="none" strike="noStrike" kern="1200" cap="none" spc="0" normalizeH="0" baseline="0" noProof="0" dirty="0">
                <a:ln>
                  <a:noFill/>
                </a:ln>
                <a:solidFill>
                  <a:srgbClr val="FFFFFF"/>
                </a:solidFill>
                <a:effectLst/>
                <a:uLnTx/>
                <a:uFillTx/>
                <a:latin typeface="LMSans12-Regular"/>
                <a:ea typeface="等线" panose="02010600030101010101" pitchFamily="2" charset="-122"/>
                <a:cs typeface="+mn-cs"/>
              </a:rPr>
              <a:t>NCSM</a:t>
            </a:r>
            <a:endParaRPr lang="zh-CN" altLang="en-US" dirty="0"/>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88858FC7-E5E0-2A37-DBE4-8D713A118F27}"/>
                  </a:ext>
                </a:extLst>
              </p:cNvPr>
              <p:cNvSpPr txBox="1"/>
              <p:nvPr/>
            </p:nvSpPr>
            <p:spPr>
              <a:xfrm>
                <a:off x="77808" y="762527"/>
                <a:ext cx="12031210" cy="2434128"/>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altLang="zh-CN" sz="2400" dirty="0">
                    <a:latin typeface="Cambria" panose="02040503050406030204" pitchFamily="18" charset="0"/>
                    <a:ea typeface="Cambria" panose="02040503050406030204" pitchFamily="18" charset="0"/>
                  </a:rPr>
                  <a:t>To get faster convergence:</a:t>
                </a:r>
              </a:p>
              <a:p>
                <a:pPr marL="342900" indent="-342900">
                  <a:lnSpc>
                    <a:spcPct val="150000"/>
                  </a:lnSpc>
                  <a:buFont typeface="Arial" panose="020B0604020202020204" pitchFamily="34" charset="0"/>
                  <a:buChar char="•"/>
                </a:pPr>
                <a:r>
                  <a:rPr lang="en-US" altLang="zh-CN" sz="2400" dirty="0">
                    <a:solidFill>
                      <a:srgbClr val="000000"/>
                    </a:solidFill>
                    <a:latin typeface="CMR10"/>
                    <a:ea typeface="Cambria" panose="02040503050406030204" pitchFamily="18" charset="0"/>
                  </a:rPr>
                  <a:t>S</a:t>
                </a:r>
                <a:r>
                  <a:rPr lang="en-US" altLang="zh-CN" sz="2400" b="0" i="0" dirty="0">
                    <a:solidFill>
                      <a:srgbClr val="000000"/>
                    </a:solidFill>
                    <a:effectLst/>
                    <a:latin typeface="CMR10"/>
                  </a:rPr>
                  <a:t>often the chiral interaction through the similarity renormalization group (SRG) technique.</a:t>
                </a:r>
              </a:p>
              <a:p>
                <a:pPr marL="342900" indent="-342900">
                  <a:lnSpc>
                    <a:spcPct val="150000"/>
                  </a:lnSpc>
                  <a:buFont typeface="Arial" panose="020B0604020202020204" pitchFamily="34" charset="0"/>
                  <a:buChar char="•"/>
                </a:pPr>
                <a:r>
                  <a:rPr lang="en-US" altLang="zh-CN" sz="2400" b="0" i="0" dirty="0">
                    <a:solidFill>
                      <a:srgbClr val="000000"/>
                    </a:solidFill>
                    <a:effectLst/>
                    <a:latin typeface="CMR10"/>
                  </a:rPr>
                  <a:t>The SRG unitary transformation induces many-body forces, included here up to the three-body level. The four- and higher-body induced terms are small at the </a:t>
                </a:r>
                <a14:m>
                  <m:oMath xmlns:m="http://schemas.openxmlformats.org/officeDocument/2006/math">
                    <m:sSub>
                      <m:sSubPr>
                        <m:ctrlPr>
                          <a:rPr lang="en-US" altLang="zh-CN" sz="2400" b="0" i="1" dirty="0" smtClean="0">
                            <a:solidFill>
                              <a:srgbClr val="000000"/>
                            </a:solidFill>
                            <a:effectLst/>
                            <a:latin typeface="Cambria Math" panose="02040503050406030204" pitchFamily="18" charset="0"/>
                          </a:rPr>
                        </m:ctrlPr>
                      </m:sSubPr>
                      <m:e>
                        <m:r>
                          <m:rPr>
                            <m:sty m:val="p"/>
                          </m:rPr>
                          <a:rPr lang="en-US" altLang="zh-CN" sz="2400" b="0" i="0" dirty="0" smtClean="0">
                            <a:solidFill>
                              <a:srgbClr val="000000"/>
                            </a:solidFill>
                            <a:effectLst/>
                            <a:latin typeface="Cambria Math" panose="02040503050406030204" pitchFamily="18" charset="0"/>
                          </a:rPr>
                          <m:t>Λ</m:t>
                        </m:r>
                      </m:e>
                      <m:sub>
                        <m:r>
                          <m:rPr>
                            <m:sty m:val="p"/>
                          </m:rPr>
                          <a:rPr lang="en-US" altLang="zh-CN" sz="2400" b="0" i="0" dirty="0" smtClean="0">
                            <a:solidFill>
                              <a:srgbClr val="000000"/>
                            </a:solidFill>
                            <a:effectLst/>
                            <a:latin typeface="Cambria Math" panose="02040503050406030204" pitchFamily="18" charset="0"/>
                          </a:rPr>
                          <m:t>SRG</m:t>
                        </m:r>
                      </m:sub>
                    </m:sSub>
                    <m:r>
                      <a:rPr lang="en-US" altLang="zh-CN" sz="2400" b="0" i="0" dirty="0" smtClean="0">
                        <a:solidFill>
                          <a:srgbClr val="000000"/>
                        </a:solidFill>
                        <a:effectLst/>
                        <a:latin typeface="Cambria Math" panose="02040503050406030204" pitchFamily="18" charset="0"/>
                      </a:rPr>
                      <m:t>=2.0 </m:t>
                    </m:r>
                    <m:r>
                      <m:rPr>
                        <m:sty m:val="p"/>
                      </m:rPr>
                      <a:rPr lang="en-US" altLang="zh-CN" sz="2400" b="0" i="0" dirty="0" smtClean="0">
                        <a:solidFill>
                          <a:srgbClr val="000000"/>
                        </a:solidFill>
                        <a:effectLst/>
                        <a:latin typeface="Cambria Math" panose="02040503050406030204" pitchFamily="18" charset="0"/>
                      </a:rPr>
                      <m:t>f</m:t>
                    </m:r>
                    <m:sSup>
                      <m:sSupPr>
                        <m:ctrlPr>
                          <a:rPr lang="en-US" altLang="zh-CN" sz="2400" b="0" i="1" dirty="0" smtClean="0">
                            <a:solidFill>
                              <a:srgbClr val="000000"/>
                            </a:solidFill>
                            <a:effectLst/>
                            <a:latin typeface="Cambria Math" panose="02040503050406030204" pitchFamily="18" charset="0"/>
                          </a:rPr>
                        </m:ctrlPr>
                      </m:sSupPr>
                      <m:e>
                        <m:r>
                          <m:rPr>
                            <m:sty m:val="p"/>
                          </m:rPr>
                          <a:rPr lang="en-US" altLang="zh-CN" sz="2400" b="0" i="0" dirty="0" smtClean="0">
                            <a:solidFill>
                              <a:srgbClr val="000000"/>
                            </a:solidFill>
                            <a:effectLst/>
                            <a:latin typeface="Cambria Math" panose="02040503050406030204" pitchFamily="18" charset="0"/>
                          </a:rPr>
                          <m:t>m</m:t>
                        </m:r>
                      </m:e>
                      <m:sup>
                        <m:r>
                          <a:rPr lang="en-US" altLang="zh-CN" sz="2400" b="0" i="0" dirty="0" smtClean="0">
                            <a:solidFill>
                              <a:srgbClr val="000000"/>
                            </a:solidFill>
                            <a:effectLst/>
                            <a:latin typeface="Cambria Math" panose="02040503050406030204" pitchFamily="18" charset="0"/>
                          </a:rPr>
                          <m:t>−1</m:t>
                        </m:r>
                      </m:sup>
                    </m:sSup>
                    <m:r>
                      <a:rPr lang="en-US" altLang="zh-CN" sz="2400" i="0" dirty="0" smtClean="0">
                        <a:latin typeface="Cambria Math" panose="02040503050406030204" pitchFamily="18" charset="0"/>
                      </a:rPr>
                      <m:t> </m:t>
                    </m:r>
                  </m:oMath>
                </a14:m>
                <a:r>
                  <a:rPr lang="en-US" altLang="zh-CN" sz="2400" dirty="0"/>
                  <a:t>.</a:t>
                </a:r>
              </a:p>
            </p:txBody>
          </p:sp>
        </mc:Choice>
        <mc:Fallback>
          <p:sp>
            <p:nvSpPr>
              <p:cNvPr id="3" name="文本框 2">
                <a:extLst>
                  <a:ext uri="{FF2B5EF4-FFF2-40B4-BE49-F238E27FC236}">
                    <a16:creationId xmlns:a16="http://schemas.microsoft.com/office/drawing/2014/main" id="{88858FC7-E5E0-2A37-DBE4-8D713A118F27}"/>
                  </a:ext>
                </a:extLst>
              </p:cNvPr>
              <p:cNvSpPr txBox="1">
                <a:spLocks noRot="1" noChangeAspect="1" noMove="1" noResize="1" noEditPoints="1" noAdjustHandles="1" noChangeArrowheads="1" noChangeShapeType="1" noTextEdit="1"/>
              </p:cNvSpPr>
              <p:nvPr/>
            </p:nvSpPr>
            <p:spPr>
              <a:xfrm>
                <a:off x="77808" y="762527"/>
                <a:ext cx="12031210" cy="2434128"/>
              </a:xfrm>
              <a:prstGeom prst="rect">
                <a:avLst/>
              </a:prstGeom>
              <a:blipFill>
                <a:blip r:embed="rId5"/>
                <a:stretch>
                  <a:fillRect l="-710" b="-526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7FF3D52-AD2B-3F6E-33B2-5B54D4E274B0}"/>
              </a:ext>
            </a:extLst>
          </p:cNvPr>
          <p:cNvSpPr txBox="1"/>
          <p:nvPr/>
        </p:nvSpPr>
        <p:spPr>
          <a:xfrm>
            <a:off x="5638800" y="3017520"/>
            <a:ext cx="914400" cy="914400"/>
          </a:xfrm>
          <a:prstGeom prst="rect">
            <a:avLst/>
          </a:prstGeom>
          <a:noFill/>
        </p:spPr>
        <p:txBody>
          <a:bodyPr wrap="square" rtlCol="0">
            <a:spAutoFit/>
          </a:bodyPr>
          <a:lstStyle/>
          <a:p>
            <a:endParaRPr lang="zh-CN" altLang="en-US" dirty="0"/>
          </a:p>
        </p:txBody>
      </p:sp>
      <mc:AlternateContent xmlns:mc="http://schemas.openxmlformats.org/markup-compatibility/2006">
        <mc:Choice xmlns:a14="http://schemas.microsoft.com/office/drawing/2010/main" Requires="a14">
          <p:sp>
            <p:nvSpPr>
              <p:cNvPr id="30" name="文本框 29">
                <a:extLst>
                  <a:ext uri="{FF2B5EF4-FFF2-40B4-BE49-F238E27FC236}">
                    <a16:creationId xmlns:a16="http://schemas.microsoft.com/office/drawing/2014/main" id="{3B19BA1F-4AB8-860B-C9AB-F162031E520A}"/>
                  </a:ext>
                </a:extLst>
              </p:cNvPr>
              <p:cNvSpPr txBox="1"/>
              <p:nvPr/>
            </p:nvSpPr>
            <p:spPr>
              <a:xfrm>
                <a:off x="351054" y="3429000"/>
                <a:ext cx="12144496" cy="2836610"/>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Intrinsic EDMs contributions:</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endParaRPr lang="en-US" altLang="zh-CN" sz="2400" dirty="0">
                  <a:solidFill>
                    <a:prstClr val="black"/>
                  </a:solidFill>
                  <a:latin typeface="Cambria" panose="02040503050406030204" pitchFamily="18" charset="0"/>
                  <a:ea typeface="Cambria" panose="02040503050406030204" pitchFamily="18" charset="0"/>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endParaRPr kumimoji="0" lang="en-US" altLang="zh-CN"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altLang="zh-CN" sz="2400" dirty="0">
                    <a:solidFill>
                      <a:prstClr val="black"/>
                    </a:solidFill>
                    <a:latin typeface="Cambria" panose="02040503050406030204" pitchFamily="18" charset="0"/>
                    <a:ea typeface="Cambria" panose="02040503050406030204" pitchFamily="18" charset="0"/>
                  </a:rPr>
                  <a:t>The </a:t>
                </a:r>
                <a14:m>
                  <m:oMath xmlns:m="http://schemas.openxmlformats.org/officeDocument/2006/math">
                    <m:sSub>
                      <m:sSubPr>
                        <m:ctrlPr>
                          <a:rPr lang="en-US" altLang="zh-CN" sz="2400" b="0" i="1" smtClean="0">
                            <a:solidFill>
                              <a:prstClr val="black"/>
                            </a:solidFill>
                            <a:latin typeface="Cambria Math" panose="02040503050406030204" pitchFamily="18" charset="0"/>
                            <a:ea typeface="Cambria" panose="02040503050406030204" pitchFamily="18" charset="0"/>
                          </a:rPr>
                        </m:ctrlPr>
                      </m:sSubPr>
                      <m:e>
                        <m:r>
                          <a:rPr lang="en-US" altLang="zh-CN" sz="2400" b="0" i="1" smtClean="0">
                            <a:solidFill>
                              <a:prstClr val="black"/>
                            </a:solidFill>
                            <a:latin typeface="Cambria Math" panose="02040503050406030204" pitchFamily="18" charset="0"/>
                            <a:ea typeface="Cambria" panose="02040503050406030204" pitchFamily="18" charset="0"/>
                          </a:rPr>
                          <m:t>𝑑</m:t>
                        </m:r>
                      </m:e>
                      <m:sub>
                        <m:r>
                          <a:rPr lang="en-US" altLang="zh-CN" sz="2400" b="0" i="1" smtClean="0">
                            <a:solidFill>
                              <a:prstClr val="black"/>
                            </a:solidFill>
                            <a:latin typeface="Cambria Math" panose="02040503050406030204" pitchFamily="18" charset="0"/>
                            <a:ea typeface="Cambria" panose="02040503050406030204" pitchFamily="18" charset="0"/>
                          </a:rPr>
                          <m:t>𝑛</m:t>
                        </m:r>
                      </m:sub>
                    </m:sSub>
                  </m:oMath>
                </a14:m>
                <a:r>
                  <a:rPr kumimoji="0" lang="en-US" altLang="zh-CN"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 and </a:t>
                </a:r>
                <a14:m>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panose="02040503050406030204" pitchFamily="18" charset="0"/>
                            <a:cs typeface="+mn-cs"/>
                          </a:rPr>
                          <m:t>𝑑</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panose="02040503050406030204" pitchFamily="18" charset="0"/>
                            <a:cs typeface="+mn-cs"/>
                          </a:rPr>
                          <m:t>𝑝</m:t>
                        </m:r>
                      </m:sub>
                    </m:sSub>
                  </m:oMath>
                </a14:m>
                <a:r>
                  <a:rPr kumimoji="0" lang="en-US" altLang="zh-CN"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 are from</a:t>
                </a:r>
                <a:r>
                  <a:rPr kumimoji="0" lang="en-US" altLang="zh-CN" sz="2400" b="0" i="0" u="none" strike="noStrike" kern="1200" cap="none" spc="0" normalizeH="0" noProof="0" dirty="0">
                    <a:ln>
                      <a:noFill/>
                    </a:ln>
                    <a:solidFill>
                      <a:prstClr val="black"/>
                    </a:solidFill>
                    <a:effectLst/>
                    <a:uLnTx/>
                    <a:uFillTx/>
                    <a:latin typeface="Cambria" panose="02040503050406030204" pitchFamily="18" charset="0"/>
                    <a:ea typeface="Cambria" panose="02040503050406030204" pitchFamily="18" charset="0"/>
                    <a:cs typeface="+mn-cs"/>
                  </a:rPr>
                  <a:t> the polarization effect caused by the PTV nuclear interaction.</a:t>
                </a:r>
                <a:endParaRPr kumimoji="0" lang="en-US" altLang="zh-CN"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endParaRPr lang="en-US" altLang="zh-CN" sz="2400" dirty="0">
                  <a:solidFill>
                    <a:prstClr val="black"/>
                  </a:solidFill>
                  <a:latin typeface="Cambria" panose="02040503050406030204" pitchFamily="18" charset="0"/>
                  <a:ea typeface="Cambria" panose="02040503050406030204" pitchFamily="18" charset="0"/>
                </a:endParaRPr>
              </a:p>
            </p:txBody>
          </p:sp>
        </mc:Choice>
        <mc:Fallback>
          <p:sp>
            <p:nvSpPr>
              <p:cNvPr id="30" name="文本框 29">
                <a:extLst>
                  <a:ext uri="{FF2B5EF4-FFF2-40B4-BE49-F238E27FC236}">
                    <a16:creationId xmlns:a16="http://schemas.microsoft.com/office/drawing/2014/main" id="{3B19BA1F-4AB8-860B-C9AB-F162031E520A}"/>
                  </a:ext>
                </a:extLst>
              </p:cNvPr>
              <p:cNvSpPr txBox="1">
                <a:spLocks noRot="1" noChangeAspect="1" noMove="1" noResize="1" noEditPoints="1" noAdjustHandles="1" noChangeArrowheads="1" noChangeShapeType="1" noTextEdit="1"/>
              </p:cNvSpPr>
              <p:nvPr/>
            </p:nvSpPr>
            <p:spPr>
              <a:xfrm>
                <a:off x="351054" y="3429000"/>
                <a:ext cx="12144496" cy="2836610"/>
              </a:xfrm>
              <a:prstGeom prst="rect">
                <a:avLst/>
              </a:prstGeom>
              <a:blipFill>
                <a:blip r:embed="rId6"/>
                <a:stretch>
                  <a:fillRect l="-7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BB45FA38-ABED-42F8-96B1-47701E56691B}"/>
                  </a:ext>
                </a:extLst>
              </p:cNvPr>
              <p:cNvSpPr txBox="1"/>
              <p:nvPr/>
            </p:nvSpPr>
            <p:spPr>
              <a:xfrm>
                <a:off x="1068116" y="4050355"/>
                <a:ext cx="9401168" cy="107991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en-US" altLang="zh-CN" sz="2200" b="0" i="1" kern="1200" smtClean="0">
                              <a:solidFill>
                                <a:srgbClr val="000000"/>
                              </a:solidFill>
                              <a:effectLst/>
                              <a:latin typeface="Cambria Math" panose="02040503050406030204" pitchFamily="18" charset="0"/>
                              <a:ea typeface="等线" panose="02010600030101010101" pitchFamily="2" charset="-122"/>
                              <a:cs typeface="+mn-cs"/>
                            </a:rPr>
                          </m:ctrlPr>
                        </m:sSupPr>
                        <m:e>
                          <m:r>
                            <a:rPr lang="en-US" altLang="zh-CN" sz="2200" b="0" i="1" kern="1200" smtClean="0">
                              <a:solidFill>
                                <a:srgbClr val="000000"/>
                              </a:solidFill>
                              <a:effectLst/>
                              <a:latin typeface="Cambria Math" panose="02040503050406030204" pitchFamily="18" charset="0"/>
                              <a:ea typeface="等线" panose="02010600030101010101" pitchFamily="2" charset="-122"/>
                              <a:cs typeface="+mn-cs"/>
                            </a:rPr>
                            <m:t>𝐷</m:t>
                          </m:r>
                        </m:e>
                        <m:sup>
                          <m:r>
                            <a:rPr lang="en-US" altLang="zh-CN" sz="2200" b="0" i="1" kern="1200" smtClean="0">
                              <a:solidFill>
                                <a:srgbClr val="000000"/>
                              </a:solidFill>
                              <a:effectLst/>
                              <a:latin typeface="Cambria Math" panose="02040503050406030204" pitchFamily="18" charset="0"/>
                              <a:ea typeface="等线" panose="02010600030101010101" pitchFamily="2" charset="-122"/>
                              <a:cs typeface="+mn-cs"/>
                            </a:rPr>
                            <m:t>(1)</m:t>
                          </m:r>
                        </m:sup>
                      </m:sSup>
                      <m:r>
                        <a:rPr lang="en-US" altLang="zh-CN" sz="2200" b="0" i="1" kern="1200" smtClean="0">
                          <a:solidFill>
                            <a:srgbClr val="000000"/>
                          </a:solidFill>
                          <a:effectLst/>
                          <a:latin typeface="Cambria Math" panose="02040503050406030204" pitchFamily="18" charset="0"/>
                          <a:ea typeface="等线" panose="02010600030101010101" pitchFamily="2" charset="-122"/>
                          <a:cs typeface="+mn-cs"/>
                        </a:rPr>
                        <m:t>=⟨</m:t>
                      </m:r>
                      <m:r>
                        <m:rPr>
                          <m:sty m:val="p"/>
                        </m:rPr>
                        <a:rPr lang="en-US" altLang="zh-CN" sz="2200">
                          <a:solidFill>
                            <a:srgbClr val="000000"/>
                          </a:solidFill>
                          <a:latin typeface="Cambria Math" panose="02040503050406030204" pitchFamily="18" charset="0"/>
                        </a:rPr>
                        <m:t>A</m:t>
                      </m:r>
                      <m:r>
                        <a:rPr lang="en-US" altLang="zh-CN" sz="2200">
                          <a:solidFill>
                            <a:srgbClr val="000000"/>
                          </a:solidFill>
                          <a:latin typeface="Cambria Math" panose="02040503050406030204" pitchFamily="18" charset="0"/>
                        </a:rPr>
                        <m:t> </m:t>
                      </m:r>
                      <m:r>
                        <m:rPr>
                          <m:sty m:val="p"/>
                        </m:rPr>
                        <a:rPr lang="en-US" altLang="zh-CN" sz="2200">
                          <a:solidFill>
                            <a:srgbClr val="000000"/>
                          </a:solidFill>
                          <a:latin typeface="Cambria Math" panose="02040503050406030204" pitchFamily="18" charset="0"/>
                        </a:rPr>
                        <m:t>g</m:t>
                      </m:r>
                      <m:r>
                        <a:rPr lang="en-US" altLang="zh-CN" sz="2200">
                          <a:solidFill>
                            <a:srgbClr val="000000"/>
                          </a:solidFill>
                          <a:latin typeface="Cambria Math" panose="02040503050406030204" pitchFamily="18" charset="0"/>
                        </a:rPr>
                        <m:t>.</m:t>
                      </m:r>
                      <m:r>
                        <m:rPr>
                          <m:sty m:val="p"/>
                        </m:rPr>
                        <a:rPr lang="en-US" altLang="zh-CN" sz="2200">
                          <a:solidFill>
                            <a:srgbClr val="000000"/>
                          </a:solidFill>
                          <a:latin typeface="Cambria Math" panose="02040503050406030204" pitchFamily="18" charset="0"/>
                        </a:rPr>
                        <m:t>s</m:t>
                      </m:r>
                      <m:r>
                        <a:rPr lang="en-US" altLang="zh-CN" sz="2200">
                          <a:solidFill>
                            <a:srgbClr val="000000"/>
                          </a:solidFill>
                          <a:latin typeface="Cambria Math" panose="02040503050406030204" pitchFamily="18" charset="0"/>
                        </a:rPr>
                        <m:t>.  </m:t>
                      </m:r>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𝐼</m:t>
                          </m:r>
                        </m:e>
                        <m:sup>
                          <m:r>
                            <a:rPr lang="en-US" altLang="zh-CN" sz="2200" i="1">
                              <a:solidFill>
                                <a:srgbClr val="000000"/>
                              </a:solidFill>
                              <a:latin typeface="Cambria Math" panose="02040503050406030204" pitchFamily="18" charset="0"/>
                            </a:rPr>
                            <m:t>𝜋</m:t>
                          </m:r>
                        </m:sup>
                      </m:sSup>
                      <m:r>
                        <a:rPr lang="en-US" altLang="zh-CN" sz="2200" b="0" i="1" smtClean="0">
                          <a:solidFill>
                            <a:srgbClr val="000000"/>
                          </a:solidFill>
                          <a:latin typeface="Cambria Math" panose="02040503050406030204" pitchFamily="18" charset="0"/>
                        </a:rPr>
                        <m:t>|</m:t>
                      </m:r>
                      <m:nary>
                        <m:naryPr>
                          <m:chr m:val="∑"/>
                          <m:ctrlPr>
                            <a:rPr lang="en-US" altLang="zh-CN" sz="2200" b="0" i="1" smtClean="0">
                              <a:solidFill>
                                <a:srgbClr val="000000"/>
                              </a:solidFill>
                              <a:latin typeface="Cambria Math" panose="02040503050406030204" pitchFamily="18" charset="0"/>
                            </a:rPr>
                          </m:ctrlPr>
                        </m:naryPr>
                        <m:sub>
                          <m:r>
                            <m:rPr>
                              <m:brk m:alnAt="23"/>
                            </m:rPr>
                            <a:rPr lang="en-US" altLang="zh-CN" sz="2200" b="0" i="1" smtClean="0">
                              <a:solidFill>
                                <a:srgbClr val="000000"/>
                              </a:solidFill>
                              <a:latin typeface="Cambria Math" panose="02040503050406030204" pitchFamily="18" charset="0"/>
                            </a:rPr>
                            <m:t>𝑖</m:t>
                          </m:r>
                          <m:r>
                            <a:rPr lang="en-US" altLang="zh-CN" sz="2200" b="0" i="1" smtClean="0">
                              <a:solidFill>
                                <a:srgbClr val="000000"/>
                              </a:solidFill>
                              <a:latin typeface="Cambria Math" panose="02040503050406030204" pitchFamily="18" charset="0"/>
                            </a:rPr>
                            <m:t>=1</m:t>
                          </m:r>
                        </m:sub>
                        <m:sup>
                          <m:r>
                            <a:rPr lang="en-US" altLang="zh-CN" sz="2200" b="0" i="1" smtClean="0">
                              <a:solidFill>
                                <a:srgbClr val="000000"/>
                              </a:solidFill>
                              <a:latin typeface="Cambria Math" panose="02040503050406030204" pitchFamily="18" charset="0"/>
                            </a:rPr>
                            <m:t>𝐴</m:t>
                          </m:r>
                        </m:sup>
                        <m:e>
                          <m:f>
                            <m:fPr>
                              <m:ctrlPr>
                                <a:rPr lang="en-US" altLang="zh-CN" sz="2200" b="0" i="1" smtClean="0">
                                  <a:solidFill>
                                    <a:srgbClr val="000000"/>
                                  </a:solidFill>
                                  <a:latin typeface="Cambria Math" panose="02040503050406030204" pitchFamily="18" charset="0"/>
                                </a:rPr>
                              </m:ctrlPr>
                            </m:fPr>
                            <m:num>
                              <m:r>
                                <a:rPr lang="en-US" altLang="zh-CN" sz="2200" b="0" i="1" smtClean="0">
                                  <a:solidFill>
                                    <a:srgbClr val="000000"/>
                                  </a:solidFill>
                                  <a:latin typeface="Cambria Math" panose="02040503050406030204" pitchFamily="18" charset="0"/>
                                </a:rPr>
                                <m:t>1</m:t>
                              </m:r>
                            </m:num>
                            <m:den>
                              <m:r>
                                <a:rPr lang="en-US" altLang="zh-CN" sz="2200" b="0" i="1" smtClean="0">
                                  <a:solidFill>
                                    <a:srgbClr val="000000"/>
                                  </a:solidFill>
                                  <a:latin typeface="Cambria Math" panose="02040503050406030204" pitchFamily="18" charset="0"/>
                                </a:rPr>
                                <m:t>2</m:t>
                              </m:r>
                            </m:den>
                          </m:f>
                          <m:d>
                            <m:dPr>
                              <m:begChr m:val="["/>
                              <m:endChr m:val="]"/>
                              <m:ctrlPr>
                                <a:rPr lang="en-US" altLang="zh-CN" sz="2200" b="0" i="1" smtClean="0">
                                  <a:solidFill>
                                    <a:srgbClr val="000000"/>
                                  </a:solidFill>
                                  <a:latin typeface="Cambria Math" panose="02040503050406030204" pitchFamily="18" charset="0"/>
                                </a:rPr>
                              </m:ctrlPr>
                            </m:dPr>
                            <m:e>
                              <m:d>
                                <m:dPr>
                                  <m:ctrlPr>
                                    <a:rPr lang="en-US" altLang="zh-CN" sz="2200" b="0" i="1" smtClean="0">
                                      <a:solidFill>
                                        <a:srgbClr val="000000"/>
                                      </a:solidFill>
                                      <a:latin typeface="Cambria Math" panose="02040503050406030204" pitchFamily="18" charset="0"/>
                                    </a:rPr>
                                  </m:ctrlPr>
                                </m:dPr>
                                <m:e>
                                  <m:sSub>
                                    <m:sSubPr>
                                      <m:ctrlPr>
                                        <a:rPr lang="en-US" altLang="zh-CN" sz="2200" b="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𝑑</m:t>
                                      </m:r>
                                    </m:e>
                                    <m:sub>
                                      <m:r>
                                        <a:rPr lang="en-US" altLang="zh-CN" sz="2200" b="0" i="1" smtClean="0">
                                          <a:solidFill>
                                            <a:srgbClr val="000000"/>
                                          </a:solidFill>
                                          <a:latin typeface="Cambria Math" panose="02040503050406030204" pitchFamily="18" charset="0"/>
                                        </a:rPr>
                                        <m:t>𝑝</m:t>
                                      </m:r>
                                    </m:sub>
                                  </m:sSub>
                                  <m:r>
                                    <a:rPr lang="en-US" altLang="zh-CN" sz="2200" b="0" i="1" smtClean="0">
                                      <a:solidFill>
                                        <a:srgbClr val="000000"/>
                                      </a:solidFill>
                                      <a:latin typeface="Cambria Math" panose="02040503050406030204" pitchFamily="18" charset="0"/>
                                    </a:rPr>
                                    <m:t>+</m:t>
                                  </m:r>
                                  <m:sSub>
                                    <m:sSubPr>
                                      <m:ctrlPr>
                                        <a:rPr lang="en-US" altLang="zh-CN" sz="2200" b="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𝑑</m:t>
                                      </m:r>
                                    </m:e>
                                    <m:sub>
                                      <m:r>
                                        <a:rPr lang="en-US" altLang="zh-CN" sz="2200" b="0" i="1" smtClean="0">
                                          <a:solidFill>
                                            <a:srgbClr val="000000"/>
                                          </a:solidFill>
                                          <a:latin typeface="Cambria Math" panose="02040503050406030204" pitchFamily="18" charset="0"/>
                                        </a:rPr>
                                        <m:t>𝑛</m:t>
                                      </m:r>
                                    </m:sub>
                                  </m:sSub>
                                </m:e>
                              </m:d>
                              <m:r>
                                <a:rPr lang="en-US" altLang="zh-CN" sz="2200" b="0" i="1" smtClean="0">
                                  <a:solidFill>
                                    <a:srgbClr val="000000"/>
                                  </a:solidFill>
                                  <a:latin typeface="Cambria Math" panose="02040503050406030204" pitchFamily="18" charset="0"/>
                                </a:rPr>
                                <m:t>+</m:t>
                              </m:r>
                              <m:d>
                                <m:dPr>
                                  <m:ctrlPr>
                                    <a:rPr lang="en-US" altLang="zh-CN" sz="2200" b="0" i="1" smtClean="0">
                                      <a:solidFill>
                                        <a:srgbClr val="000000"/>
                                      </a:solidFill>
                                      <a:latin typeface="Cambria Math" panose="02040503050406030204" pitchFamily="18" charset="0"/>
                                    </a:rPr>
                                  </m:ctrlPr>
                                </m:dPr>
                                <m:e>
                                  <m:sSub>
                                    <m:sSubPr>
                                      <m:ctrlPr>
                                        <a:rPr lang="en-US" altLang="zh-CN" sz="2200" b="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𝑑</m:t>
                                      </m:r>
                                    </m:e>
                                    <m:sub>
                                      <m:r>
                                        <a:rPr lang="en-US" altLang="zh-CN" sz="2200" b="0" i="1" smtClean="0">
                                          <a:solidFill>
                                            <a:srgbClr val="000000"/>
                                          </a:solidFill>
                                          <a:latin typeface="Cambria Math" panose="02040503050406030204" pitchFamily="18" charset="0"/>
                                        </a:rPr>
                                        <m:t>𝑝</m:t>
                                      </m:r>
                                    </m:sub>
                                  </m:sSub>
                                  <m:r>
                                    <a:rPr lang="en-US" altLang="zh-CN" sz="2200" b="0" i="1" smtClean="0">
                                      <a:solidFill>
                                        <a:srgbClr val="000000"/>
                                      </a:solidFill>
                                      <a:latin typeface="Cambria Math" panose="02040503050406030204" pitchFamily="18" charset="0"/>
                                    </a:rPr>
                                    <m:t>−</m:t>
                                  </m:r>
                                  <m:sSub>
                                    <m:sSubPr>
                                      <m:ctrlPr>
                                        <a:rPr lang="en-US" altLang="zh-CN" sz="2200" b="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𝑑</m:t>
                                      </m:r>
                                    </m:e>
                                    <m:sub>
                                      <m:r>
                                        <a:rPr lang="en-US" altLang="zh-CN" sz="2200" b="0" i="1" smtClean="0">
                                          <a:solidFill>
                                            <a:srgbClr val="000000"/>
                                          </a:solidFill>
                                          <a:latin typeface="Cambria Math" panose="02040503050406030204" pitchFamily="18" charset="0"/>
                                        </a:rPr>
                                        <m:t>𝑛</m:t>
                                      </m:r>
                                    </m:sub>
                                  </m:sSub>
                                </m:e>
                              </m:d>
                              <m:sSub>
                                <m:sSubPr>
                                  <m:ctrlPr>
                                    <a:rPr lang="en-US" altLang="zh-CN" sz="2200" b="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𝜏</m:t>
                                  </m:r>
                                </m:e>
                                <m:sub>
                                  <m:r>
                                    <a:rPr lang="en-US" altLang="zh-CN" sz="2200" b="0" i="1" smtClean="0">
                                      <a:solidFill>
                                        <a:srgbClr val="000000"/>
                                      </a:solidFill>
                                      <a:latin typeface="Cambria Math" panose="02040503050406030204" pitchFamily="18" charset="0"/>
                                    </a:rPr>
                                    <m:t>𝑖</m:t>
                                  </m:r>
                                  <m:r>
                                    <a:rPr lang="en-US" altLang="zh-CN" sz="2200" b="0" i="1" smtClean="0">
                                      <a:solidFill>
                                        <a:srgbClr val="000000"/>
                                      </a:solidFill>
                                      <a:latin typeface="Cambria Math" panose="02040503050406030204" pitchFamily="18" charset="0"/>
                                    </a:rPr>
                                    <m:t>,</m:t>
                                  </m:r>
                                  <m:r>
                                    <a:rPr lang="en-US" altLang="zh-CN" sz="2200" b="0" i="1" smtClean="0">
                                      <a:solidFill>
                                        <a:srgbClr val="000000"/>
                                      </a:solidFill>
                                      <a:latin typeface="Cambria Math" panose="02040503050406030204" pitchFamily="18" charset="0"/>
                                    </a:rPr>
                                    <m:t>𝑧</m:t>
                                  </m:r>
                                </m:sub>
                              </m:sSub>
                            </m:e>
                          </m:d>
                          <m:sSub>
                            <m:sSubPr>
                              <m:ctrlPr>
                                <a:rPr lang="en-US" altLang="zh-CN" sz="2200" b="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𝜎</m:t>
                              </m:r>
                            </m:e>
                            <m:sub>
                              <m:r>
                                <a:rPr lang="en-US" altLang="zh-CN" sz="2200" b="0" i="1" smtClean="0">
                                  <a:solidFill>
                                    <a:srgbClr val="000000"/>
                                  </a:solidFill>
                                  <a:latin typeface="Cambria Math" panose="02040503050406030204" pitchFamily="18" charset="0"/>
                                </a:rPr>
                                <m:t>𝑖</m:t>
                              </m:r>
                              <m:r>
                                <a:rPr lang="en-US" altLang="zh-CN" sz="2200" b="0" i="1" smtClean="0">
                                  <a:solidFill>
                                    <a:srgbClr val="000000"/>
                                  </a:solidFill>
                                  <a:latin typeface="Cambria Math" panose="02040503050406030204" pitchFamily="18" charset="0"/>
                                </a:rPr>
                                <m:t>,</m:t>
                              </m:r>
                              <m:r>
                                <a:rPr lang="en-US" altLang="zh-CN" sz="2200" b="0" i="1" smtClean="0">
                                  <a:solidFill>
                                    <a:srgbClr val="000000"/>
                                  </a:solidFill>
                                  <a:latin typeface="Cambria Math" panose="02040503050406030204" pitchFamily="18" charset="0"/>
                                </a:rPr>
                                <m:t>𝑧</m:t>
                              </m:r>
                            </m:sub>
                          </m:sSub>
                        </m:e>
                      </m:nary>
                      <m:r>
                        <a:rPr lang="en-US" altLang="zh-CN" sz="2200" b="0" i="1" smtClean="0">
                          <a:solidFill>
                            <a:srgbClr val="000000"/>
                          </a:solidFill>
                          <a:latin typeface="Cambria Math" panose="02040503050406030204" pitchFamily="18" charset="0"/>
                        </a:rPr>
                        <m:t>|</m:t>
                      </m:r>
                      <m:r>
                        <a:rPr lang="pt-BR" altLang="zh-CN" sz="2200" i="1">
                          <a:solidFill>
                            <a:srgbClr val="000000"/>
                          </a:solidFill>
                          <a:latin typeface="Cambria Math" panose="02040503050406030204" pitchFamily="18" charset="0"/>
                        </a:rPr>
                        <m:t>𝐴</m:t>
                      </m:r>
                      <m:r>
                        <a:rPr lang="pt-BR" altLang="zh-CN" sz="2200" i="1">
                          <a:solidFill>
                            <a:srgbClr val="000000"/>
                          </a:solidFill>
                          <a:latin typeface="Cambria Math" panose="02040503050406030204" pitchFamily="18" charset="0"/>
                        </a:rPr>
                        <m:t> </m:t>
                      </m:r>
                      <m:r>
                        <a:rPr lang="pt-BR" altLang="zh-CN" sz="2200" i="1">
                          <a:solidFill>
                            <a:srgbClr val="000000"/>
                          </a:solidFill>
                          <a:latin typeface="Cambria Math" panose="02040503050406030204" pitchFamily="18" charset="0"/>
                        </a:rPr>
                        <m:t>𝑔</m:t>
                      </m:r>
                      <m:r>
                        <a:rPr lang="pt-BR" altLang="zh-CN" sz="2200" i="1">
                          <a:solidFill>
                            <a:srgbClr val="000000"/>
                          </a:solidFill>
                          <a:latin typeface="Cambria Math" panose="02040503050406030204" pitchFamily="18" charset="0"/>
                        </a:rPr>
                        <m:t>.</m:t>
                      </m:r>
                      <m:r>
                        <a:rPr lang="pt-BR" altLang="zh-CN" sz="2200" i="1">
                          <a:solidFill>
                            <a:srgbClr val="000000"/>
                          </a:solidFill>
                          <a:latin typeface="Cambria Math" panose="02040503050406030204" pitchFamily="18" charset="0"/>
                        </a:rPr>
                        <m:t>𝑠</m:t>
                      </m:r>
                      <m:r>
                        <a:rPr lang="pt-BR" altLang="zh-CN" sz="2200" i="1">
                          <a:solidFill>
                            <a:srgbClr val="000000"/>
                          </a:solidFill>
                          <a:latin typeface="Cambria Math" panose="02040503050406030204" pitchFamily="18" charset="0"/>
                        </a:rPr>
                        <m:t>.  </m:t>
                      </m:r>
                      <m:sSup>
                        <m:sSupPr>
                          <m:ctrlPr>
                            <a:rPr lang="pt-BR" altLang="zh-CN" sz="2200" i="1">
                              <a:solidFill>
                                <a:srgbClr val="000000"/>
                              </a:solidFill>
                              <a:latin typeface="Cambria Math" panose="02040503050406030204" pitchFamily="18" charset="0"/>
                            </a:rPr>
                          </m:ctrlPr>
                        </m:sSupPr>
                        <m:e>
                          <m:r>
                            <a:rPr lang="zh-CN" altLang="pt-BR" sz="2200" i="1">
                              <a:solidFill>
                                <a:srgbClr val="000000"/>
                              </a:solidFill>
                              <a:latin typeface="Cambria Math" panose="02040503050406030204" pitchFamily="18" charset="0"/>
                            </a:rPr>
                            <m:t>𝐼</m:t>
                          </m:r>
                        </m:e>
                        <m:sup>
                          <m:r>
                            <a:rPr lang="zh-CN" altLang="pt-BR" sz="2200" i="1">
                              <a:solidFill>
                                <a:srgbClr val="000000"/>
                              </a:solidFill>
                              <a:latin typeface="Cambria Math" panose="02040503050406030204" pitchFamily="18" charset="0"/>
                            </a:rPr>
                            <m:t>𝜋</m:t>
                          </m:r>
                        </m:sup>
                      </m:sSup>
                      <m:r>
                        <a:rPr lang="en-US" altLang="zh-CN" sz="2200" b="0" i="1" smtClean="0">
                          <a:solidFill>
                            <a:srgbClr val="000000"/>
                          </a:solidFill>
                          <a:latin typeface="Cambria Math" panose="02040503050406030204" pitchFamily="18" charset="0"/>
                        </a:rPr>
                        <m:t>⟩</m:t>
                      </m:r>
                    </m:oMath>
                  </m:oMathPara>
                </a14:m>
                <a:endParaRPr lang="zh-CN" altLang="zh-CN" dirty="0">
                  <a:effectLst/>
                </a:endParaRPr>
              </a:p>
            </p:txBody>
          </p:sp>
        </mc:Choice>
        <mc:Fallback>
          <p:sp>
            <p:nvSpPr>
              <p:cNvPr id="16" name="文本框 15">
                <a:extLst>
                  <a:ext uri="{FF2B5EF4-FFF2-40B4-BE49-F238E27FC236}">
                    <a16:creationId xmlns:a16="http://schemas.microsoft.com/office/drawing/2014/main" id="{BB45FA38-ABED-42F8-96B1-47701E56691B}"/>
                  </a:ext>
                </a:extLst>
              </p:cNvPr>
              <p:cNvSpPr txBox="1">
                <a:spLocks noRot="1" noChangeAspect="1" noMove="1" noResize="1" noEditPoints="1" noAdjustHandles="1" noChangeArrowheads="1" noChangeShapeType="1" noTextEdit="1"/>
              </p:cNvSpPr>
              <p:nvPr/>
            </p:nvSpPr>
            <p:spPr>
              <a:xfrm>
                <a:off x="1068116" y="4050355"/>
                <a:ext cx="9401168" cy="1079911"/>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2843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70803-448C-837F-19A5-7DEA740B2FC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AFAAB94-5C34-8CBE-648C-76C56EFEB5B7}"/>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7864469C-7CF8-93D3-368C-915C0B052C19}"/>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48E2B46A-15B0-02F7-747B-B89B26769716}"/>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95C0BA85-1AFE-BACC-8ABC-8A25240E0050}"/>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AFF58624-3F2A-25F4-EFF4-F93E12F3ED17}"/>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5</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C2CDC162-4049-9E3B-D7C2-FE59BC3CBEFE}"/>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97A76A27-00C3-6643-C551-8C114D59833E}"/>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B1BE8023-D4BD-80D5-9B5D-0F685BB731A3}"/>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18C9F26F-5F12-B29B-423D-DB4DD2DA9952}"/>
              </a:ext>
            </a:extLst>
          </p:cNvPr>
          <p:cNvSpPr txBox="1"/>
          <p:nvPr/>
        </p:nvSpPr>
        <p:spPr>
          <a:xfrm>
            <a:off x="82982" y="66597"/>
            <a:ext cx="6104466" cy="523220"/>
          </a:xfrm>
          <a:prstGeom prst="rect">
            <a:avLst/>
          </a:prstGeom>
          <a:noFill/>
        </p:spPr>
        <p:txBody>
          <a:bodyPr wrap="square">
            <a:spAutoFit/>
          </a:bodyPr>
          <a:lstStyle/>
          <a:p>
            <a:r>
              <a:rPr lang="en-US" altLang="zh-CN" sz="2800" dirty="0">
                <a:solidFill>
                  <a:srgbClr val="FFFFFF"/>
                </a:solidFill>
                <a:latin typeface="LMSans12-Regular"/>
                <a:ea typeface="等线" panose="02010600030101010101" pitchFamily="2" charset="-122"/>
              </a:rPr>
              <a:t>PT-violating interaction</a:t>
            </a:r>
            <a:endParaRPr lang="zh-CN" altLang="en-US" dirty="0"/>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092D24EC-64B2-E495-12EF-4CAF267FB3AD}"/>
                  </a:ext>
                </a:extLst>
              </p:cNvPr>
              <p:cNvSpPr txBox="1"/>
              <p:nvPr/>
            </p:nvSpPr>
            <p:spPr>
              <a:xfrm>
                <a:off x="77808" y="762527"/>
                <a:ext cx="12031210" cy="3347776"/>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altLang="zh-CN" sz="2400" b="0" i="0" dirty="0">
                    <a:solidFill>
                      <a:srgbClr val="000000"/>
                    </a:solidFill>
                    <a:effectLst/>
                    <a:latin typeface="CMR10"/>
                  </a:rPr>
                  <a:t>The PTV NN interaction admixes unnatural parity states in the ground state</a:t>
                </a:r>
                <a:r>
                  <a:rPr lang="en-US" altLang="zh-CN" sz="2400" dirty="0">
                    <a:latin typeface="Cambria" panose="02040503050406030204" pitchFamily="18" charset="0"/>
                    <a:ea typeface="Cambria" panose="02040503050406030204" pitchFamily="18" charset="0"/>
                  </a:rPr>
                  <a:t>:</a:t>
                </a:r>
              </a:p>
              <a:p>
                <a:pPr marL="342900" indent="-342900">
                  <a:lnSpc>
                    <a:spcPct val="200000"/>
                  </a:lnSpc>
                  <a:buFont typeface="Wingdings" panose="05000000000000000000" pitchFamily="2" charset="2"/>
                  <a:buChar char="Ø"/>
                </a:pPr>
                <a:endParaRPr lang="en-US" altLang="zh-CN" sz="2400" dirty="0">
                  <a:latin typeface="Cambria" panose="02040503050406030204" pitchFamily="18" charset="0"/>
                  <a:ea typeface="Cambria" panose="02040503050406030204" pitchFamily="18" charset="0"/>
                </a:endParaRPr>
              </a:p>
              <a:p>
                <a:pPr marL="342900" indent="-342900">
                  <a:lnSpc>
                    <a:spcPct val="200000"/>
                  </a:lnSpc>
                  <a:buFont typeface="Wingdings" panose="05000000000000000000" pitchFamily="2" charset="2"/>
                  <a:buChar char="Ø"/>
                </a:pPr>
                <a:endParaRPr lang="en-US" altLang="zh-CN" sz="2400" dirty="0">
                  <a:latin typeface="Cambria" panose="02040503050406030204" pitchFamily="18" charset="0"/>
                  <a:ea typeface="Cambria" panose="02040503050406030204" pitchFamily="18" charset="0"/>
                </a:endParaRPr>
              </a:p>
              <a:p>
                <a:pPr marL="342900" indent="-342900">
                  <a:lnSpc>
                    <a:spcPct val="150000"/>
                  </a:lnSpc>
                  <a:buFont typeface="Wingdings" panose="05000000000000000000" pitchFamily="2" charset="2"/>
                  <a:buChar char="Ø"/>
                </a:pPr>
                <a:r>
                  <a:rPr lang="en-US" altLang="zh-CN" sz="2400" dirty="0">
                    <a:latin typeface="Cambria" panose="02040503050406030204" pitchFamily="18" charset="0"/>
                    <a:ea typeface="Cambria" panose="02040503050406030204" pitchFamily="18" charset="0"/>
                  </a:rPr>
                  <a:t>The PV-violating interaction is constructed by one-meson-exchange model with </a:t>
                </a:r>
                <a14:m>
                  <m:oMath xmlns:m="http://schemas.openxmlformats.org/officeDocument/2006/math">
                    <m:r>
                      <a:rPr lang="en-US" altLang="zh-CN" sz="2400" b="0" i="1" smtClean="0">
                        <a:latin typeface="Cambria Math" panose="02040503050406030204" pitchFamily="18" charset="0"/>
                        <a:ea typeface="Cambria" panose="02040503050406030204" pitchFamily="18" charset="0"/>
                      </a:rPr>
                      <m:t>𝜋</m:t>
                    </m:r>
                    <m:r>
                      <a:rPr lang="en-US" altLang="zh-CN" sz="2400" b="0" i="1" smtClean="0">
                        <a:latin typeface="Cambria Math" panose="02040503050406030204" pitchFamily="18" charset="0"/>
                        <a:ea typeface="Cambria" panose="02040503050406030204" pitchFamily="18" charset="0"/>
                      </a:rPr>
                      <m:t>, </m:t>
                    </m:r>
                    <m:r>
                      <a:rPr lang="en-US" altLang="zh-CN" sz="2400" b="0" i="1" smtClean="0">
                        <a:latin typeface="Cambria Math" panose="02040503050406030204" pitchFamily="18" charset="0"/>
                        <a:ea typeface="Cambria" panose="02040503050406030204" pitchFamily="18" charset="0"/>
                      </a:rPr>
                      <m:t>𝜌</m:t>
                    </m:r>
                    <m:r>
                      <a:rPr lang="en-US" altLang="zh-CN" sz="2400" b="0" i="1" smtClean="0">
                        <a:latin typeface="Cambria Math" panose="02040503050406030204" pitchFamily="18" charset="0"/>
                        <a:ea typeface="Cambria" panose="02040503050406030204" pitchFamily="18" charset="0"/>
                      </a:rPr>
                      <m:t> </m:t>
                    </m:r>
                    <m:r>
                      <a:rPr lang="en-US" altLang="zh-CN" sz="2400" b="0" i="1" smtClean="0">
                        <a:latin typeface="Cambria Math" panose="02040503050406030204" pitchFamily="18" charset="0"/>
                        <a:ea typeface="Cambria" panose="02040503050406030204" pitchFamily="18" charset="0"/>
                      </a:rPr>
                      <m:t>𝑎𝑛𝑑</m:t>
                    </m:r>
                    <m:r>
                      <a:rPr lang="en-US" altLang="zh-CN" sz="2400" b="0" i="1" smtClean="0">
                        <a:latin typeface="Cambria Math" panose="02040503050406030204" pitchFamily="18" charset="0"/>
                        <a:ea typeface="Cambria" panose="02040503050406030204" pitchFamily="18" charset="0"/>
                      </a:rPr>
                      <m:t> </m:t>
                    </m:r>
                    <m:r>
                      <a:rPr lang="en-US" altLang="zh-CN" sz="2400" b="0" i="1" smtClean="0">
                        <a:latin typeface="Cambria Math" panose="02040503050406030204" pitchFamily="18" charset="0"/>
                        <a:ea typeface="Cambria" panose="02040503050406030204" pitchFamily="18" charset="0"/>
                      </a:rPr>
                      <m:t>𝜔</m:t>
                    </m:r>
                  </m:oMath>
                </a14:m>
                <a:r>
                  <a:rPr lang="en-US" altLang="zh-CN" sz="2400" dirty="0">
                    <a:latin typeface="Cambria" panose="02040503050406030204" pitchFamily="18" charset="0"/>
                    <a:ea typeface="Cambria" panose="02040503050406030204" pitchFamily="18" charset="0"/>
                  </a:rPr>
                  <a:t> freedom.</a:t>
                </a:r>
              </a:p>
            </p:txBody>
          </p:sp>
        </mc:Choice>
        <mc:Fallback>
          <p:sp>
            <p:nvSpPr>
              <p:cNvPr id="3" name="文本框 2">
                <a:extLst>
                  <a:ext uri="{FF2B5EF4-FFF2-40B4-BE49-F238E27FC236}">
                    <a16:creationId xmlns:a16="http://schemas.microsoft.com/office/drawing/2014/main" id="{092D24EC-64B2-E495-12EF-4CAF267FB3AD}"/>
                  </a:ext>
                </a:extLst>
              </p:cNvPr>
              <p:cNvSpPr txBox="1">
                <a:spLocks noRot="1" noChangeAspect="1" noMove="1" noResize="1" noEditPoints="1" noAdjustHandles="1" noChangeArrowheads="1" noChangeShapeType="1" noTextEdit="1"/>
              </p:cNvSpPr>
              <p:nvPr/>
            </p:nvSpPr>
            <p:spPr>
              <a:xfrm>
                <a:off x="77808" y="762527"/>
                <a:ext cx="12031210" cy="3347776"/>
              </a:xfrm>
              <a:prstGeom prst="rect">
                <a:avLst/>
              </a:prstGeom>
              <a:blipFill>
                <a:blip r:embed="rId5"/>
                <a:stretch>
                  <a:fillRect l="-710" b="-327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D26FD79A-5D17-562B-8572-E2F49F608DB9}"/>
                  </a:ext>
                </a:extLst>
              </p:cNvPr>
              <p:cNvSpPr txBox="1"/>
              <p:nvPr/>
            </p:nvSpPr>
            <p:spPr>
              <a:xfrm>
                <a:off x="1486671" y="1810547"/>
                <a:ext cx="9217523" cy="821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200" i="1">
                              <a:latin typeface="Cambria Math" panose="02040503050406030204" pitchFamily="18" charset="0"/>
                            </a:rPr>
                          </m:ctrlPr>
                        </m:dPr>
                        <m:e>
                          <m:r>
                            <m:rPr>
                              <m:sty m:val="p"/>
                            </m:rPr>
                            <a:rPr lang="en-US" altLang="zh-CN" sz="2200">
                              <a:latin typeface="Cambria Math" panose="02040503050406030204" pitchFamily="18" charset="0"/>
                            </a:rPr>
                            <m:t>A</m:t>
                          </m:r>
                          <m:r>
                            <a:rPr lang="en-US" altLang="zh-CN" sz="2200">
                              <a:latin typeface="Cambria Math" panose="02040503050406030204" pitchFamily="18" charset="0"/>
                            </a:rPr>
                            <m:t> </m:t>
                          </m:r>
                          <m:r>
                            <m:rPr>
                              <m:sty m:val="p"/>
                            </m:rPr>
                            <a:rPr lang="en-US" altLang="zh-CN" sz="2200">
                              <a:latin typeface="Cambria Math" panose="02040503050406030204" pitchFamily="18" charset="0"/>
                            </a:rPr>
                            <m:t>g</m:t>
                          </m:r>
                          <m:r>
                            <a:rPr lang="en-US" altLang="zh-CN" sz="2200" i="1">
                              <a:latin typeface="Cambria Math" panose="02040503050406030204" pitchFamily="18" charset="0"/>
                            </a:rPr>
                            <m:t>.</m:t>
                          </m:r>
                          <m:r>
                            <m:rPr>
                              <m:sty m:val="p"/>
                            </m:rPr>
                            <a:rPr lang="en-US" altLang="zh-CN" sz="2200">
                              <a:latin typeface="Cambria Math" panose="02040503050406030204" pitchFamily="18" charset="0"/>
                            </a:rPr>
                            <m:t>s</m:t>
                          </m:r>
                          <m:r>
                            <a:rPr lang="en-US" altLang="zh-CN" sz="2200">
                              <a:latin typeface="Cambria Math" panose="02040503050406030204" pitchFamily="18" charset="0"/>
                            </a:rPr>
                            <m:t>. </m:t>
                          </m:r>
                          <m:r>
                            <a:rPr lang="en-US" altLang="zh-CN" sz="2200" i="1">
                              <a:latin typeface="Cambria Math" panose="02040503050406030204" pitchFamily="18" charset="0"/>
                            </a:rPr>
                            <m:t> </m:t>
                          </m:r>
                          <m:r>
                            <a:rPr lang="en-US" altLang="zh-CN" sz="2200" i="1">
                              <a:latin typeface="Cambria Math" panose="02040503050406030204" pitchFamily="18" charset="0"/>
                            </a:rPr>
                            <m:t>𝐼</m:t>
                          </m:r>
                        </m:e>
                      </m:d>
                      <m:r>
                        <a:rPr lang="en-US" altLang="zh-CN" sz="2200">
                          <a:latin typeface="Cambria Math" panose="02040503050406030204" pitchFamily="18" charset="0"/>
                        </a:rPr>
                        <m:t>=</m:t>
                      </m:r>
                      <m:d>
                        <m:dPr>
                          <m:begChr m:val="|"/>
                          <m:endChr m:val="⟩"/>
                          <m:ctrlPr>
                            <a:rPr lang="en-US" altLang="zh-CN" sz="2200" i="1">
                              <a:latin typeface="Cambria Math" panose="02040503050406030204" pitchFamily="18" charset="0"/>
                            </a:rPr>
                          </m:ctrlPr>
                        </m:dPr>
                        <m:e>
                          <m:r>
                            <m:rPr>
                              <m:sty m:val="p"/>
                            </m:rPr>
                            <a:rPr lang="en-US" altLang="zh-CN" sz="2200">
                              <a:latin typeface="Cambria Math" panose="02040503050406030204" pitchFamily="18" charset="0"/>
                            </a:rPr>
                            <m:t>A</m:t>
                          </m:r>
                          <m:r>
                            <a:rPr lang="en-US" altLang="zh-CN" sz="2200">
                              <a:latin typeface="Cambria Math" panose="02040503050406030204" pitchFamily="18" charset="0"/>
                            </a:rPr>
                            <m:t> </m:t>
                          </m:r>
                          <m:r>
                            <m:rPr>
                              <m:sty m:val="p"/>
                            </m:rPr>
                            <a:rPr lang="en-US" altLang="zh-CN" sz="2200">
                              <a:latin typeface="Cambria Math" panose="02040503050406030204" pitchFamily="18" charset="0"/>
                            </a:rPr>
                            <m:t>g</m:t>
                          </m:r>
                          <m:r>
                            <a:rPr lang="en-US" altLang="zh-CN" sz="2200">
                              <a:latin typeface="Cambria Math" panose="02040503050406030204" pitchFamily="18" charset="0"/>
                            </a:rPr>
                            <m:t>.</m:t>
                          </m:r>
                          <m:r>
                            <m:rPr>
                              <m:sty m:val="p"/>
                            </m:rPr>
                            <a:rPr lang="en-US" altLang="zh-CN" sz="2200">
                              <a:latin typeface="Cambria Math" panose="02040503050406030204" pitchFamily="18" charset="0"/>
                            </a:rPr>
                            <m:t>s</m:t>
                          </m:r>
                          <m:r>
                            <a:rPr lang="en-US" altLang="zh-CN" sz="2200">
                              <a:latin typeface="Cambria Math" panose="02040503050406030204" pitchFamily="18" charset="0"/>
                            </a:rPr>
                            <m:t>.  </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𝐼</m:t>
                              </m:r>
                            </m:e>
                            <m:sup>
                              <m:r>
                                <a:rPr lang="en-US" altLang="zh-CN" sz="2200" i="1">
                                  <a:latin typeface="Cambria Math" panose="02040503050406030204" pitchFamily="18" charset="0"/>
                                </a:rPr>
                                <m:t>𝜋</m:t>
                              </m:r>
                            </m:sup>
                          </m:sSup>
                        </m:e>
                      </m:d>
                      <m:r>
                        <a:rPr lang="en-US" altLang="zh-CN" sz="2200">
                          <a:latin typeface="Cambria Math" panose="02040503050406030204" pitchFamily="18" charset="0"/>
                        </a:rPr>
                        <m:t>+</m:t>
                      </m:r>
                      <m:nary>
                        <m:naryPr>
                          <m:chr m:val="∑"/>
                          <m:supHide m:val="on"/>
                          <m:ctrlPr>
                            <a:rPr lang="en-US" altLang="zh-CN" sz="2200" i="1">
                              <a:latin typeface="Cambria Math" panose="02040503050406030204" pitchFamily="18" charset="0"/>
                            </a:rPr>
                          </m:ctrlPr>
                        </m:naryPr>
                        <m:sub>
                          <m:r>
                            <m:rPr>
                              <m:sty m:val="p"/>
                            </m:rPr>
                            <a:rPr lang="en-US" altLang="zh-CN" sz="2200">
                              <a:latin typeface="Cambria Math" panose="02040503050406030204" pitchFamily="18" charset="0"/>
                            </a:rPr>
                            <m:t>λ</m:t>
                          </m:r>
                        </m:sub>
                        <m:sup/>
                        <m:e>
                          <m:d>
                            <m:dPr>
                              <m:begChr m:val="|"/>
                              <m:endChr m:val="⟩"/>
                              <m:ctrlPr>
                                <a:rPr lang="en-US" altLang="zh-CN" sz="2200" i="1">
                                  <a:latin typeface="Cambria Math" panose="02040503050406030204" pitchFamily="18" charset="0"/>
                                </a:rPr>
                              </m:ctrlPr>
                            </m:dPr>
                            <m:e>
                              <m:r>
                                <m:rPr>
                                  <m:sty m:val="p"/>
                                </m:rPr>
                                <a:rPr lang="en-US" altLang="zh-CN" sz="2200">
                                  <a:latin typeface="Cambria Math" panose="02040503050406030204" pitchFamily="18" charset="0"/>
                                </a:rPr>
                                <m:t>A</m:t>
                              </m:r>
                              <m:r>
                                <a:rPr lang="en-US" altLang="zh-CN" sz="2200">
                                  <a:latin typeface="Cambria Math" panose="02040503050406030204" pitchFamily="18" charset="0"/>
                                </a:rPr>
                                <m:t> </m:t>
                              </m:r>
                              <m:r>
                                <m:rPr>
                                  <m:sty m:val="p"/>
                                </m:rPr>
                                <a:rPr lang="en-US" altLang="zh-CN" sz="2200">
                                  <a:latin typeface="Cambria Math" panose="02040503050406030204" pitchFamily="18" charset="0"/>
                                </a:rPr>
                                <m:t>λ</m:t>
                              </m:r>
                              <m:r>
                                <a:rPr lang="en-US" altLang="zh-CN" sz="2200">
                                  <a:latin typeface="Cambria Math" panose="02040503050406030204" pitchFamily="18" charset="0"/>
                                </a:rPr>
                                <m:t> </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𝐼</m:t>
                                  </m:r>
                                </m:e>
                                <m:sup>
                                  <m:r>
                                    <a:rPr lang="en-US" altLang="zh-CN" sz="2200" i="1">
                                      <a:latin typeface="Cambria Math" panose="02040503050406030204" pitchFamily="18" charset="0"/>
                                    </a:rPr>
                                    <m:t>−</m:t>
                                  </m:r>
                                  <m:r>
                                    <a:rPr lang="en-US" altLang="zh-CN" sz="2200" i="1">
                                      <a:latin typeface="Cambria Math" panose="02040503050406030204" pitchFamily="18" charset="0"/>
                                    </a:rPr>
                                    <m:t>𝜋</m:t>
                                  </m:r>
                                  <m:r>
                                    <a:rPr lang="en-US" altLang="zh-CN" sz="2200" i="1">
                                      <a:latin typeface="Cambria Math" panose="02040503050406030204" pitchFamily="18" charset="0"/>
                                    </a:rPr>
                                    <m:t> </m:t>
                                  </m:r>
                                </m:sup>
                              </m:sSup>
                            </m:e>
                          </m:d>
                          <m:r>
                            <a:rPr lang="en-US" altLang="zh-CN" sz="2200">
                              <a:latin typeface="Cambria Math" panose="02040503050406030204" pitchFamily="18" charset="0"/>
                            </a:rPr>
                            <m:t>×</m:t>
                          </m:r>
                        </m:e>
                      </m:nary>
                      <m:f>
                        <m:fPr>
                          <m:ctrlPr>
                            <a:rPr lang="en-US" altLang="zh-CN" sz="2200" i="1">
                              <a:latin typeface="Cambria Math" panose="02040503050406030204" pitchFamily="18" charset="0"/>
                            </a:rPr>
                          </m:ctrlPr>
                        </m:fPr>
                        <m:num>
                          <m:r>
                            <a:rPr lang="en-US" altLang="zh-CN" sz="2200">
                              <a:latin typeface="Cambria Math" panose="02040503050406030204" pitchFamily="18" charset="0"/>
                            </a:rPr>
                            <m:t>1</m:t>
                          </m:r>
                        </m:num>
                        <m:den>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𝐸</m:t>
                              </m:r>
                            </m:e>
                            <m:sub>
                              <m:r>
                                <a:rPr lang="en-US" altLang="zh-CN" sz="2200" i="1">
                                  <a:latin typeface="Cambria Math" panose="02040503050406030204" pitchFamily="18" charset="0"/>
                                </a:rPr>
                                <m:t>𝑔</m:t>
                              </m:r>
                              <m:r>
                                <a:rPr lang="en-US" altLang="zh-CN" sz="2200" i="1">
                                  <a:latin typeface="Cambria Math" panose="02040503050406030204" pitchFamily="18" charset="0"/>
                                </a:rPr>
                                <m:t>.</m:t>
                              </m:r>
                              <m:r>
                                <a:rPr lang="en-US" altLang="zh-CN" sz="2200" i="1">
                                  <a:latin typeface="Cambria Math" panose="02040503050406030204" pitchFamily="18" charset="0"/>
                                </a:rPr>
                                <m:t>𝑠</m:t>
                              </m:r>
                              <m:r>
                                <a:rPr lang="en-US" altLang="zh-CN" sz="2200" i="1">
                                  <a:latin typeface="Cambria Math" panose="02040503050406030204" pitchFamily="18" charset="0"/>
                                </a:rPr>
                                <m:t>.</m:t>
                              </m:r>
                            </m:sub>
                            <m:sup>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𝐼</m:t>
                                  </m:r>
                                </m:e>
                                <m:sup>
                                  <m:r>
                                    <a:rPr lang="en-US" altLang="zh-CN" sz="2200" i="1">
                                      <a:latin typeface="Cambria Math" panose="02040503050406030204" pitchFamily="18" charset="0"/>
                                    </a:rPr>
                                    <m:t>𝜋</m:t>
                                  </m:r>
                                </m:sup>
                              </m:sSup>
                            </m:sup>
                          </m:sSubSup>
                          <m:r>
                            <a:rPr lang="en-US" altLang="zh-CN" sz="2200" i="1">
                              <a:latin typeface="Cambria Math" panose="02040503050406030204" pitchFamily="18" charset="0"/>
                            </a:rPr>
                            <m:t> −</m:t>
                          </m:r>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𝐸</m:t>
                              </m:r>
                            </m:e>
                            <m:sub>
                              <m:r>
                                <a:rPr lang="en-US" altLang="zh-CN" sz="2200" i="1">
                                  <a:latin typeface="Cambria Math" panose="02040503050406030204" pitchFamily="18" charset="0"/>
                                </a:rPr>
                                <m:t>𝜆</m:t>
                              </m:r>
                            </m:sub>
                            <m:sup>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𝐼</m:t>
                                  </m:r>
                                </m:e>
                                <m:sup>
                                  <m:r>
                                    <a:rPr lang="en-US" altLang="zh-CN" sz="2200" i="1">
                                      <a:latin typeface="Cambria Math" panose="02040503050406030204" pitchFamily="18" charset="0"/>
                                    </a:rPr>
                                    <m:t>−</m:t>
                                  </m:r>
                                  <m:r>
                                    <a:rPr lang="en-US" altLang="zh-CN" sz="2200" i="1">
                                      <a:latin typeface="Cambria Math" panose="02040503050406030204" pitchFamily="18" charset="0"/>
                                    </a:rPr>
                                    <m:t>𝜋</m:t>
                                  </m:r>
                                </m:sup>
                              </m:sSup>
                            </m:sup>
                          </m:sSubSup>
                        </m:den>
                      </m:f>
                      <m:d>
                        <m:dPr>
                          <m:begChr m:val="⟨"/>
                          <m:endChr m:val="⟩"/>
                          <m:ctrlPr>
                            <a:rPr lang="en-US" altLang="zh-CN" sz="2200" i="1">
                              <a:latin typeface="Cambria Math" panose="02040503050406030204" pitchFamily="18" charset="0"/>
                            </a:rPr>
                          </m:ctrlPr>
                        </m:dPr>
                        <m:e>
                          <m:r>
                            <m:rPr>
                              <m:sty m:val="p"/>
                            </m:rPr>
                            <a:rPr lang="en-US" altLang="zh-CN" sz="2200">
                              <a:latin typeface="Cambria Math" panose="02040503050406030204" pitchFamily="18" charset="0"/>
                            </a:rPr>
                            <m:t>A</m:t>
                          </m:r>
                          <m:r>
                            <a:rPr lang="en-US" altLang="zh-CN" sz="2200">
                              <a:latin typeface="Cambria Math" panose="02040503050406030204" pitchFamily="18" charset="0"/>
                            </a:rPr>
                            <m:t> </m:t>
                          </m:r>
                          <m:r>
                            <m:rPr>
                              <m:sty m:val="p"/>
                            </m:rPr>
                            <a:rPr lang="en-US" altLang="zh-CN" sz="2200">
                              <a:latin typeface="Cambria Math" panose="02040503050406030204" pitchFamily="18" charset="0"/>
                            </a:rPr>
                            <m:t>λ</m:t>
                          </m:r>
                          <m:r>
                            <a:rPr lang="en-US" altLang="zh-CN" sz="2200">
                              <a:latin typeface="Cambria Math" panose="02040503050406030204" pitchFamily="18" charset="0"/>
                            </a:rPr>
                            <m:t> </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𝐼</m:t>
                              </m:r>
                            </m:e>
                            <m:sup>
                              <m:r>
                                <a:rPr lang="en-US" altLang="zh-CN" sz="2200" i="1">
                                  <a:latin typeface="Cambria Math" panose="02040503050406030204" pitchFamily="18" charset="0"/>
                                </a:rPr>
                                <m:t>−</m:t>
                              </m:r>
                              <m:r>
                                <a:rPr lang="en-US" altLang="zh-CN" sz="2200" i="1">
                                  <a:latin typeface="Cambria Math" panose="02040503050406030204" pitchFamily="18" charset="0"/>
                                </a:rPr>
                                <m:t>𝜋</m:t>
                              </m:r>
                            </m:sup>
                          </m:sSup>
                          <m:d>
                            <m:dPr>
                              <m:begChr m:val="|"/>
                              <m:endChr m:val="|"/>
                              <m:ctrlPr>
                                <a:rPr lang="en-US" altLang="zh-CN" sz="2200" i="1">
                                  <a:latin typeface="Cambria Math" panose="02040503050406030204" pitchFamily="18" charset="0"/>
                                </a:rPr>
                              </m:ctrlPr>
                            </m:dPr>
                            <m:e>
                              <m:sSubSup>
                                <m:sSubSupPr>
                                  <m:ctrlPr>
                                    <a:rPr lang="en-US" altLang="zh-CN" sz="2200" i="1">
                                      <a:latin typeface="Cambria Math" panose="02040503050406030204" pitchFamily="18" charset="0"/>
                                    </a:rPr>
                                  </m:ctrlPr>
                                </m:sSubSupPr>
                                <m:e>
                                  <m:r>
                                    <m:rPr>
                                      <m:sty m:val="p"/>
                                    </m:rPr>
                                    <a:rPr lang="en-US" altLang="zh-CN" sz="2200">
                                      <a:latin typeface="Cambria Math" panose="02040503050406030204" pitchFamily="18" charset="0"/>
                                    </a:rPr>
                                    <m:t>V</m:t>
                                  </m:r>
                                </m:e>
                                <m:sub>
                                  <m:r>
                                    <m:rPr>
                                      <m:sty m:val="p"/>
                                    </m:rPr>
                                    <a:rPr lang="en-US" altLang="zh-CN" sz="2200">
                                      <a:latin typeface="Cambria Math" panose="02040503050406030204" pitchFamily="18" charset="0"/>
                                    </a:rPr>
                                    <m:t>NN</m:t>
                                  </m:r>
                                </m:sub>
                                <m:sup>
                                  <m:r>
                                    <m:rPr>
                                      <m:sty m:val="p"/>
                                    </m:rPr>
                                    <a:rPr lang="en-US" altLang="zh-CN" sz="2200">
                                      <a:latin typeface="Cambria Math" panose="02040503050406030204" pitchFamily="18" charset="0"/>
                                    </a:rPr>
                                    <m:t>PTV</m:t>
                                  </m:r>
                                </m:sup>
                              </m:sSubSup>
                            </m:e>
                          </m:d>
                          <m:r>
                            <m:rPr>
                              <m:sty m:val="p"/>
                            </m:rPr>
                            <a:rPr lang="en-US" altLang="zh-CN" sz="2200">
                              <a:latin typeface="Cambria Math" panose="02040503050406030204" pitchFamily="18" charset="0"/>
                            </a:rPr>
                            <m:t>A</m:t>
                          </m:r>
                          <m:r>
                            <a:rPr lang="en-US" altLang="zh-CN" sz="2200">
                              <a:latin typeface="Cambria Math" panose="02040503050406030204" pitchFamily="18" charset="0"/>
                            </a:rPr>
                            <m:t> </m:t>
                          </m:r>
                          <m:r>
                            <m:rPr>
                              <m:sty m:val="p"/>
                            </m:rPr>
                            <a:rPr lang="en-US" altLang="zh-CN" sz="2200">
                              <a:latin typeface="Cambria Math" panose="02040503050406030204" pitchFamily="18" charset="0"/>
                            </a:rPr>
                            <m:t>g</m:t>
                          </m:r>
                          <m:r>
                            <a:rPr lang="en-US" altLang="zh-CN" sz="2200">
                              <a:latin typeface="Cambria Math" panose="02040503050406030204" pitchFamily="18" charset="0"/>
                            </a:rPr>
                            <m:t>.</m:t>
                          </m:r>
                          <m:r>
                            <m:rPr>
                              <m:sty m:val="p"/>
                            </m:rPr>
                            <a:rPr lang="en-US" altLang="zh-CN" sz="2200">
                              <a:latin typeface="Cambria Math" panose="02040503050406030204" pitchFamily="18" charset="0"/>
                            </a:rPr>
                            <m:t>s</m:t>
                          </m:r>
                          <m:r>
                            <a:rPr lang="en-US" altLang="zh-CN" sz="2200">
                              <a:latin typeface="Cambria Math" panose="02040503050406030204" pitchFamily="18" charset="0"/>
                            </a:rPr>
                            <m:t>.  </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𝐼</m:t>
                              </m:r>
                            </m:e>
                            <m:sup>
                              <m:r>
                                <a:rPr lang="en-US" altLang="zh-CN" sz="2200" i="1">
                                  <a:latin typeface="Cambria Math" panose="02040503050406030204" pitchFamily="18" charset="0"/>
                                </a:rPr>
                                <m:t>𝜋</m:t>
                              </m:r>
                            </m:sup>
                          </m:sSup>
                        </m:e>
                      </m:d>
                    </m:oMath>
                  </m:oMathPara>
                </a14:m>
                <a:endParaRPr lang="zh-CN" altLang="en-US" sz="2200" dirty="0"/>
              </a:p>
            </p:txBody>
          </p:sp>
        </mc:Choice>
        <mc:Fallback>
          <p:sp>
            <p:nvSpPr>
              <p:cNvPr id="11" name="文本框 10">
                <a:extLst>
                  <a:ext uri="{FF2B5EF4-FFF2-40B4-BE49-F238E27FC236}">
                    <a16:creationId xmlns:a16="http://schemas.microsoft.com/office/drawing/2014/main" id="{D26FD79A-5D17-562B-8572-E2F49F608DB9}"/>
                  </a:ext>
                </a:extLst>
              </p:cNvPr>
              <p:cNvSpPr txBox="1">
                <a:spLocks noRot="1" noChangeAspect="1" noMove="1" noResize="1" noEditPoints="1" noAdjustHandles="1" noChangeArrowheads="1" noChangeShapeType="1" noTextEdit="1"/>
              </p:cNvSpPr>
              <p:nvPr/>
            </p:nvSpPr>
            <p:spPr>
              <a:xfrm>
                <a:off x="1486671" y="1810547"/>
                <a:ext cx="9217523" cy="821507"/>
              </a:xfrm>
              <a:prstGeom prst="rect">
                <a:avLst/>
              </a:prstGeom>
              <a:blipFill>
                <a:blip r:embed="rId6"/>
                <a:stretch>
                  <a:fillRect/>
                </a:stretch>
              </a:blipFill>
            </p:spPr>
            <p:txBody>
              <a:bodyPr/>
              <a:lstStyle/>
              <a:p>
                <a:r>
                  <a:rPr lang="zh-CN" altLang="en-US">
                    <a:noFill/>
                  </a:rPr>
                  <a:t> </a:t>
                </a:r>
              </a:p>
            </p:txBody>
          </p:sp>
        </mc:Fallback>
      </mc:AlternateContent>
      <p:grpSp>
        <p:nvGrpSpPr>
          <p:cNvPr id="16" name="组合 15">
            <a:extLst>
              <a:ext uri="{FF2B5EF4-FFF2-40B4-BE49-F238E27FC236}">
                <a16:creationId xmlns:a16="http://schemas.microsoft.com/office/drawing/2014/main" id="{A343772B-DE19-FA7B-0F51-E9825411D6FC}"/>
              </a:ext>
            </a:extLst>
          </p:cNvPr>
          <p:cNvGrpSpPr/>
          <p:nvPr/>
        </p:nvGrpSpPr>
        <p:grpSpPr>
          <a:xfrm>
            <a:off x="166210" y="4237830"/>
            <a:ext cx="11854406" cy="1857643"/>
            <a:chOff x="65316" y="4189051"/>
            <a:chExt cx="11854406" cy="1857643"/>
          </a:xfrm>
        </p:grpSpPr>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37A5FF27-1A4A-5870-3867-2595EE38A717}"/>
                    </a:ext>
                  </a:extLst>
                </p:cNvPr>
                <p:cNvSpPr txBox="1"/>
                <p:nvPr/>
              </p:nvSpPr>
              <p:spPr>
                <a:xfrm>
                  <a:off x="474388" y="4189051"/>
                  <a:ext cx="7589193" cy="57823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𝑁𝑁</m:t>
                            </m:r>
                          </m:sub>
                          <m:sup>
                            <m:r>
                              <a:rPr lang="en-US" altLang="zh-CN" sz="2000" b="0" i="1" smtClean="0">
                                <a:latin typeface="Cambria Math" panose="02040503050406030204" pitchFamily="18" charset="0"/>
                              </a:rPr>
                              <m:t>𝑃𝑇𝑉</m:t>
                            </m:r>
                          </m:sup>
                        </m:sSub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𝑚</m:t>
                            </m:r>
                          </m:den>
                        </m:f>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𝜎</m:t>
                            </m:r>
                          </m:e>
                          <m:sub>
                            <m:r>
                              <a:rPr lang="en-US" altLang="zh-CN" sz="2000" b="0" i="1" smtClean="0">
                                <a:latin typeface="Cambria Math" panose="02040503050406030204" pitchFamily="18" charset="0"/>
                              </a:rPr>
                              <m:t>−</m:t>
                            </m:r>
                          </m:sub>
                        </m:sSub>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 </m:t>
                            </m:r>
                            <m:sSubSup>
                              <m:sSubSupPr>
                                <m:ctrlPr>
                                  <a:rPr lang="en-US" altLang="zh-CN" sz="2000" b="0" i="0"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𝐺</m:t>
                                    </m:r>
                                  </m:e>
                                </m:acc>
                              </m:e>
                              <m:sub>
                                <m:r>
                                  <a:rPr lang="en-US" altLang="zh-CN" sz="2000" b="0" i="1" smtClean="0">
                                    <a:latin typeface="Cambria Math" panose="02040503050406030204" pitchFamily="18" charset="0"/>
                                  </a:rPr>
                                  <m:t>𝜔</m:t>
                                </m:r>
                              </m:sub>
                              <m:sup>
                                <m:r>
                                  <a:rPr lang="en-US" altLang="zh-CN" sz="2000" b="0" i="0" smtClean="0">
                                    <a:latin typeface="Cambria Math" panose="02040503050406030204" pitchFamily="18" charset="0"/>
                                  </a:rPr>
                                  <m:t>0</m:t>
                                </m:r>
                              </m:sup>
                            </m:sSubSup>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𝜔</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𝑟</m:t>
                                </m:r>
                              </m:e>
                            </m:d>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𝜏</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𝜏</m:t>
                            </m:r>
                          </m:e>
                          <m:sub>
                            <m:r>
                              <a:rPr lang="en-US" altLang="zh-CN" sz="2000" b="0" i="1" smtClean="0">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𝜎</m:t>
                            </m:r>
                          </m:e>
                          <m:sub>
                            <m:r>
                              <a:rPr lang="en-US" altLang="zh-CN" sz="2000" b="0" i="1" smtClean="0">
                                <a:latin typeface="Cambria Math" panose="02040503050406030204" pitchFamily="18" charset="0"/>
                              </a:rPr>
                              <m:t>−</m:t>
                            </m:r>
                          </m:sub>
                        </m:sSub>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m:t>
                        </m:r>
                        <m:d>
                          <m:dPr>
                            <m:ctrlPr>
                              <a:rPr lang="en-US" altLang="zh-CN" sz="2000" b="0" i="0" smtClean="0">
                                <a:latin typeface="Cambria Math" panose="02040503050406030204" pitchFamily="18" charset="0"/>
                              </a:rPr>
                            </m:ctrlPr>
                          </m:dPr>
                          <m:e>
                            <m:sSubSup>
                              <m:sSubSupPr>
                                <m:ctrlPr>
                                  <a:rPr lang="en-US" altLang="zh-CN" sz="2000" i="1">
                                    <a:latin typeface="Cambria Math" panose="02040503050406030204" pitchFamily="18" charset="0"/>
                                  </a:rPr>
                                </m:ctrlPr>
                              </m:sSub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𝐺</m:t>
                                    </m:r>
                                  </m:e>
                                </m:acc>
                              </m:e>
                              <m:sub>
                                <m:r>
                                  <a:rPr lang="en-US" altLang="zh-CN" sz="2000" b="0" i="1" smtClean="0">
                                    <a:latin typeface="Cambria Math" panose="02040503050406030204" pitchFamily="18" charset="0"/>
                                  </a:rPr>
                                  <m:t>𝜋</m:t>
                                </m:r>
                              </m:sub>
                              <m:sup>
                                <m:r>
                                  <a:rPr lang="en-US" altLang="zh-CN" sz="2000">
                                    <a:latin typeface="Cambria Math" panose="02040503050406030204" pitchFamily="18" charset="0"/>
                                  </a:rPr>
                                  <m:t>0</m:t>
                                </m:r>
                              </m:sup>
                            </m:sSub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b="0" i="1" smtClean="0">
                                    <a:latin typeface="Cambria Math" panose="02040503050406030204" pitchFamily="18" charset="0"/>
                                  </a:rPr>
                                  <m:t>𝜋</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𝑟</m:t>
                                </m:r>
                              </m:e>
                            </m:d>
                            <m:r>
                              <a:rPr lang="en-US" altLang="zh-CN" sz="2000" b="0" i="1" smtClean="0">
                                <a:latin typeface="Cambria Math" panose="02040503050406030204" pitchFamily="18" charset="0"/>
                              </a:rPr>
                              <m:t>−</m:t>
                            </m:r>
                            <m:sSubSup>
                              <m:sSubSupPr>
                                <m:ctrlPr>
                                  <a:rPr lang="en-US" altLang="zh-CN" sz="2000" i="1">
                                    <a:latin typeface="Cambria Math" panose="02040503050406030204" pitchFamily="18" charset="0"/>
                                  </a:rPr>
                                </m:ctrlPr>
                              </m:sSub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𝐺</m:t>
                                    </m:r>
                                  </m:e>
                                </m:acc>
                              </m:e>
                              <m:sub>
                                <m:r>
                                  <a:rPr lang="en-US" altLang="zh-CN" sz="2000" b="0" i="1" smtClean="0">
                                    <a:latin typeface="Cambria Math" panose="02040503050406030204" pitchFamily="18" charset="0"/>
                                  </a:rPr>
                                  <m:t>𝜌</m:t>
                                </m:r>
                              </m:sub>
                              <m:sup>
                                <m:r>
                                  <a:rPr lang="en-US" altLang="zh-CN" sz="2000">
                                    <a:latin typeface="Cambria Math" panose="02040503050406030204" pitchFamily="18" charset="0"/>
                                  </a:rPr>
                                  <m:t>0</m:t>
                                </m:r>
                              </m:sup>
                            </m:sSub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b="0" i="1" smtClean="0">
                                    <a:latin typeface="Cambria Math" panose="02040503050406030204" pitchFamily="18" charset="0"/>
                                  </a:rPr>
                                  <m:t>𝜌</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𝑟</m:t>
                                </m:r>
                              </m:e>
                            </m:d>
                          </m:e>
                        </m:d>
                      </m:oMath>
                    </m:oMathPara>
                  </a14:m>
                  <a:endParaRPr lang="zh-CN" altLang="en-US" sz="2000" dirty="0"/>
                </a:p>
              </p:txBody>
            </p:sp>
          </mc:Choice>
          <mc:Fallback>
            <p:sp>
              <p:nvSpPr>
                <p:cNvPr id="12" name="文本框 11">
                  <a:extLst>
                    <a:ext uri="{FF2B5EF4-FFF2-40B4-BE49-F238E27FC236}">
                      <a16:creationId xmlns:a16="http://schemas.microsoft.com/office/drawing/2014/main" id="{37A5FF27-1A4A-5870-3867-2595EE38A717}"/>
                    </a:ext>
                  </a:extLst>
                </p:cNvPr>
                <p:cNvSpPr txBox="1">
                  <a:spLocks noRot="1" noChangeAspect="1" noMove="1" noResize="1" noEditPoints="1" noAdjustHandles="1" noChangeArrowheads="1" noChangeShapeType="1" noTextEdit="1"/>
                </p:cNvSpPr>
                <p:nvPr/>
              </p:nvSpPr>
              <p:spPr>
                <a:xfrm>
                  <a:off x="474388" y="4189051"/>
                  <a:ext cx="7589193" cy="57823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D4C9174C-959E-B7AC-45CC-C1E8F614F029}"/>
                    </a:ext>
                  </a:extLst>
                </p:cNvPr>
                <p:cNvSpPr txBox="1"/>
                <p:nvPr/>
              </p:nvSpPr>
              <p:spPr>
                <a:xfrm>
                  <a:off x="605017" y="4793227"/>
                  <a:ext cx="11314705" cy="668516"/>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 </m:t>
                        </m:r>
                        <m:f>
                          <m:fPr>
                            <m:ctrlPr>
                              <a:rPr lang="en-US" altLang="zh-CN"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1</m:t>
                            </m:r>
                          </m:num>
                          <m:den>
                            <m:r>
                              <a:rPr lang="en-US" altLang="zh-CN" sz="2000" i="1">
                                <a:solidFill>
                                  <a:srgbClr val="000000"/>
                                </a:solidFill>
                                <a:latin typeface="Cambria Math" panose="02040503050406030204" pitchFamily="18" charset="0"/>
                              </a:rPr>
                              <m:t>2</m:t>
                            </m:r>
                          </m:den>
                        </m:f>
                        <m:sSubSup>
                          <m:sSubSupPr>
                            <m:ctrlPr>
                              <a:rPr lang="en-US" altLang="zh-CN" sz="2000" i="1">
                                <a:solidFill>
                                  <a:srgbClr val="000000"/>
                                </a:solidFill>
                                <a:latin typeface="Cambria Math" panose="02040503050406030204" pitchFamily="18" charset="0"/>
                              </a:rPr>
                            </m:ctrlPr>
                          </m:sSubSupPr>
                          <m:e>
                            <m:r>
                              <a:rPr lang="en-US" altLang="zh-CN" sz="2000" i="1">
                                <a:solidFill>
                                  <a:srgbClr val="000000"/>
                                </a:solidFill>
                                <a:latin typeface="Cambria Math" panose="02040503050406030204" pitchFamily="18" charset="0"/>
                              </a:rPr>
                              <m:t>𝜏</m:t>
                            </m:r>
                          </m:e>
                          <m:sub>
                            <m:r>
                              <a:rPr lang="en-US" altLang="zh-CN" sz="2000" i="1">
                                <a:solidFill>
                                  <a:srgbClr val="000000"/>
                                </a:solidFill>
                                <a:latin typeface="Cambria Math" panose="02040503050406030204" pitchFamily="18" charset="0"/>
                              </a:rPr>
                              <m:t>+</m:t>
                            </m:r>
                          </m:sub>
                          <m:sup>
                            <m:r>
                              <a:rPr lang="en-US" altLang="zh-CN" sz="2000" i="1">
                                <a:solidFill>
                                  <a:srgbClr val="000000"/>
                                </a:solidFill>
                                <a:latin typeface="Cambria Math" panose="02040503050406030204" pitchFamily="18" charset="0"/>
                              </a:rPr>
                              <m:t>𝑧</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𝜎</m:t>
                            </m:r>
                          </m:e>
                          <m:sub>
                            <m:r>
                              <a:rPr lang="en-US" altLang="zh-CN" sz="2000" i="1">
                                <a:solidFill>
                                  <a:srgbClr val="000000"/>
                                </a:solidFill>
                                <a:latin typeface="Cambria Math" panose="02040503050406030204" pitchFamily="18" charset="0"/>
                              </a:rPr>
                              <m:t>−</m:t>
                            </m:r>
                          </m:sub>
                        </m:sSub>
                        <m:r>
                          <a:rPr lang="en-US" altLang="zh-CN" sz="2000" i="1">
                            <a:solidFill>
                              <a:srgbClr val="000000"/>
                            </a:solidFill>
                            <a:latin typeface="Cambria Math" panose="02040503050406030204" pitchFamily="18" charset="0"/>
                          </a:rPr>
                          <m:t>⋅</m:t>
                        </m:r>
                        <m:r>
                          <m:rPr>
                            <m:sty m:val="p"/>
                          </m:rPr>
                          <a:rPr lang="en-US" altLang="zh-CN" sz="2000">
                            <a:solidFill>
                              <a:srgbClr val="000000"/>
                            </a:solidFill>
                            <a:latin typeface="Cambria Math" panose="02040503050406030204" pitchFamily="18" charset="0"/>
                          </a:rPr>
                          <m:t>∇</m:t>
                        </m:r>
                        <m:r>
                          <m:rPr>
                            <m:nor/>
                          </m:rPr>
                          <a:rPr lang="en-US" altLang="zh-CN" sz="2000" dirty="0">
                            <a:solidFill>
                              <a:srgbClr val="000000"/>
                            </a:solidFill>
                            <a:latin typeface="等线" panose="02010600030101010101" pitchFamily="2" charset="-122"/>
                          </a:rPr>
                          <m:t> </m:t>
                        </m:r>
                        <m:d>
                          <m:dPr>
                            <m:ctrlPr>
                              <a:rPr lang="en-US" altLang="zh-CN" sz="2000" i="1">
                                <a:solidFill>
                                  <a:srgbClr val="000000"/>
                                </a:solidFill>
                                <a:latin typeface="Cambria Math" panose="02040503050406030204" pitchFamily="18" charset="0"/>
                              </a:rPr>
                            </m:ctrlPr>
                          </m:dPr>
                          <m:e>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𝜋</m:t>
                                </m:r>
                              </m:sub>
                              <m:sup>
                                <m:r>
                                  <a:rPr lang="en-US" altLang="zh-CN" sz="2000">
                                    <a:solidFill>
                                      <a:srgbClr val="000000"/>
                                    </a:solidFill>
                                    <a:latin typeface="Cambria Math" panose="02040503050406030204" pitchFamily="18" charset="0"/>
                                  </a:rPr>
                                  <m:t>1</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𝜋</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r>
                              <a:rPr lang="en-US" altLang="zh-CN" sz="2000" i="1">
                                <a:solidFill>
                                  <a:srgbClr val="000000"/>
                                </a:solidFill>
                                <a:latin typeface="Cambria Math" panose="02040503050406030204" pitchFamily="18" charset="0"/>
                              </a:rPr>
                              <m:t>−</m:t>
                            </m:r>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𝜌</m:t>
                                </m:r>
                              </m:sub>
                              <m:sup>
                                <m:r>
                                  <a:rPr lang="en-US" altLang="zh-CN" sz="2000" i="1">
                                    <a:solidFill>
                                      <a:srgbClr val="000000"/>
                                    </a:solidFill>
                                    <a:latin typeface="Cambria Math" panose="02040503050406030204" pitchFamily="18" charset="0"/>
                                  </a:rPr>
                                  <m:t>1</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𝜌</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r>
                              <a:rPr lang="en-US" altLang="zh-CN" sz="2000" i="1">
                                <a:solidFill>
                                  <a:srgbClr val="000000"/>
                                </a:solidFill>
                                <a:latin typeface="Cambria Math" panose="02040503050406030204" pitchFamily="18" charset="0"/>
                              </a:rPr>
                              <m:t>− </m:t>
                            </m:r>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𝜔</m:t>
                                </m:r>
                              </m:sub>
                              <m:sup>
                                <m:r>
                                  <a:rPr lang="en-US" altLang="zh-CN" sz="2000">
                                    <a:solidFill>
                                      <a:srgbClr val="000000"/>
                                    </a:solidFill>
                                    <a:latin typeface="Cambria Math" panose="02040503050406030204" pitchFamily="18" charset="0"/>
                                  </a:rPr>
                                  <m:t>1</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𝜔</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e>
                        </m:d>
                        <m:r>
                          <a:rPr lang="en-US" altLang="zh-CN" sz="2000" i="1">
                            <a:solidFill>
                              <a:srgbClr val="000000"/>
                            </a:solidFill>
                            <a:latin typeface="Cambria Math" panose="02040503050406030204" pitchFamily="18" charset="0"/>
                          </a:rPr>
                          <m:t>+</m:t>
                        </m:r>
                        <m:f>
                          <m:fPr>
                            <m:ctrlPr>
                              <a:rPr lang="en-US" altLang="zh-CN"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1</m:t>
                            </m:r>
                          </m:num>
                          <m:den>
                            <m:r>
                              <a:rPr lang="en-US" altLang="zh-CN" sz="2000" i="1">
                                <a:solidFill>
                                  <a:srgbClr val="000000"/>
                                </a:solidFill>
                                <a:latin typeface="Cambria Math" panose="02040503050406030204" pitchFamily="18" charset="0"/>
                              </a:rPr>
                              <m:t>2</m:t>
                            </m:r>
                          </m:den>
                        </m:f>
                        <m:sSubSup>
                          <m:sSubSupPr>
                            <m:ctrlPr>
                              <a:rPr lang="en-US" altLang="zh-CN" sz="2000" i="1">
                                <a:solidFill>
                                  <a:srgbClr val="000000"/>
                                </a:solidFill>
                                <a:latin typeface="Cambria Math" panose="02040503050406030204" pitchFamily="18" charset="0"/>
                              </a:rPr>
                            </m:ctrlPr>
                          </m:sSubSupPr>
                          <m:e>
                            <m:r>
                              <a:rPr lang="en-US" altLang="zh-CN" sz="2000" i="1">
                                <a:solidFill>
                                  <a:srgbClr val="000000"/>
                                </a:solidFill>
                                <a:latin typeface="Cambria Math" panose="02040503050406030204" pitchFamily="18" charset="0"/>
                              </a:rPr>
                              <m:t>𝜏</m:t>
                            </m:r>
                          </m:e>
                          <m:sub>
                            <m:r>
                              <a:rPr lang="en-US" altLang="zh-CN" sz="2000" i="1">
                                <a:solidFill>
                                  <a:srgbClr val="000000"/>
                                </a:solidFill>
                                <a:latin typeface="Cambria Math" panose="02040503050406030204" pitchFamily="18" charset="0"/>
                              </a:rPr>
                              <m:t>−</m:t>
                            </m:r>
                          </m:sub>
                          <m:sup>
                            <m:r>
                              <a:rPr lang="en-US" altLang="zh-CN" sz="2000" i="1">
                                <a:solidFill>
                                  <a:srgbClr val="000000"/>
                                </a:solidFill>
                                <a:latin typeface="Cambria Math" panose="02040503050406030204" pitchFamily="18" charset="0"/>
                              </a:rPr>
                              <m:t>𝑧</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𝜎</m:t>
                            </m:r>
                          </m:e>
                          <m:sub>
                            <m:r>
                              <a:rPr lang="en-US" altLang="zh-CN" sz="2000" i="1">
                                <a:solidFill>
                                  <a:srgbClr val="000000"/>
                                </a:solidFill>
                                <a:latin typeface="Cambria Math" panose="02040503050406030204" pitchFamily="18" charset="0"/>
                              </a:rPr>
                              <m:t>+</m:t>
                            </m:r>
                          </m:sub>
                        </m:sSub>
                        <m:r>
                          <a:rPr lang="en-US" altLang="zh-CN" sz="2000" i="1">
                            <a:solidFill>
                              <a:srgbClr val="000000"/>
                            </a:solidFill>
                            <a:latin typeface="Cambria Math" panose="02040503050406030204" pitchFamily="18" charset="0"/>
                          </a:rPr>
                          <m:t>⋅</m:t>
                        </m:r>
                        <m:r>
                          <m:rPr>
                            <m:sty m:val="p"/>
                          </m:rPr>
                          <a:rPr lang="en-US" altLang="zh-CN" sz="2000">
                            <a:solidFill>
                              <a:srgbClr val="000000"/>
                            </a:solidFill>
                            <a:latin typeface="Cambria Math" panose="02040503050406030204" pitchFamily="18" charset="0"/>
                          </a:rPr>
                          <m:t>∇</m:t>
                        </m:r>
                        <m:r>
                          <m:rPr>
                            <m:nor/>
                          </m:rPr>
                          <a:rPr lang="en-US" altLang="zh-CN" sz="2000" dirty="0">
                            <a:solidFill>
                              <a:srgbClr val="000000"/>
                            </a:solidFill>
                            <a:latin typeface="等线" panose="02010600030101010101" pitchFamily="2" charset="-122"/>
                          </a:rPr>
                          <m:t> </m:t>
                        </m:r>
                        <m:d>
                          <m:dPr>
                            <m:ctrlPr>
                              <a:rPr lang="en-US" altLang="zh-CN" sz="2000" i="1">
                                <a:solidFill>
                                  <a:srgbClr val="000000"/>
                                </a:solidFill>
                                <a:latin typeface="Cambria Math" panose="02040503050406030204" pitchFamily="18" charset="0"/>
                              </a:rPr>
                            </m:ctrlPr>
                          </m:dPr>
                          <m:e>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𝜋</m:t>
                                </m:r>
                              </m:sub>
                              <m:sup>
                                <m:r>
                                  <a:rPr lang="en-US" altLang="zh-CN" sz="2000">
                                    <a:solidFill>
                                      <a:srgbClr val="000000"/>
                                    </a:solidFill>
                                    <a:latin typeface="Cambria Math" panose="02040503050406030204" pitchFamily="18" charset="0"/>
                                  </a:rPr>
                                  <m:t>1</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𝜋</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r>
                              <a:rPr lang="en-US" altLang="zh-CN" sz="2000" i="1">
                                <a:solidFill>
                                  <a:srgbClr val="000000"/>
                                </a:solidFill>
                                <a:latin typeface="Cambria Math" panose="02040503050406030204" pitchFamily="18" charset="0"/>
                              </a:rPr>
                              <m:t>+</m:t>
                            </m:r>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𝜌</m:t>
                                </m:r>
                              </m:sub>
                              <m:sup>
                                <m:r>
                                  <a:rPr lang="en-US" altLang="zh-CN" sz="2000" i="1">
                                    <a:solidFill>
                                      <a:srgbClr val="000000"/>
                                    </a:solidFill>
                                    <a:latin typeface="Cambria Math" panose="02040503050406030204" pitchFamily="18" charset="0"/>
                                  </a:rPr>
                                  <m:t>1</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𝜌</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r>
                              <a:rPr lang="en-US" altLang="zh-CN" sz="2000" i="1">
                                <a:solidFill>
                                  <a:srgbClr val="000000"/>
                                </a:solidFill>
                                <a:latin typeface="Cambria Math" panose="02040503050406030204" pitchFamily="18" charset="0"/>
                              </a:rPr>
                              <m:t>− </m:t>
                            </m:r>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𝜔</m:t>
                                </m:r>
                              </m:sub>
                              <m:sup>
                                <m:r>
                                  <a:rPr lang="en-US" altLang="zh-CN" sz="2000">
                                    <a:solidFill>
                                      <a:srgbClr val="000000"/>
                                    </a:solidFill>
                                    <a:latin typeface="Cambria Math" panose="02040503050406030204" pitchFamily="18" charset="0"/>
                                  </a:rPr>
                                  <m:t>1</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𝜔</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e>
                        </m:d>
                      </m:oMath>
                    </m:oMathPara>
                  </a14:m>
                  <a:endParaRPr lang="zh-CN" altLang="en-US" sz="2000" dirty="0"/>
                </a:p>
              </p:txBody>
            </p:sp>
          </mc:Choice>
          <mc:Fallback>
            <p:sp>
              <p:nvSpPr>
                <p:cNvPr id="14" name="文本框 13">
                  <a:extLst>
                    <a:ext uri="{FF2B5EF4-FFF2-40B4-BE49-F238E27FC236}">
                      <a16:creationId xmlns:a16="http://schemas.microsoft.com/office/drawing/2014/main" id="{D4C9174C-959E-B7AC-45CC-C1E8F614F029}"/>
                    </a:ext>
                  </a:extLst>
                </p:cNvPr>
                <p:cNvSpPr txBox="1">
                  <a:spLocks noRot="1" noChangeAspect="1" noMove="1" noResize="1" noEditPoints="1" noAdjustHandles="1" noChangeArrowheads="1" noChangeShapeType="1" noTextEdit="1"/>
                </p:cNvSpPr>
                <p:nvPr/>
              </p:nvSpPr>
              <p:spPr>
                <a:xfrm>
                  <a:off x="605017" y="4793227"/>
                  <a:ext cx="11314705" cy="66851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B22BEF16-4C21-51F4-9DB1-12B1F849E867}"/>
                    </a:ext>
                  </a:extLst>
                </p:cNvPr>
                <p:cNvSpPr txBox="1"/>
                <p:nvPr/>
              </p:nvSpPr>
              <p:spPr>
                <a:xfrm>
                  <a:off x="65316" y="5493722"/>
                  <a:ext cx="7436085" cy="55297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 </m:t>
                        </m:r>
                        <m:d>
                          <m:dPr>
                            <m:ctrlPr>
                              <a:rPr lang="en-US" altLang="zh-CN" sz="2000" b="0" i="1" smtClean="0">
                                <a:solidFill>
                                  <a:srgbClr val="000000"/>
                                </a:solidFill>
                                <a:latin typeface="Cambria Math" panose="02040503050406030204" pitchFamily="18" charset="0"/>
                              </a:rPr>
                            </m:ctrlPr>
                          </m:dPr>
                          <m:e>
                            <m:r>
                              <a:rPr lang="en-US" altLang="zh-CN" sz="2000" b="0" i="1" smtClean="0">
                                <a:solidFill>
                                  <a:srgbClr val="000000"/>
                                </a:solidFill>
                                <a:latin typeface="Cambria Math" panose="02040503050406030204" pitchFamily="18" charset="0"/>
                              </a:rPr>
                              <m:t>3</m:t>
                            </m:r>
                            <m:sSubSup>
                              <m:sSubSupPr>
                                <m:ctrlPr>
                                  <a:rPr lang="en-US" altLang="zh-CN" sz="2000" b="0" i="1" smtClean="0">
                                    <a:solidFill>
                                      <a:srgbClr val="000000"/>
                                    </a:solidFill>
                                    <a:latin typeface="Cambria Math" panose="02040503050406030204" pitchFamily="18" charset="0"/>
                                  </a:rPr>
                                </m:ctrlPr>
                              </m:sSubSupPr>
                              <m:e>
                                <m:r>
                                  <a:rPr lang="en-US" altLang="zh-CN" sz="2000" b="0" i="1" smtClean="0">
                                    <a:solidFill>
                                      <a:srgbClr val="000000"/>
                                    </a:solidFill>
                                    <a:latin typeface="Cambria Math" panose="02040503050406030204" pitchFamily="18" charset="0"/>
                                  </a:rPr>
                                  <m:t>𝜏</m:t>
                                </m:r>
                              </m:e>
                              <m:sub>
                                <m:r>
                                  <a:rPr lang="en-US" altLang="zh-CN" sz="2000" b="0" i="1" smtClean="0">
                                    <a:solidFill>
                                      <a:srgbClr val="000000"/>
                                    </a:solidFill>
                                    <a:latin typeface="Cambria Math" panose="02040503050406030204" pitchFamily="18" charset="0"/>
                                  </a:rPr>
                                  <m:t>1</m:t>
                                </m:r>
                              </m:sub>
                              <m:sup>
                                <m:r>
                                  <a:rPr lang="en-US" altLang="zh-CN" sz="2000" b="0" i="1" smtClean="0">
                                    <a:solidFill>
                                      <a:srgbClr val="000000"/>
                                    </a:solidFill>
                                    <a:latin typeface="Cambria Math" panose="02040503050406030204" pitchFamily="18" charset="0"/>
                                  </a:rPr>
                                  <m:t>𝑧</m:t>
                                </m:r>
                              </m:sup>
                            </m:sSubSup>
                            <m:sSubSup>
                              <m:sSubSupPr>
                                <m:ctrlPr>
                                  <a:rPr lang="en-US" altLang="zh-CN" sz="2000" b="0" i="1" smtClean="0">
                                    <a:solidFill>
                                      <a:srgbClr val="000000"/>
                                    </a:solidFill>
                                    <a:latin typeface="Cambria Math" panose="02040503050406030204" pitchFamily="18" charset="0"/>
                                  </a:rPr>
                                </m:ctrlPr>
                              </m:sSubSupPr>
                              <m:e>
                                <m:r>
                                  <a:rPr lang="en-US" altLang="zh-CN" sz="2000" b="0" i="1" smtClean="0">
                                    <a:solidFill>
                                      <a:srgbClr val="000000"/>
                                    </a:solidFill>
                                    <a:latin typeface="Cambria Math" panose="02040503050406030204" pitchFamily="18" charset="0"/>
                                  </a:rPr>
                                  <m:t>𝜏</m:t>
                                </m:r>
                              </m:e>
                              <m:sub>
                                <m:r>
                                  <a:rPr lang="en-US" altLang="zh-CN" sz="2000" b="0" i="1" smtClean="0">
                                    <a:solidFill>
                                      <a:srgbClr val="000000"/>
                                    </a:solidFill>
                                    <a:latin typeface="Cambria Math" panose="02040503050406030204" pitchFamily="18" charset="0"/>
                                  </a:rPr>
                                  <m:t>2</m:t>
                                </m:r>
                              </m:sub>
                              <m:sup>
                                <m:r>
                                  <a:rPr lang="en-US" altLang="zh-CN" sz="2000" b="0" i="1" smtClean="0">
                                    <a:solidFill>
                                      <a:srgbClr val="000000"/>
                                    </a:solidFill>
                                    <a:latin typeface="Cambria Math" panose="02040503050406030204" pitchFamily="18" charset="0"/>
                                  </a:rPr>
                                  <m:t>𝑧</m:t>
                                </m:r>
                              </m:sup>
                            </m:sSubSup>
                            <m:r>
                              <a:rPr lang="en-US" altLang="zh-CN" sz="2000" b="0" i="1" smtClean="0">
                                <a:solidFill>
                                  <a:srgbClr val="000000"/>
                                </a:solidFill>
                                <a:latin typeface="Cambria Math" panose="02040503050406030204" pitchFamily="18" charset="0"/>
                              </a:rPr>
                              <m:t>−</m:t>
                            </m:r>
                            <m:sSub>
                              <m:sSubPr>
                                <m:ctrlPr>
                                  <a:rPr lang="en-US" altLang="zh-CN" sz="2000" b="0" i="1" smtClean="0">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𝜏</m:t>
                                </m:r>
                              </m:e>
                              <m:sub>
                                <m:r>
                                  <a:rPr lang="en-US" altLang="zh-CN" sz="2000" b="0" i="1" smtClean="0">
                                    <a:solidFill>
                                      <a:srgbClr val="000000"/>
                                    </a:solidFill>
                                    <a:latin typeface="Cambria Math" panose="02040503050406030204" pitchFamily="18" charset="0"/>
                                  </a:rPr>
                                  <m:t>1</m:t>
                                </m:r>
                              </m:sub>
                            </m:sSub>
                            <m:r>
                              <a:rPr lang="en-US" altLang="zh-CN" sz="2000" b="0" i="1" smtClean="0">
                                <a:solidFill>
                                  <a:srgbClr val="000000"/>
                                </a:solidFill>
                                <a:latin typeface="Cambria Math" panose="02040503050406030204" pitchFamily="18" charset="0"/>
                              </a:rPr>
                              <m:t>⋅</m:t>
                            </m:r>
                            <m:sSub>
                              <m:sSubPr>
                                <m:ctrlPr>
                                  <a:rPr lang="en-US" altLang="zh-CN" sz="2000" b="0" i="1" smtClean="0">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𝜏</m:t>
                                </m:r>
                              </m:e>
                              <m:sub>
                                <m:r>
                                  <a:rPr lang="en-US" altLang="zh-CN" sz="2000" b="0" i="1" smtClean="0">
                                    <a:solidFill>
                                      <a:srgbClr val="000000"/>
                                    </a:solidFill>
                                    <a:latin typeface="Cambria Math" panose="02040503050406030204" pitchFamily="18" charset="0"/>
                                  </a:rPr>
                                  <m:t>2</m:t>
                                </m:r>
                              </m:sub>
                            </m:sSub>
                          </m:e>
                        </m:d>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𝜎</m:t>
                            </m:r>
                          </m:e>
                          <m:sub>
                            <m:r>
                              <a:rPr lang="en-US" altLang="zh-CN" sz="2000" i="1">
                                <a:solidFill>
                                  <a:srgbClr val="000000"/>
                                </a:solidFill>
                                <a:latin typeface="Cambria Math" panose="02040503050406030204" pitchFamily="18" charset="0"/>
                              </a:rPr>
                              <m:t>−</m:t>
                            </m:r>
                          </m:sub>
                        </m:sSub>
                        <m:r>
                          <a:rPr lang="en-US" altLang="zh-CN" sz="2000" i="1">
                            <a:solidFill>
                              <a:srgbClr val="000000"/>
                            </a:solidFill>
                            <a:latin typeface="Cambria Math" panose="02040503050406030204" pitchFamily="18" charset="0"/>
                          </a:rPr>
                          <m:t>⋅</m:t>
                        </m:r>
                        <m:r>
                          <m:rPr>
                            <m:sty m:val="p"/>
                          </m:rPr>
                          <a:rPr lang="en-US" altLang="zh-CN" sz="2000">
                            <a:solidFill>
                              <a:srgbClr val="000000"/>
                            </a:solidFill>
                            <a:latin typeface="Cambria Math" panose="02040503050406030204" pitchFamily="18" charset="0"/>
                          </a:rPr>
                          <m:t>∇</m:t>
                        </m:r>
                        <m:r>
                          <m:rPr>
                            <m:nor/>
                          </m:rPr>
                          <a:rPr lang="en-US" altLang="zh-CN" sz="2000" dirty="0">
                            <a:solidFill>
                              <a:srgbClr val="000000"/>
                            </a:solidFill>
                            <a:latin typeface="等线" panose="02010600030101010101" pitchFamily="2" charset="-122"/>
                          </a:rPr>
                          <m:t> </m:t>
                        </m:r>
                        <m:d>
                          <m:dPr>
                            <m:ctrlPr>
                              <a:rPr lang="en-US" altLang="zh-CN" sz="2000" i="1">
                                <a:solidFill>
                                  <a:srgbClr val="000000"/>
                                </a:solidFill>
                                <a:latin typeface="Cambria Math" panose="02040503050406030204" pitchFamily="18" charset="0"/>
                              </a:rPr>
                            </m:ctrlPr>
                          </m:dPr>
                          <m:e>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𝜋</m:t>
                                </m:r>
                              </m:sub>
                              <m:sup>
                                <m:r>
                                  <a:rPr lang="en-US" altLang="zh-CN" sz="2000" b="0" i="1" smtClean="0">
                                    <a:solidFill>
                                      <a:srgbClr val="000000"/>
                                    </a:solidFill>
                                    <a:latin typeface="Cambria Math" panose="02040503050406030204" pitchFamily="18" charset="0"/>
                                  </a:rPr>
                                  <m:t>2</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𝜋</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r>
                              <a:rPr lang="en-US" altLang="zh-CN" sz="2000" i="1">
                                <a:solidFill>
                                  <a:srgbClr val="000000"/>
                                </a:solidFill>
                                <a:latin typeface="Cambria Math" panose="02040503050406030204" pitchFamily="18" charset="0"/>
                              </a:rPr>
                              <m:t>−</m:t>
                            </m:r>
                            <m:sSubSup>
                              <m:sSubSupPr>
                                <m:ctrlPr>
                                  <a:rPr lang="en-US" altLang="zh-CN" sz="2000" i="1">
                                    <a:solidFill>
                                      <a:srgbClr val="000000"/>
                                    </a:solidFill>
                                    <a:latin typeface="Cambria Math" panose="02040503050406030204" pitchFamily="18" charset="0"/>
                                  </a:rPr>
                                </m:ctrlPr>
                              </m:sSubSup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𝐺</m:t>
                                    </m:r>
                                  </m:e>
                                </m:acc>
                              </m:e>
                              <m:sub>
                                <m:r>
                                  <a:rPr lang="en-US" altLang="zh-CN" sz="2000" i="1">
                                    <a:solidFill>
                                      <a:srgbClr val="000000"/>
                                    </a:solidFill>
                                    <a:latin typeface="Cambria Math" panose="02040503050406030204" pitchFamily="18" charset="0"/>
                                  </a:rPr>
                                  <m:t>𝜌</m:t>
                                </m:r>
                              </m:sub>
                              <m:sup>
                                <m:r>
                                  <a:rPr lang="en-US" altLang="zh-CN" sz="2000" b="0" i="1" smtClean="0">
                                    <a:solidFill>
                                      <a:srgbClr val="000000"/>
                                    </a:solidFill>
                                    <a:latin typeface="Cambria Math" panose="02040503050406030204" pitchFamily="18" charset="0"/>
                                  </a:rPr>
                                  <m:t>2</m:t>
                                </m:r>
                              </m:sup>
                            </m:sSubSup>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𝑦</m:t>
                                </m:r>
                              </m:e>
                              <m:sub>
                                <m:r>
                                  <a:rPr lang="en-US" altLang="zh-CN" sz="2000" i="1">
                                    <a:solidFill>
                                      <a:srgbClr val="000000"/>
                                    </a:solidFill>
                                    <a:latin typeface="Cambria Math" panose="02040503050406030204" pitchFamily="18" charset="0"/>
                                  </a:rPr>
                                  <m:t>𝜌</m:t>
                                </m:r>
                              </m:sub>
                            </m:sSub>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𝑟</m:t>
                                </m:r>
                              </m:e>
                            </m:d>
                          </m:e>
                        </m:d>
                        <m:r>
                          <a:rPr lang="en-US" altLang="zh-CN" sz="2000" b="0" i="1" smtClean="0">
                            <a:solidFill>
                              <a:srgbClr val="000000"/>
                            </a:solidFill>
                            <a:latin typeface="Cambria Math" panose="02040503050406030204" pitchFamily="18" charset="0"/>
                          </a:rPr>
                          <m:t>}</m:t>
                        </m:r>
                      </m:oMath>
                    </m:oMathPara>
                  </a14:m>
                  <a:endParaRPr lang="zh-CN" altLang="en-US" sz="3600" dirty="0"/>
                </a:p>
              </p:txBody>
            </p:sp>
          </mc:Choice>
          <mc:Fallback>
            <p:sp>
              <p:nvSpPr>
                <p:cNvPr id="15" name="文本框 14">
                  <a:extLst>
                    <a:ext uri="{FF2B5EF4-FFF2-40B4-BE49-F238E27FC236}">
                      <a16:creationId xmlns:a16="http://schemas.microsoft.com/office/drawing/2014/main" id="{B22BEF16-4C21-51F4-9DB1-12B1F849E867}"/>
                    </a:ext>
                  </a:extLst>
                </p:cNvPr>
                <p:cNvSpPr txBox="1">
                  <a:spLocks noRot="1" noChangeAspect="1" noMove="1" noResize="1" noEditPoints="1" noAdjustHandles="1" noChangeArrowheads="1" noChangeShapeType="1" noTextEdit="1"/>
                </p:cNvSpPr>
                <p:nvPr/>
              </p:nvSpPr>
              <p:spPr>
                <a:xfrm>
                  <a:off x="65316" y="5493722"/>
                  <a:ext cx="7436085" cy="552972"/>
                </a:xfrm>
                <a:prstGeom prst="rect">
                  <a:avLst/>
                </a:prstGeom>
                <a:blipFill>
                  <a:blip r:embed="rId9"/>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050406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B146-82CE-B4FD-12A3-D36D49686E4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45BCFE4-AFBF-82D2-7086-E4F0D10C9673}"/>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C7EF965-C517-E437-FFA9-A5070FACAC43}"/>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FAB9920D-F7A4-B614-D37F-CE1290C9129F}"/>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C525859E-1FA2-9C1F-D7F0-A0B8A4BC485E}"/>
              </a:ext>
            </a:extLst>
          </p:cNvPr>
          <p:cNvPicPr>
            <a:picLocks noChangeAspect="1"/>
          </p:cNvPicPr>
          <p:nvPr/>
        </p:nvPicPr>
        <p:blipFill rotWithShape="1">
          <a:blip r:embed="rId2"/>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9AB3F946-000A-57CB-DEAF-6A96A88C2368}"/>
              </a:ext>
            </a:extLst>
          </p:cNvPr>
          <p:cNvSpPr>
            <a:spLocks noGrp="1"/>
          </p:cNvSpPr>
          <p:nvPr>
            <p:ph type="sldNum" sz="quarter" idx="12"/>
          </p:nvPr>
        </p:nvSpPr>
        <p:spPr>
          <a:xfrm>
            <a:off x="4944862" y="6553241"/>
            <a:ext cx="743110" cy="365125"/>
          </a:xfrm>
        </p:spPr>
        <p:txBody>
          <a:bodyPr/>
          <a:lstStyle/>
          <a:p>
            <a:r>
              <a:rPr lang="en-US" altLang="zh-CN" sz="1400" dirty="0">
                <a:solidFill>
                  <a:schemeClr val="bg2">
                    <a:lumMod val="50000"/>
                  </a:schemeClr>
                </a:solidFill>
              </a:rPr>
              <a:t>6</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D0E2E33A-2295-5BC4-411F-CC1336D57EE0}"/>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1" name="文本框 10">
            <a:extLst>
              <a:ext uri="{FF2B5EF4-FFF2-40B4-BE49-F238E27FC236}">
                <a16:creationId xmlns:a16="http://schemas.microsoft.com/office/drawing/2014/main" id="{AF36E15F-DC3B-1A2D-2DD8-15EE3CB2C0D8}"/>
              </a:ext>
            </a:extLst>
          </p:cNvPr>
          <p:cNvSpPr txBox="1"/>
          <p:nvPr/>
        </p:nvSpPr>
        <p:spPr>
          <a:xfrm>
            <a:off x="246038" y="63073"/>
            <a:ext cx="6854132" cy="523220"/>
          </a:xfrm>
          <a:prstGeom prst="rect">
            <a:avLst/>
          </a:prstGeom>
          <a:noFill/>
        </p:spPr>
        <p:txBody>
          <a:bodyPr wrap="square" rtlCol="0">
            <a:spAutoFit/>
          </a:bodyPr>
          <a:lstStyle/>
          <a:p>
            <a:r>
              <a:rPr lang="en-US" altLang="zh-CN" sz="2800" b="0" i="0" dirty="0">
                <a:solidFill>
                  <a:srgbClr val="FFFFFF"/>
                </a:solidFill>
                <a:effectLst/>
                <a:latin typeface="LMSans12-Regular"/>
              </a:rPr>
              <a:t>Schiff moment and P, T violating nuclear force</a:t>
            </a:r>
            <a:endParaRPr lang="zh-CN" altLang="en-US" sz="2800" b="1" dirty="0">
              <a:solidFill>
                <a:schemeClr val="bg1"/>
              </a:solidFill>
            </a:endParaRPr>
          </a:p>
        </p:txBody>
      </p:sp>
      <p:pic>
        <p:nvPicPr>
          <p:cNvPr id="20" name="图片 19">
            <a:extLst>
              <a:ext uri="{FF2B5EF4-FFF2-40B4-BE49-F238E27FC236}">
                <a16:creationId xmlns:a16="http://schemas.microsoft.com/office/drawing/2014/main" id="{266CBFAD-786A-3BA5-3E6E-75371E9E285B}"/>
              </a:ext>
            </a:extLst>
          </p:cNvPr>
          <p:cNvPicPr>
            <a:picLocks noChangeAspect="1"/>
          </p:cNvPicPr>
          <p:nvPr/>
        </p:nvPicPr>
        <p:blipFill>
          <a:blip r:embed="rId3"/>
          <a:stretch>
            <a:fillRect/>
          </a:stretch>
        </p:blipFill>
        <p:spPr>
          <a:xfrm>
            <a:off x="10243139" y="7107"/>
            <a:ext cx="1540377" cy="615001"/>
          </a:xfrm>
          <a:prstGeom prst="rect">
            <a:avLst/>
          </a:prstGeom>
        </p:spPr>
      </p:pic>
      <p:pic>
        <p:nvPicPr>
          <p:cNvPr id="14" name="图片 13">
            <a:extLst>
              <a:ext uri="{FF2B5EF4-FFF2-40B4-BE49-F238E27FC236}">
                <a16:creationId xmlns:a16="http://schemas.microsoft.com/office/drawing/2014/main" id="{9804D11E-0CA6-F09A-D8E7-6C55BEAC3BD8}"/>
              </a:ext>
            </a:extLst>
          </p:cNvPr>
          <p:cNvPicPr>
            <a:picLocks/>
          </p:cNvPicPr>
          <p:nvPr/>
        </p:nvPicPr>
        <p:blipFill>
          <a:blip r:embed="rId4">
            <a:extLst>
              <a:ext uri="{28A0092B-C50C-407E-A947-70E740481C1C}">
                <a14:useLocalDpi xmlns:a14="http://schemas.microsoft.com/office/drawing/2010/main" val="0"/>
              </a:ext>
            </a:extLst>
          </a:blip>
          <a:srcRect l="63" r="63"/>
          <a:stretch/>
        </p:blipFill>
        <p:spPr>
          <a:xfrm>
            <a:off x="843280" y="1880903"/>
            <a:ext cx="2150121" cy="1649807"/>
          </a:xfrm>
          <a:prstGeom prst="rect">
            <a:avLst/>
          </a:prstGeom>
        </p:spPr>
      </p:pic>
      <p:pic>
        <p:nvPicPr>
          <p:cNvPr id="16" name="图片 15">
            <a:extLst>
              <a:ext uri="{FF2B5EF4-FFF2-40B4-BE49-F238E27FC236}">
                <a16:creationId xmlns:a16="http://schemas.microsoft.com/office/drawing/2014/main" id="{56816E7C-1F6F-D460-0730-847CD95D8AA7}"/>
              </a:ext>
            </a:extLst>
          </p:cNvPr>
          <p:cNvPicPr>
            <a:picLocks noChangeAspect="1"/>
          </p:cNvPicPr>
          <p:nvPr/>
        </p:nvPicPr>
        <p:blipFill>
          <a:blip r:embed="rId5"/>
          <a:stretch>
            <a:fillRect/>
          </a:stretch>
        </p:blipFill>
        <p:spPr>
          <a:xfrm>
            <a:off x="42893" y="3643124"/>
            <a:ext cx="7956704" cy="1382105"/>
          </a:xfrm>
          <a:prstGeom prst="rect">
            <a:avLst/>
          </a:prstGeom>
        </p:spPr>
      </p:pic>
      <p:pic>
        <p:nvPicPr>
          <p:cNvPr id="13" name="图片 12">
            <a:extLst>
              <a:ext uri="{FF2B5EF4-FFF2-40B4-BE49-F238E27FC236}">
                <a16:creationId xmlns:a16="http://schemas.microsoft.com/office/drawing/2014/main" id="{111E0BDF-D557-C04A-2277-E3AFBC698587}"/>
              </a:ext>
            </a:extLst>
          </p:cNvPr>
          <p:cNvPicPr>
            <a:picLocks noChangeAspect="1"/>
          </p:cNvPicPr>
          <p:nvPr/>
        </p:nvPicPr>
        <p:blipFill>
          <a:blip r:embed="rId6"/>
          <a:stretch>
            <a:fillRect/>
          </a:stretch>
        </p:blipFill>
        <p:spPr>
          <a:xfrm>
            <a:off x="3586033" y="1902339"/>
            <a:ext cx="4584723" cy="888937"/>
          </a:xfrm>
          <a:prstGeom prst="rect">
            <a:avLst/>
          </a:prstGeom>
        </p:spPr>
      </p:pic>
      <p:pic>
        <p:nvPicPr>
          <p:cNvPr id="17" name="图片 16">
            <a:extLst>
              <a:ext uri="{FF2B5EF4-FFF2-40B4-BE49-F238E27FC236}">
                <a16:creationId xmlns:a16="http://schemas.microsoft.com/office/drawing/2014/main" id="{09F4B823-BD01-DD68-B5EC-568E491C4552}"/>
              </a:ext>
            </a:extLst>
          </p:cNvPr>
          <p:cNvPicPr>
            <a:picLocks noChangeAspect="1"/>
          </p:cNvPicPr>
          <p:nvPr/>
        </p:nvPicPr>
        <p:blipFill>
          <a:blip r:embed="rId7"/>
          <a:stretch>
            <a:fillRect/>
          </a:stretch>
        </p:blipFill>
        <p:spPr>
          <a:xfrm>
            <a:off x="3586033" y="2733500"/>
            <a:ext cx="6401693" cy="762106"/>
          </a:xfrm>
          <a:prstGeom prst="rect">
            <a:avLst/>
          </a:prstGeom>
        </p:spPr>
      </p:pic>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F5D006CE-9843-24A9-A47D-8476553C4768}"/>
                  </a:ext>
                </a:extLst>
              </p:cNvPr>
              <p:cNvSpPr txBox="1"/>
              <p:nvPr/>
            </p:nvSpPr>
            <p:spPr>
              <a:xfrm>
                <a:off x="8575040" y="2117778"/>
                <a:ext cx="3037840" cy="369332"/>
              </a:xfrm>
              <a:prstGeom prst="rect">
                <a:avLst/>
              </a:prstGeom>
              <a:noFill/>
            </p:spPr>
            <p:txBody>
              <a:bodyPr wrap="square" rtlCol="0">
                <a:spAutoFit/>
              </a:bodyPr>
              <a:lstStyle/>
              <a:p>
                <a:r>
                  <a:rPr lang="en-US" altLang="zh-CN" dirty="0">
                    <a:solidFill>
                      <a:srgbClr val="C00000"/>
                    </a:solidFill>
                  </a:rPr>
                  <a:t>Axial-scalar </a:t>
                </a:r>
                <a14:m>
                  <m:oMath xmlns:m="http://schemas.openxmlformats.org/officeDocument/2006/math">
                    <m:r>
                      <a:rPr lang="en-US" altLang="zh-CN" b="0" i="1" smtClean="0">
                        <a:solidFill>
                          <a:srgbClr val="C00000"/>
                        </a:solidFill>
                        <a:latin typeface="Cambria Math" panose="02040503050406030204" pitchFamily="18" charset="0"/>
                      </a:rPr>
                      <m:t>𝜋</m:t>
                    </m:r>
                  </m:oMath>
                </a14:m>
                <a:r>
                  <a:rPr lang="en-US" altLang="zh-CN" dirty="0">
                    <a:solidFill>
                      <a:srgbClr val="C00000"/>
                    </a:solidFill>
                  </a:rPr>
                  <a:t>-pion vertex</a:t>
                </a:r>
                <a:endParaRPr lang="zh-CN" altLang="en-US" dirty="0">
                  <a:solidFill>
                    <a:srgbClr val="C00000"/>
                  </a:solidFill>
                </a:endParaRPr>
              </a:p>
            </p:txBody>
          </p:sp>
        </mc:Choice>
        <mc:Fallback xmlns="">
          <p:sp>
            <p:nvSpPr>
              <p:cNvPr id="19" name="文本框 18">
                <a:extLst>
                  <a:ext uri="{FF2B5EF4-FFF2-40B4-BE49-F238E27FC236}">
                    <a16:creationId xmlns:a16="http://schemas.microsoft.com/office/drawing/2014/main" id="{F5D006CE-9843-24A9-A47D-8476553C4768}"/>
                  </a:ext>
                </a:extLst>
              </p:cNvPr>
              <p:cNvSpPr txBox="1">
                <a:spLocks noRot="1" noChangeAspect="1" noMove="1" noResize="1" noEditPoints="1" noAdjustHandles="1" noChangeArrowheads="1" noChangeShapeType="1" noTextEdit="1"/>
              </p:cNvSpPr>
              <p:nvPr/>
            </p:nvSpPr>
            <p:spPr>
              <a:xfrm>
                <a:off x="8575040" y="2117778"/>
                <a:ext cx="3037840" cy="369332"/>
              </a:xfrm>
              <a:prstGeom prst="rect">
                <a:avLst/>
              </a:prstGeom>
              <a:blipFill>
                <a:blip r:embed="rId8"/>
                <a:stretch>
                  <a:fillRect l="-1807"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0445545-20BC-97A4-BF78-83B47F78112C}"/>
                  </a:ext>
                </a:extLst>
              </p:cNvPr>
              <p:cNvSpPr txBox="1"/>
              <p:nvPr/>
            </p:nvSpPr>
            <p:spPr>
              <a:xfrm>
                <a:off x="249260" y="840403"/>
                <a:ext cx="11258267" cy="975780"/>
              </a:xfrm>
              <a:prstGeom prst="rect">
                <a:avLst/>
              </a:prstGeom>
              <a:noFill/>
            </p:spPr>
            <p:txBody>
              <a:bodyPr wrap="square">
                <a:spAutoFit/>
              </a:bodyPr>
              <a:lstStyle/>
              <a:p>
                <a:pPr>
                  <a:lnSpc>
                    <a:spcPct val="150000"/>
                  </a:lnSpc>
                </a:pPr>
                <a:r>
                  <a:rPr lang="en-US" altLang="zh-CN" sz="2000" dirty="0">
                    <a:latin typeface="Cambria" panose="02040503050406030204" pitchFamily="18" charset="0"/>
                    <a:ea typeface="Cambria" panose="02040503050406030204" pitchFamily="18" charset="0"/>
                  </a:rPr>
                  <a:t>The Schiff moment </a:t>
                </a:r>
                <a:r>
                  <a:rPr lang="en-US" altLang="zh-CN" sz="2000" b="1" dirty="0">
                    <a:solidFill>
                      <a:srgbClr val="C00000"/>
                    </a:solidFill>
                    <a:latin typeface="Cambria" panose="02040503050406030204" pitchFamily="18" charset="0"/>
                    <a:ea typeface="Cambria" panose="02040503050406030204" pitchFamily="18" charset="0"/>
                  </a:rPr>
                  <a:t>induced by </a:t>
                </a:r>
                <a:r>
                  <a:rPr lang="en-US" altLang="zh-CN" sz="2000" dirty="0">
                    <a:latin typeface="Cambria" panose="02040503050406030204" pitchFamily="18" charset="0"/>
                    <a:ea typeface="Cambria" panose="02040503050406030204" pitchFamily="18" charset="0"/>
                  </a:rPr>
                  <a:t>the P,T-odd two-body nucleon-nucleon interaction </a:t>
                </a:r>
                <a14:m>
                  <m:oMath xmlns:m="http://schemas.openxmlformats.org/officeDocument/2006/math">
                    <m:sSub>
                      <m:sSubPr>
                        <m:ctrlPr>
                          <a:rPr lang="en-US" altLang="zh-CN" sz="2000" b="1" i="1" dirty="0" smtClean="0">
                            <a:solidFill>
                              <a:srgbClr val="C00000"/>
                            </a:solidFill>
                            <a:latin typeface="Cambria Math" panose="02040503050406030204" pitchFamily="18" charset="0"/>
                          </a:rPr>
                        </m:ctrlPr>
                      </m:sSubPr>
                      <m:e>
                        <m:acc>
                          <m:accPr>
                            <m:chr m:val="̂"/>
                            <m:ctrlPr>
                              <a:rPr lang="en-US" altLang="zh-CN" sz="2000" b="1" i="1" smtClean="0">
                                <a:solidFill>
                                  <a:srgbClr val="C00000"/>
                                </a:solidFill>
                                <a:latin typeface="Cambria Math" panose="02040503050406030204" pitchFamily="18" charset="0"/>
                              </a:rPr>
                            </m:ctrlPr>
                          </m:accPr>
                          <m:e>
                            <m:r>
                              <a:rPr lang="en-US" altLang="zh-CN" sz="2000" b="1" i="1" smtClean="0">
                                <a:solidFill>
                                  <a:srgbClr val="C00000"/>
                                </a:solidFill>
                                <a:latin typeface="Cambria Math" panose="02040503050406030204" pitchFamily="18" charset="0"/>
                              </a:rPr>
                              <m:t>𝑽</m:t>
                            </m:r>
                          </m:e>
                        </m:acc>
                      </m:e>
                      <m:sub>
                        <m:r>
                          <a:rPr lang="en-US" altLang="zh-CN" sz="2000" b="1" i="1" dirty="0" smtClean="0">
                            <a:solidFill>
                              <a:srgbClr val="C00000"/>
                            </a:solidFill>
                            <a:latin typeface="Cambria Math" panose="02040503050406030204" pitchFamily="18" charset="0"/>
                          </a:rPr>
                          <m:t>𝑷𝑻</m:t>
                        </m:r>
                      </m:sub>
                    </m:sSub>
                  </m:oMath>
                </a14:m>
                <a:r>
                  <a:rPr lang="en-US" altLang="zh-CN" sz="2000" dirty="0">
                    <a:latin typeface="Cambria" panose="02040503050406030204" pitchFamily="18" charset="0"/>
                    <a:ea typeface="Cambria" panose="02040503050406030204" pitchFamily="18" charset="0"/>
                  </a:rPr>
                  <a:t>, associated with the P, T-odd </a:t>
                </a:r>
                <a:r>
                  <a:rPr lang="en-US" altLang="zh-CN" sz="2000" dirty="0" err="1">
                    <a:latin typeface="Cambria" panose="02040503050406030204" pitchFamily="18" charset="0"/>
                    <a:ea typeface="Cambria" panose="02040503050406030204" pitchFamily="18" charset="0"/>
                  </a:rPr>
                  <a:t>Lagrangian</a:t>
                </a:r>
                <a:r>
                  <a:rPr lang="en-US" altLang="zh-CN" sz="2000" dirty="0">
                    <a:latin typeface="Cambria" panose="02040503050406030204" pitchFamily="18" charset="0"/>
                    <a:ea typeface="Cambria" panose="02040503050406030204" pitchFamily="18" charset="0"/>
                  </a:rPr>
                  <a:t> density.</a:t>
                </a:r>
                <a:endParaRPr lang="zh-CN" altLang="en-US" sz="2000" dirty="0">
                  <a:latin typeface="Cambria" panose="02040503050406030204" pitchFamily="18" charset="0"/>
                </a:endParaRPr>
              </a:p>
            </p:txBody>
          </p:sp>
        </mc:Choice>
        <mc:Fallback xmlns="">
          <p:sp>
            <p:nvSpPr>
              <p:cNvPr id="22" name="文本框 21">
                <a:extLst>
                  <a:ext uri="{FF2B5EF4-FFF2-40B4-BE49-F238E27FC236}">
                    <a16:creationId xmlns:a16="http://schemas.microsoft.com/office/drawing/2014/main" id="{A0445545-20BC-97A4-BF78-83B47F78112C}"/>
                  </a:ext>
                </a:extLst>
              </p:cNvPr>
              <p:cNvSpPr txBox="1">
                <a:spLocks noRot="1" noChangeAspect="1" noMove="1" noResize="1" noEditPoints="1" noAdjustHandles="1" noChangeArrowheads="1" noChangeShapeType="1" noTextEdit="1"/>
              </p:cNvSpPr>
              <p:nvPr/>
            </p:nvSpPr>
            <p:spPr>
              <a:xfrm>
                <a:off x="249260" y="840403"/>
                <a:ext cx="11258267" cy="975780"/>
              </a:xfrm>
              <a:prstGeom prst="rect">
                <a:avLst/>
              </a:prstGeom>
              <a:blipFill>
                <a:blip r:embed="rId9"/>
                <a:stretch>
                  <a:fillRect l="-596" b="-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8D792C8B-353F-63B9-B4F6-D8DA1F7C291B}"/>
                  </a:ext>
                </a:extLst>
              </p:cNvPr>
              <p:cNvSpPr txBox="1"/>
              <p:nvPr/>
            </p:nvSpPr>
            <p:spPr>
              <a:xfrm>
                <a:off x="7880539" y="3937314"/>
                <a:ext cx="4214373" cy="646331"/>
              </a:xfrm>
              <a:prstGeom prst="rect">
                <a:avLst/>
              </a:prstGeom>
              <a:noFill/>
            </p:spPr>
            <p:txBody>
              <a:bodyPr wrap="square" rtlCol="0">
                <a:spAutoFit/>
              </a:bodyPr>
              <a:lstStyle/>
              <a:p>
                <a14:m>
                  <m:oMath xmlns:m="http://schemas.openxmlformats.org/officeDocument/2006/math">
                    <m:sSub>
                      <m:sSubPr>
                        <m:ctrlPr>
                          <a:rPr lang="en-US" altLang="zh-CN" b="0" i="1" dirty="0" smtClean="0">
                            <a:solidFill>
                              <a:srgbClr val="C00000"/>
                            </a:solidFill>
                            <a:latin typeface="Cambria Math" panose="02040503050406030204" pitchFamily="18" charset="0"/>
                          </a:rPr>
                        </m:ctrlPr>
                      </m:sSubPr>
                      <m:e>
                        <m:acc>
                          <m:accPr>
                            <m:chr m:val="̅"/>
                            <m:ctrlPr>
                              <a:rPr lang="en-US" altLang="zh-CN" b="0" i="1" dirty="0" smtClean="0">
                                <a:solidFill>
                                  <a:srgbClr val="C00000"/>
                                </a:solidFill>
                                <a:latin typeface="Cambria Math" panose="02040503050406030204" pitchFamily="18" charset="0"/>
                              </a:rPr>
                            </m:ctrlPr>
                          </m:accPr>
                          <m:e>
                            <m:r>
                              <m:rPr>
                                <m:sty m:val="p"/>
                              </m:rPr>
                              <a:rPr lang="en-US" altLang="zh-CN" b="0" i="0" dirty="0" smtClean="0">
                                <a:solidFill>
                                  <a:srgbClr val="C00000"/>
                                </a:solidFill>
                                <a:latin typeface="Cambria Math" panose="02040503050406030204" pitchFamily="18" charset="0"/>
                              </a:rPr>
                              <m:t>g</m:t>
                            </m:r>
                          </m:e>
                        </m:acc>
                      </m:e>
                      <m:sub>
                        <m:r>
                          <a:rPr lang="en-US" altLang="zh-CN" b="0" i="0" dirty="0" smtClean="0">
                            <a:solidFill>
                              <a:srgbClr val="C00000"/>
                            </a:solidFill>
                            <a:latin typeface="Cambria Math" panose="02040503050406030204" pitchFamily="18" charset="0"/>
                          </a:rPr>
                          <m:t>0</m:t>
                        </m:r>
                      </m:sub>
                    </m:sSub>
                    <m:r>
                      <a:rPr lang="en-US" altLang="zh-CN" b="0" i="0" dirty="0" smtClean="0">
                        <a:solidFill>
                          <a:srgbClr val="C00000"/>
                        </a:solidFill>
                        <a:latin typeface="Cambria Math" panose="02040503050406030204" pitchFamily="18" charset="0"/>
                      </a:rPr>
                      <m:t>,</m:t>
                    </m:r>
                    <m:sSub>
                      <m:sSubPr>
                        <m:ctrlPr>
                          <a:rPr lang="en-US" altLang="zh-CN" i="1" dirty="0">
                            <a:solidFill>
                              <a:srgbClr val="C00000"/>
                            </a:solidFill>
                            <a:latin typeface="Cambria Math" panose="02040503050406030204" pitchFamily="18" charset="0"/>
                          </a:rPr>
                        </m:ctrlPr>
                      </m:sSubPr>
                      <m:e>
                        <m:acc>
                          <m:accPr>
                            <m:chr m:val="̅"/>
                            <m:ctrlPr>
                              <a:rPr lang="en-US" altLang="zh-CN" i="1" dirty="0">
                                <a:solidFill>
                                  <a:srgbClr val="C00000"/>
                                </a:solidFill>
                                <a:latin typeface="Cambria Math" panose="02040503050406030204" pitchFamily="18" charset="0"/>
                              </a:rPr>
                            </m:ctrlPr>
                          </m:accPr>
                          <m:e>
                            <m:r>
                              <m:rPr>
                                <m:sty m:val="p"/>
                              </m:rPr>
                              <a:rPr lang="en-US" altLang="zh-CN" i="0" dirty="0">
                                <a:solidFill>
                                  <a:srgbClr val="C00000"/>
                                </a:solidFill>
                                <a:latin typeface="Cambria Math" panose="02040503050406030204" pitchFamily="18" charset="0"/>
                              </a:rPr>
                              <m:t>g</m:t>
                            </m:r>
                          </m:e>
                        </m:acc>
                      </m:e>
                      <m:sub>
                        <m:r>
                          <a:rPr lang="en-US" altLang="zh-CN" b="0" i="0" dirty="0" smtClean="0">
                            <a:solidFill>
                              <a:srgbClr val="C00000"/>
                            </a:solidFill>
                            <a:latin typeface="Cambria Math" panose="02040503050406030204" pitchFamily="18" charset="0"/>
                          </a:rPr>
                          <m:t>1</m:t>
                        </m:r>
                      </m:sub>
                    </m:sSub>
                  </m:oMath>
                </a14:m>
                <a:r>
                  <a:rPr lang="en-US" altLang="zh-CN" dirty="0">
                    <a:solidFill>
                      <a:srgbClr val="C00000"/>
                    </a:solidFill>
                  </a:rPr>
                  <a:t> and </a:t>
                </a:r>
                <a14:m>
                  <m:oMath xmlns:m="http://schemas.openxmlformats.org/officeDocument/2006/math">
                    <m:sSub>
                      <m:sSubPr>
                        <m:ctrlPr>
                          <a:rPr lang="en-US" altLang="zh-CN" i="1" dirty="0">
                            <a:solidFill>
                              <a:srgbClr val="C00000"/>
                            </a:solidFill>
                            <a:latin typeface="Cambria Math" panose="02040503050406030204" pitchFamily="18" charset="0"/>
                          </a:rPr>
                        </m:ctrlPr>
                      </m:sSubPr>
                      <m:e>
                        <m:acc>
                          <m:accPr>
                            <m:chr m:val="̅"/>
                            <m:ctrlPr>
                              <a:rPr lang="en-US" altLang="zh-CN" i="1" dirty="0">
                                <a:solidFill>
                                  <a:srgbClr val="C00000"/>
                                </a:solidFill>
                                <a:latin typeface="Cambria Math" panose="02040503050406030204" pitchFamily="18" charset="0"/>
                              </a:rPr>
                            </m:ctrlPr>
                          </m:accPr>
                          <m:e>
                            <m:r>
                              <m:rPr>
                                <m:sty m:val="p"/>
                              </m:rPr>
                              <a:rPr lang="en-US" altLang="zh-CN" i="0" dirty="0">
                                <a:solidFill>
                                  <a:srgbClr val="C00000"/>
                                </a:solidFill>
                                <a:latin typeface="Cambria Math" panose="02040503050406030204" pitchFamily="18" charset="0"/>
                              </a:rPr>
                              <m:t>g</m:t>
                            </m:r>
                          </m:e>
                        </m:acc>
                      </m:e>
                      <m:sub>
                        <m:r>
                          <a:rPr lang="en-US" altLang="zh-CN" b="0" i="0" dirty="0" smtClean="0">
                            <a:solidFill>
                              <a:srgbClr val="C00000"/>
                            </a:solidFill>
                            <a:latin typeface="Cambria Math" panose="02040503050406030204" pitchFamily="18" charset="0"/>
                          </a:rPr>
                          <m:t>2</m:t>
                        </m:r>
                      </m:sub>
                    </m:sSub>
                  </m:oMath>
                </a14:m>
                <a:r>
                  <a:rPr lang="en-US" altLang="zh-CN" dirty="0">
                    <a:solidFill>
                      <a:srgbClr val="C00000"/>
                    </a:solidFill>
                    <a:latin typeface="Cambria Math" panose="02040503050406030204" pitchFamily="18" charset="0"/>
                  </a:rPr>
                  <a:t> denote the different LEC of Pion-nucleon tensor coupling form.</a:t>
                </a:r>
              </a:p>
            </p:txBody>
          </p:sp>
        </mc:Choice>
        <mc:Fallback xmlns="">
          <p:sp>
            <p:nvSpPr>
              <p:cNvPr id="23" name="文本框 22">
                <a:extLst>
                  <a:ext uri="{FF2B5EF4-FFF2-40B4-BE49-F238E27FC236}">
                    <a16:creationId xmlns:a16="http://schemas.microsoft.com/office/drawing/2014/main" id="{8D792C8B-353F-63B9-B4F6-D8DA1F7C291B}"/>
                  </a:ext>
                </a:extLst>
              </p:cNvPr>
              <p:cNvSpPr txBox="1">
                <a:spLocks noRot="1" noChangeAspect="1" noMove="1" noResize="1" noEditPoints="1" noAdjustHandles="1" noChangeArrowheads="1" noChangeShapeType="1" noTextEdit="1"/>
              </p:cNvSpPr>
              <p:nvPr/>
            </p:nvSpPr>
            <p:spPr>
              <a:xfrm>
                <a:off x="7880539" y="3937314"/>
                <a:ext cx="4214373" cy="646331"/>
              </a:xfrm>
              <a:prstGeom prst="rect">
                <a:avLst/>
              </a:prstGeom>
              <a:blipFill>
                <a:blip r:embed="rId10"/>
                <a:stretch>
                  <a:fillRect l="-1302" t="-7547" b="-13208"/>
                </a:stretch>
              </a:blipFill>
            </p:spPr>
            <p:txBody>
              <a:bodyPr/>
              <a:lstStyle/>
              <a:p>
                <a:r>
                  <a:rPr lang="zh-CN" altLang="en-US">
                    <a:noFill/>
                  </a:rPr>
                  <a:t> </a:t>
                </a:r>
              </a:p>
            </p:txBody>
          </p:sp>
        </mc:Fallback>
      </mc:AlternateContent>
      <p:pic>
        <p:nvPicPr>
          <p:cNvPr id="25" name="图片 24">
            <a:extLst>
              <a:ext uri="{FF2B5EF4-FFF2-40B4-BE49-F238E27FC236}">
                <a16:creationId xmlns:a16="http://schemas.microsoft.com/office/drawing/2014/main" id="{01B04A17-3246-7E02-E4B1-03080578A1C8}"/>
              </a:ext>
            </a:extLst>
          </p:cNvPr>
          <p:cNvPicPr>
            <a:picLocks noChangeAspect="1"/>
          </p:cNvPicPr>
          <p:nvPr/>
        </p:nvPicPr>
        <p:blipFill>
          <a:blip r:embed="rId11"/>
          <a:stretch>
            <a:fillRect/>
          </a:stretch>
        </p:blipFill>
        <p:spPr>
          <a:xfrm>
            <a:off x="663997" y="5172747"/>
            <a:ext cx="6714496" cy="980066"/>
          </a:xfrm>
          <a:prstGeom prst="rect">
            <a:avLst/>
          </a:prstGeom>
        </p:spPr>
      </p:pic>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4635B7E-3079-D43B-6C6C-5D83A552563B}"/>
                  </a:ext>
                </a:extLst>
              </p:cNvPr>
              <p:cNvSpPr txBox="1"/>
              <p:nvPr/>
            </p:nvSpPr>
            <p:spPr>
              <a:xfrm>
                <a:off x="7929030" y="5495082"/>
                <a:ext cx="3598973" cy="646331"/>
              </a:xfrm>
              <a:prstGeom prst="rect">
                <a:avLst/>
              </a:prstGeom>
              <a:noFill/>
            </p:spPr>
            <p:txBody>
              <a:bodyPr wrap="square">
                <a:spAutoFit/>
              </a:bodyPr>
              <a:lstStyle/>
              <a:p>
                <a14:m>
                  <m:oMath xmlns:m="http://schemas.openxmlformats.org/officeDocument/2006/math">
                    <m:sSub>
                      <m:sSubPr>
                        <m:ctrlPr>
                          <a:rPr lang="en-US" altLang="zh-CN" i="1" dirty="0" smtClean="0">
                            <a:solidFill>
                              <a:srgbClr val="C00000"/>
                            </a:solidFill>
                            <a:latin typeface="Cambria Math" panose="02040503050406030204" pitchFamily="18" charset="0"/>
                          </a:rPr>
                        </m:ctrlPr>
                      </m:sSubPr>
                      <m:e>
                        <m:r>
                          <a:rPr lang="en-US" altLang="zh-CN" b="0" i="1" dirty="0" smtClean="0">
                            <a:solidFill>
                              <a:srgbClr val="C00000"/>
                            </a:solidFill>
                            <a:latin typeface="Cambria Math" panose="02040503050406030204" pitchFamily="18" charset="0"/>
                          </a:rPr>
                          <m:t>𝑎</m:t>
                        </m:r>
                      </m:e>
                      <m:sub>
                        <m:r>
                          <m:rPr>
                            <m:sty m:val="p"/>
                          </m:rPr>
                          <a:rPr lang="en-US" altLang="zh-CN" b="0" i="0" dirty="0" smtClean="0">
                            <a:solidFill>
                              <a:srgbClr val="C00000"/>
                            </a:solidFill>
                            <a:latin typeface="Cambria Math" panose="02040503050406030204" pitchFamily="18" charset="0"/>
                          </a:rPr>
                          <m:t>i</m:t>
                        </m:r>
                      </m:sub>
                    </m:sSub>
                    <m:r>
                      <a:rPr lang="en-US" altLang="zh-CN" b="0" i="1" dirty="0" smtClean="0">
                        <a:solidFill>
                          <a:srgbClr val="C00000"/>
                        </a:solidFill>
                        <a:latin typeface="Cambria Math" panose="02040503050406030204" pitchFamily="18" charset="0"/>
                      </a:rPr>
                      <m:t> </m:t>
                    </m:r>
                  </m:oMath>
                </a14:m>
                <a:r>
                  <a:rPr lang="en-US" altLang="zh-CN" dirty="0">
                    <a:solidFill>
                      <a:srgbClr val="C00000"/>
                    </a:solidFill>
                    <a:latin typeface="Cambria" panose="02040503050406030204" pitchFamily="18" charset="0"/>
                    <a:ea typeface="Cambria" panose="02040503050406030204" pitchFamily="18" charset="0"/>
                  </a:rPr>
                  <a:t>can be obtained through nuclear many body method.</a:t>
                </a:r>
                <a:endParaRPr lang="zh-CN" altLang="en-US" dirty="0">
                  <a:solidFill>
                    <a:srgbClr val="C00000"/>
                  </a:solidFill>
                  <a:latin typeface="Cambria" panose="02040503050406030204" pitchFamily="18" charset="0"/>
                </a:endParaRPr>
              </a:p>
            </p:txBody>
          </p:sp>
        </mc:Choice>
        <mc:Fallback xmlns="">
          <p:sp>
            <p:nvSpPr>
              <p:cNvPr id="27" name="文本框 26">
                <a:extLst>
                  <a:ext uri="{FF2B5EF4-FFF2-40B4-BE49-F238E27FC236}">
                    <a16:creationId xmlns:a16="http://schemas.microsoft.com/office/drawing/2014/main" id="{44635B7E-3079-D43B-6C6C-5D83A552563B}"/>
                  </a:ext>
                </a:extLst>
              </p:cNvPr>
              <p:cNvSpPr txBox="1">
                <a:spLocks noRot="1" noChangeAspect="1" noMove="1" noResize="1" noEditPoints="1" noAdjustHandles="1" noChangeArrowheads="1" noChangeShapeType="1" noTextEdit="1"/>
              </p:cNvSpPr>
              <p:nvPr/>
            </p:nvSpPr>
            <p:spPr>
              <a:xfrm>
                <a:off x="7929030" y="5495082"/>
                <a:ext cx="3598973" cy="646331"/>
              </a:xfrm>
              <a:prstGeom prst="rect">
                <a:avLst/>
              </a:prstGeom>
              <a:blipFill>
                <a:blip r:embed="rId12"/>
                <a:stretch>
                  <a:fillRect l="-1525" t="-5660" r="-2373" b="-13208"/>
                </a:stretch>
              </a:blipFill>
            </p:spPr>
            <p:txBody>
              <a:bodyPr/>
              <a:lstStyle/>
              <a:p>
                <a:r>
                  <a:rPr lang="zh-CN" altLang="en-US">
                    <a:noFill/>
                  </a:rPr>
                  <a:t> </a:t>
                </a:r>
              </a:p>
            </p:txBody>
          </p:sp>
        </mc:Fallback>
      </mc:AlternateContent>
      <p:sp>
        <p:nvSpPr>
          <p:cNvPr id="2" name="Rounded Rectangle 1">
            <a:extLst>
              <a:ext uri="{FF2B5EF4-FFF2-40B4-BE49-F238E27FC236}">
                <a16:creationId xmlns:a16="http://schemas.microsoft.com/office/drawing/2014/main" id="{C3AF9AD1-58EC-B060-40BE-034CFDEAC6B2}"/>
              </a:ext>
            </a:extLst>
          </p:cNvPr>
          <p:cNvSpPr/>
          <p:nvPr/>
        </p:nvSpPr>
        <p:spPr>
          <a:xfrm>
            <a:off x="356839" y="3643124"/>
            <a:ext cx="7348654" cy="152962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 name="Rounded Rectangle 1">
            <a:extLst>
              <a:ext uri="{FF2B5EF4-FFF2-40B4-BE49-F238E27FC236}">
                <a16:creationId xmlns:a16="http://schemas.microsoft.com/office/drawing/2014/main" id="{E16CCCBE-C27E-6977-47E8-EA16D29C8E37}"/>
              </a:ext>
            </a:extLst>
          </p:cNvPr>
          <p:cNvSpPr/>
          <p:nvPr/>
        </p:nvSpPr>
        <p:spPr>
          <a:xfrm>
            <a:off x="2808513" y="3759675"/>
            <a:ext cx="244927" cy="557567"/>
          </a:xfrm>
          <a:prstGeom prst="roundRect">
            <a:avLst/>
          </a:prstGeom>
          <a:noFill/>
          <a:ln w="38100">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908407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570F-5C0F-A777-3BC2-20275D4754C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FCA456E-B188-D71E-F2C9-A3877F5BC00F}"/>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66A42895-CDE1-B659-CD0F-0245170EACCF}"/>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9E48BC3A-E244-E77A-62FE-8783051622C5}"/>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8D30C1A5-3873-B08A-726A-9F9B7AE4B9C2}"/>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74F45FE5-2AB1-1019-4B5B-790317E89430}"/>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7</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F0BAD2CF-998A-8C31-40AB-A145F75F98C7}"/>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EC288538-8C94-293A-7366-292FB8493E08}"/>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97053CAE-B248-D038-EEEE-8412E5169895}"/>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E9BCB397-F1E1-AF6B-60AF-235DB4A588E4}"/>
              </a:ext>
            </a:extLst>
          </p:cNvPr>
          <p:cNvSpPr txBox="1"/>
          <p:nvPr/>
        </p:nvSpPr>
        <p:spPr>
          <a:xfrm>
            <a:off x="82982" y="66597"/>
            <a:ext cx="6104466" cy="523220"/>
          </a:xfrm>
          <a:prstGeom prst="rect">
            <a:avLst/>
          </a:prstGeom>
          <a:noFill/>
        </p:spPr>
        <p:txBody>
          <a:bodyPr wrap="square">
            <a:spAutoFit/>
          </a:bodyPr>
          <a:lstStyle/>
          <a:p>
            <a:r>
              <a:rPr lang="en-US" altLang="zh-CN" sz="2800" dirty="0">
                <a:solidFill>
                  <a:srgbClr val="FFFFFF"/>
                </a:solidFill>
                <a:latin typeface="LMSans12-Regular"/>
                <a:ea typeface="等线" panose="02010600030101010101" pitchFamily="2" charset="-122"/>
              </a:rPr>
              <a:t>Reduce computation complexity</a:t>
            </a:r>
            <a:endParaRPr lang="zh-CN" altLang="en-US" dirty="0"/>
          </a:p>
        </p:txBody>
      </p:sp>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10F4E986-8F8A-A2E8-5146-99C13982B004}"/>
                  </a:ext>
                </a:extLst>
              </p:cNvPr>
              <p:cNvSpPr txBox="1"/>
              <p:nvPr/>
            </p:nvSpPr>
            <p:spPr>
              <a:xfrm>
                <a:off x="281023" y="946672"/>
                <a:ext cx="11174205" cy="1843453"/>
              </a:xfrm>
              <a:prstGeom prst="rect">
                <a:avLst/>
              </a:prstGeom>
              <a:noFill/>
            </p:spPr>
            <p:txBody>
              <a:bodyPr wrap="square">
                <a:spAutoFit/>
              </a:bodyPr>
              <a:lstStyle/>
              <a:p>
                <a:pPr marL="342900" lvl="0" indent="-342900">
                  <a:lnSpc>
                    <a:spcPct val="200000"/>
                  </a:lnSpc>
                  <a:buFont typeface="Wingdings" panose="05000000000000000000" pitchFamily="2" charset="2"/>
                  <a:buChar char="Ø"/>
                  <a:defRPr/>
                </a:pPr>
                <a:r>
                  <a:rPr lang="en-US" altLang="zh-CN" sz="2000" dirty="0">
                    <a:solidFill>
                      <a:srgbClr val="000000"/>
                    </a:solidFill>
                    <a:latin typeface="Cambria" panose="02040503050406030204" pitchFamily="18" charset="0"/>
                    <a:ea typeface="Cambria" panose="02040503050406030204" pitchFamily="18" charset="0"/>
                  </a:rPr>
                  <a:t>F</a:t>
                </a:r>
                <a:r>
                  <a:rPr lang="en-US" altLang="zh-CN" sz="2000" b="0" i="0" dirty="0">
                    <a:solidFill>
                      <a:srgbClr val="000000"/>
                    </a:solidFill>
                    <a:effectLst/>
                    <a:latin typeface="Cambria" panose="02040503050406030204" pitchFamily="18" charset="0"/>
                    <a:ea typeface="Cambria" panose="02040503050406030204" pitchFamily="18" charset="0"/>
                  </a:rPr>
                  <a:t>irst, solve the standard Schr</a:t>
                </a:r>
                <a:r>
                  <a:rPr lang="en-US" altLang="zh-CN" sz="2000" dirty="0">
                    <a:solidFill>
                      <a:srgbClr val="000000"/>
                    </a:solidFill>
                    <a:latin typeface="Cambria" panose="02040503050406030204" pitchFamily="18" charset="0"/>
                    <a:ea typeface="Cambria" panose="02040503050406030204" pitchFamily="18" charset="0"/>
                    <a:cs typeface="Arial" panose="020B0604020202020204" pitchFamily="34" charset="0"/>
                  </a:rPr>
                  <a:t>ö</a:t>
                </a:r>
                <a:r>
                  <a:rPr lang="en-US" altLang="zh-CN" sz="2000" b="0" i="0" dirty="0">
                    <a:solidFill>
                      <a:srgbClr val="000000"/>
                    </a:solidFill>
                    <a:effectLst/>
                    <a:latin typeface="Cambria" panose="02040503050406030204" pitchFamily="18" charset="0"/>
                    <a:ea typeface="Cambria" panose="02040503050406030204" pitchFamily="18" charset="0"/>
                  </a:rPr>
                  <a:t>dinger equation using the PTC Hamiltonian</a:t>
                </a:r>
                <a:r>
                  <a:rPr lang="en-US" altLang="zh-CN" sz="2000" dirty="0">
                    <a:latin typeface="Cambria" panose="02040503050406030204" pitchFamily="18" charset="0"/>
                    <a:ea typeface="Cambria" panose="02040503050406030204" pitchFamily="18" charset="0"/>
                  </a:rPr>
                  <a:t> to obtain the </a:t>
                </a:r>
                <a14:m>
                  <m:oMath xmlns:m="http://schemas.openxmlformats.org/officeDocument/2006/math">
                    <m:d>
                      <m:dPr>
                        <m:begChr m:val="|"/>
                        <m:endChr m:val="⟩"/>
                        <m:ctrlPr>
                          <a:rPr lang="en-US" altLang="zh-CN" sz="2000" i="1" dirty="0">
                            <a:solidFill>
                              <a:prstClr val="black"/>
                            </a:solidFill>
                            <a:latin typeface="Cambria Math" panose="02040503050406030204" pitchFamily="18" charset="0"/>
                            <a:ea typeface="Cambria" panose="02040503050406030204" pitchFamily="18" charset="0"/>
                          </a:rPr>
                        </m:ctrlPr>
                      </m:dPr>
                      <m:e>
                        <m:r>
                          <a:rPr lang="en-US" altLang="zh-CN" sz="2000" i="1" dirty="0">
                            <a:solidFill>
                              <a:prstClr val="black"/>
                            </a:solidFill>
                            <a:latin typeface="Cambria Math" panose="02040503050406030204" pitchFamily="18" charset="0"/>
                            <a:ea typeface="Cambria" panose="02040503050406030204" pitchFamily="18" charset="0"/>
                          </a:rPr>
                          <m:t>𝐴</m:t>
                        </m:r>
                        <m:r>
                          <a:rPr lang="en-US" altLang="zh-CN" sz="2000" i="1" dirty="0">
                            <a:solidFill>
                              <a:prstClr val="black"/>
                            </a:solidFill>
                            <a:latin typeface="Cambria Math" panose="02040503050406030204" pitchFamily="18" charset="0"/>
                            <a:ea typeface="Cambria" panose="02040503050406030204" pitchFamily="18" charset="0"/>
                          </a:rPr>
                          <m:t> </m:t>
                        </m:r>
                        <m:r>
                          <a:rPr lang="en-US" altLang="zh-CN" sz="2000" i="1" dirty="0">
                            <a:solidFill>
                              <a:prstClr val="black"/>
                            </a:solidFill>
                            <a:latin typeface="Cambria Math" panose="02040503050406030204" pitchFamily="18" charset="0"/>
                            <a:ea typeface="Cambria" panose="02040503050406030204" pitchFamily="18" charset="0"/>
                          </a:rPr>
                          <m:t>𝑔</m:t>
                        </m:r>
                        <m:r>
                          <a:rPr lang="en-US" altLang="zh-CN" sz="2000" b="0" i="1" dirty="0" smtClean="0">
                            <a:solidFill>
                              <a:prstClr val="black"/>
                            </a:solidFill>
                            <a:latin typeface="Cambria Math" panose="02040503050406030204" pitchFamily="18" charset="0"/>
                            <a:ea typeface="Cambria" panose="02040503050406030204" pitchFamily="18" charset="0"/>
                          </a:rPr>
                          <m:t>.</m:t>
                        </m:r>
                        <m:r>
                          <a:rPr lang="en-US" altLang="zh-CN" sz="2000" i="1" dirty="0">
                            <a:solidFill>
                              <a:prstClr val="black"/>
                            </a:solidFill>
                            <a:latin typeface="Cambria Math" panose="02040503050406030204" pitchFamily="18" charset="0"/>
                            <a:ea typeface="Cambria" panose="02040503050406030204" pitchFamily="18" charset="0"/>
                          </a:rPr>
                          <m:t>𝑠</m:t>
                        </m:r>
                        <m:r>
                          <a:rPr lang="en-US" altLang="zh-CN" sz="2000" b="0" i="1" dirty="0" smtClean="0">
                            <a:solidFill>
                              <a:prstClr val="black"/>
                            </a:solidFill>
                            <a:latin typeface="Cambria Math" panose="02040503050406030204" pitchFamily="18" charset="0"/>
                            <a:ea typeface="Cambria" panose="02040503050406030204" pitchFamily="18" charset="0"/>
                          </a:rPr>
                          <m:t>.</m:t>
                        </m:r>
                        <m:r>
                          <a:rPr lang="en-US" altLang="zh-CN" sz="2000" i="1" dirty="0">
                            <a:solidFill>
                              <a:prstClr val="black"/>
                            </a:solidFill>
                            <a:latin typeface="Cambria Math" panose="02040503050406030204" pitchFamily="18" charset="0"/>
                            <a:ea typeface="Cambria" panose="02040503050406030204" pitchFamily="18" charset="0"/>
                          </a:rPr>
                          <m:t> </m:t>
                        </m:r>
                        <m:r>
                          <a:rPr lang="en-US" altLang="zh-CN" sz="2000" b="0" i="1" dirty="0" smtClean="0">
                            <a:solidFill>
                              <a:prstClr val="black"/>
                            </a:solidFill>
                            <a:latin typeface="Cambria Math" panose="02040503050406030204" pitchFamily="18" charset="0"/>
                            <a:ea typeface="Cambria" panose="02040503050406030204" pitchFamily="18" charset="0"/>
                          </a:rPr>
                          <m:t> </m:t>
                        </m:r>
                        <m:sSup>
                          <m:sSupPr>
                            <m:ctrlPr>
                              <a:rPr lang="en-US" altLang="zh-CN" sz="2000" i="1" dirty="0">
                                <a:solidFill>
                                  <a:prstClr val="black"/>
                                </a:solidFill>
                                <a:latin typeface="Cambria Math" panose="02040503050406030204" pitchFamily="18" charset="0"/>
                                <a:ea typeface="Cambria" panose="02040503050406030204" pitchFamily="18" charset="0"/>
                              </a:rPr>
                            </m:ctrlPr>
                          </m:sSupPr>
                          <m:e>
                            <m:r>
                              <a:rPr lang="en-US" altLang="zh-CN" sz="2000" i="1" dirty="0">
                                <a:solidFill>
                                  <a:prstClr val="black"/>
                                </a:solidFill>
                                <a:latin typeface="Cambria Math" panose="02040503050406030204" pitchFamily="18" charset="0"/>
                                <a:ea typeface="Cambria" panose="02040503050406030204" pitchFamily="18" charset="0"/>
                              </a:rPr>
                              <m:t>𝐼</m:t>
                            </m:r>
                          </m:e>
                          <m:sup>
                            <m:r>
                              <a:rPr lang="en-US" altLang="zh-CN" sz="2000" i="1" dirty="0">
                                <a:solidFill>
                                  <a:prstClr val="black"/>
                                </a:solidFill>
                                <a:latin typeface="Cambria Math" panose="02040503050406030204" pitchFamily="18" charset="0"/>
                                <a:ea typeface="Cambria" panose="02040503050406030204" pitchFamily="18" charset="0"/>
                              </a:rPr>
                              <m:t>𝜋</m:t>
                            </m:r>
                          </m:sup>
                        </m:sSup>
                      </m:e>
                    </m:d>
                  </m:oMath>
                </a14:m>
                <a:r>
                  <a:rPr lang="en-US" altLang="zh-CN" sz="2000" dirty="0">
                    <a:latin typeface="Cambria" panose="02040503050406030204" pitchFamily="18" charset="0"/>
                    <a:ea typeface="Cambria" panose="02040503050406030204" pitchFamily="18" charset="0"/>
                  </a:rPr>
                  <a:t>.</a:t>
                </a:r>
              </a:p>
              <a:p>
                <a:pPr marL="342900" lvl="0" indent="-342900">
                  <a:lnSpc>
                    <a:spcPct val="200000"/>
                  </a:lnSpc>
                  <a:buFont typeface="Wingdings" panose="05000000000000000000" pitchFamily="2" charset="2"/>
                  <a:buChar char="Ø"/>
                  <a:defRPr/>
                </a:pPr>
                <a:r>
                  <a:rPr lang="en-US" altLang="zh-CN" sz="2000" dirty="0">
                    <a:latin typeface="Cambria" panose="02040503050406030204" pitchFamily="18" charset="0"/>
                    <a:ea typeface="Cambria" panose="02040503050406030204" pitchFamily="18" charset="0"/>
                  </a:rPr>
                  <a:t>Second, invert the generalized Schr</a:t>
                </a:r>
                <a:r>
                  <a:rPr lang="en-US" altLang="zh-CN" sz="2000" dirty="0">
                    <a:solidFill>
                      <a:srgbClr val="000000"/>
                    </a:solidFill>
                    <a:latin typeface="Cambria" panose="02040503050406030204" pitchFamily="18" charset="0"/>
                    <a:ea typeface="Cambria" panose="02040503050406030204" pitchFamily="18" charset="0"/>
                    <a:cs typeface="Arial" panose="020B0604020202020204" pitchFamily="34" charset="0"/>
                  </a:rPr>
                  <a:t>ö</a:t>
                </a:r>
                <a:r>
                  <a:rPr lang="en-US" altLang="zh-CN" sz="2000" dirty="0">
                    <a:latin typeface="Cambria" panose="02040503050406030204" pitchFamily="18" charset="0"/>
                    <a:ea typeface="Cambria" panose="02040503050406030204" pitchFamily="18" charset="0"/>
                  </a:rPr>
                  <a:t>dinger equation with an inhomogeneous term, obtain the unnatural parity admixture in the ground state. </a:t>
                </a:r>
                <a:endParaRPr kumimoji="0" lang="en-US" altLang="zh-CN"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endParaRPr>
              </a:p>
            </p:txBody>
          </p:sp>
        </mc:Choice>
        <mc:Fallback>
          <p:sp>
            <p:nvSpPr>
              <p:cNvPr id="19" name="文本框 18">
                <a:extLst>
                  <a:ext uri="{FF2B5EF4-FFF2-40B4-BE49-F238E27FC236}">
                    <a16:creationId xmlns:a16="http://schemas.microsoft.com/office/drawing/2014/main" id="{10F4E986-8F8A-A2E8-5146-99C13982B004}"/>
                  </a:ext>
                </a:extLst>
              </p:cNvPr>
              <p:cNvSpPr txBox="1">
                <a:spLocks noRot="1" noChangeAspect="1" noMove="1" noResize="1" noEditPoints="1" noAdjustHandles="1" noChangeArrowheads="1" noChangeShapeType="1" noTextEdit="1"/>
              </p:cNvSpPr>
              <p:nvPr/>
            </p:nvSpPr>
            <p:spPr>
              <a:xfrm>
                <a:off x="281023" y="946672"/>
                <a:ext cx="11174205" cy="1843453"/>
              </a:xfrm>
              <a:prstGeom prst="rect">
                <a:avLst/>
              </a:prstGeom>
              <a:blipFill>
                <a:blip r:embed="rId5"/>
                <a:stretch>
                  <a:fillRect l="-491" r="-382" b="-4620"/>
                </a:stretch>
              </a:blipFill>
            </p:spPr>
            <p:txBody>
              <a:bodyPr/>
              <a:lstStyle/>
              <a:p>
                <a:r>
                  <a:rPr lang="zh-CN" altLang="en-US">
                    <a:noFill/>
                  </a:rPr>
                  <a:t> </a:t>
                </a:r>
              </a:p>
            </p:txBody>
          </p:sp>
        </mc:Fallback>
      </mc:AlternateContent>
      <p:pic>
        <p:nvPicPr>
          <p:cNvPr id="31" name="图片 30">
            <a:extLst>
              <a:ext uri="{FF2B5EF4-FFF2-40B4-BE49-F238E27FC236}">
                <a16:creationId xmlns:a16="http://schemas.microsoft.com/office/drawing/2014/main" id="{B23548CB-6982-D1FB-0363-0BC5768190F6}"/>
              </a:ext>
            </a:extLst>
          </p:cNvPr>
          <p:cNvPicPr>
            <a:picLocks noChangeAspect="1"/>
          </p:cNvPicPr>
          <p:nvPr/>
        </p:nvPicPr>
        <p:blipFill>
          <a:blip r:embed="rId6"/>
          <a:stretch>
            <a:fillRect/>
          </a:stretch>
        </p:blipFill>
        <p:spPr>
          <a:xfrm>
            <a:off x="2953915" y="2790125"/>
            <a:ext cx="5468113" cy="962159"/>
          </a:xfrm>
          <a:prstGeom prst="rect">
            <a:avLst/>
          </a:prstGeom>
        </p:spPr>
      </p:pic>
      <p:sp>
        <p:nvSpPr>
          <p:cNvPr id="32" name="文本框 31">
            <a:extLst>
              <a:ext uri="{FF2B5EF4-FFF2-40B4-BE49-F238E27FC236}">
                <a16:creationId xmlns:a16="http://schemas.microsoft.com/office/drawing/2014/main" id="{98C7C700-4DC4-553C-CFA0-EAF822E4FCE0}"/>
              </a:ext>
            </a:extLst>
          </p:cNvPr>
          <p:cNvSpPr txBox="1"/>
          <p:nvPr/>
        </p:nvSpPr>
        <p:spPr>
          <a:xfrm>
            <a:off x="281023" y="3549113"/>
            <a:ext cx="12031210" cy="2459006"/>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altLang="zh-CN" sz="2000" dirty="0">
                <a:latin typeface="Cambria" panose="02040503050406030204" pitchFamily="18" charset="0"/>
                <a:ea typeface="Cambria" panose="02040503050406030204" pitchFamily="18" charset="0"/>
              </a:rPr>
              <a:t>The polarization contribution to the nuclear EDM is then calculated as,</a:t>
            </a:r>
          </a:p>
          <a:p>
            <a:pPr marL="342900" indent="-342900">
              <a:lnSpc>
                <a:spcPct val="200000"/>
              </a:lnSpc>
              <a:buFont typeface="Wingdings" panose="05000000000000000000" pitchFamily="2" charset="2"/>
              <a:buChar char="Ø"/>
            </a:pPr>
            <a:endParaRPr lang="en-US" altLang="zh-CN" sz="2000" dirty="0">
              <a:latin typeface="Cambria" panose="02040503050406030204" pitchFamily="18" charset="0"/>
              <a:ea typeface="Cambria" panose="02040503050406030204" pitchFamily="18" charset="0"/>
            </a:endParaRPr>
          </a:p>
          <a:p>
            <a:pPr marL="342900" indent="-342900">
              <a:lnSpc>
                <a:spcPct val="200000"/>
              </a:lnSpc>
              <a:buFont typeface="Wingdings" panose="05000000000000000000" pitchFamily="2" charset="2"/>
              <a:buChar char="Ø"/>
            </a:pPr>
            <a:endParaRPr lang="en-US" altLang="zh-CN" sz="2000" dirty="0">
              <a:latin typeface="Cambria" panose="02040503050406030204" pitchFamily="18" charset="0"/>
              <a:ea typeface="Cambria" panose="02040503050406030204" pitchFamily="18" charset="0"/>
            </a:endParaRPr>
          </a:p>
          <a:p>
            <a:pPr>
              <a:lnSpc>
                <a:spcPct val="200000"/>
              </a:lnSpc>
            </a:pPr>
            <a:endParaRPr lang="en-US" altLang="zh-CN" sz="2000" dirty="0">
              <a:latin typeface="Cambria" panose="02040503050406030204" pitchFamily="18" charset="0"/>
              <a:ea typeface="Cambria" panose="02040503050406030204" pitchFamily="18" charset="0"/>
            </a:endParaRPr>
          </a:p>
        </p:txBody>
      </p:sp>
      <p:grpSp>
        <p:nvGrpSpPr>
          <p:cNvPr id="33" name="组合 32">
            <a:extLst>
              <a:ext uri="{FF2B5EF4-FFF2-40B4-BE49-F238E27FC236}">
                <a16:creationId xmlns:a16="http://schemas.microsoft.com/office/drawing/2014/main" id="{E7A6D78F-D142-D0E4-5700-E54D7A346638}"/>
              </a:ext>
            </a:extLst>
          </p:cNvPr>
          <p:cNvGrpSpPr/>
          <p:nvPr/>
        </p:nvGrpSpPr>
        <p:grpSpPr>
          <a:xfrm>
            <a:off x="1167541" y="4332387"/>
            <a:ext cx="9401168" cy="1045992"/>
            <a:chOff x="841971" y="1505772"/>
            <a:chExt cx="9401168" cy="1045992"/>
          </a:xfrm>
        </p:grpSpPr>
        <mc:AlternateContent xmlns:mc="http://schemas.openxmlformats.org/markup-compatibility/2006">
          <mc:Choice xmlns:a14="http://schemas.microsoft.com/office/drawing/2010/main" Requires="a14">
            <p:sp>
              <p:nvSpPr>
                <p:cNvPr id="34" name="文本框 33">
                  <a:extLst>
                    <a:ext uri="{FF2B5EF4-FFF2-40B4-BE49-F238E27FC236}">
                      <a16:creationId xmlns:a16="http://schemas.microsoft.com/office/drawing/2014/main" id="{33A3D2FD-F402-5B18-DA91-24FE40A8B2AD}"/>
                    </a:ext>
                  </a:extLst>
                </p:cNvPr>
                <p:cNvSpPr txBox="1"/>
                <p:nvPr/>
              </p:nvSpPr>
              <p:spPr>
                <a:xfrm>
                  <a:off x="841971" y="1505772"/>
                  <a:ext cx="9401168" cy="104599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en-US" altLang="zh-CN" sz="2200" b="0" i="1" kern="1200" smtClean="0">
                                <a:solidFill>
                                  <a:srgbClr val="000000"/>
                                </a:solidFill>
                                <a:effectLst/>
                                <a:latin typeface="Cambria Math" panose="02040503050406030204" pitchFamily="18" charset="0"/>
                                <a:ea typeface="等线" panose="02010600030101010101" pitchFamily="2" charset="-122"/>
                              </a:rPr>
                            </m:ctrlPr>
                          </m:sSupPr>
                          <m:e>
                            <m:r>
                              <a:rPr lang="en-US" altLang="zh-CN" sz="2200" b="0" i="1" kern="1200" smtClean="0">
                                <a:solidFill>
                                  <a:srgbClr val="000000"/>
                                </a:solidFill>
                                <a:effectLst/>
                                <a:latin typeface="Cambria Math" panose="02040503050406030204" pitchFamily="18" charset="0"/>
                                <a:ea typeface="等线" panose="02010600030101010101" pitchFamily="2" charset="-122"/>
                              </a:rPr>
                              <m:t>𝐷</m:t>
                            </m:r>
                          </m:e>
                          <m:sup>
                            <m:r>
                              <a:rPr lang="en-US" altLang="zh-CN" sz="2200" b="0" i="1" kern="1200" smtClean="0">
                                <a:solidFill>
                                  <a:srgbClr val="000000"/>
                                </a:solidFill>
                                <a:effectLst/>
                                <a:latin typeface="Cambria Math" panose="02040503050406030204" pitchFamily="18" charset="0"/>
                                <a:ea typeface="等线" panose="02010600030101010101" pitchFamily="2" charset="-122"/>
                              </a:rPr>
                              <m:t>(</m:t>
                            </m:r>
                            <m:r>
                              <a:rPr lang="en-US" altLang="zh-CN" sz="2200" b="0" i="1" kern="1200" smtClean="0">
                                <a:solidFill>
                                  <a:srgbClr val="000000"/>
                                </a:solidFill>
                                <a:effectLst/>
                                <a:latin typeface="Cambria Math" panose="02040503050406030204" pitchFamily="18" charset="0"/>
                                <a:ea typeface="等线" panose="02010600030101010101" pitchFamily="2" charset="-122"/>
                              </a:rPr>
                              <m:t>𝑝𝑜𝑙</m:t>
                            </m:r>
                            <m:r>
                              <a:rPr lang="en-US" altLang="zh-CN" sz="2200" b="0" i="1" kern="1200" smtClean="0">
                                <a:solidFill>
                                  <a:srgbClr val="000000"/>
                                </a:solidFill>
                                <a:effectLst/>
                                <a:latin typeface="Cambria Math" panose="02040503050406030204" pitchFamily="18" charset="0"/>
                                <a:ea typeface="等线" panose="02010600030101010101" pitchFamily="2" charset="-122"/>
                              </a:rPr>
                              <m:t>)</m:t>
                            </m:r>
                          </m:sup>
                        </m:sSup>
                        <m:r>
                          <a:rPr lang="en-US" altLang="zh-CN" sz="2200" b="0" i="1" kern="1200" smtClean="0">
                            <a:solidFill>
                              <a:srgbClr val="000000"/>
                            </a:solidFill>
                            <a:effectLst/>
                            <a:latin typeface="Cambria Math" panose="02040503050406030204" pitchFamily="18" charset="0"/>
                            <a:ea typeface="等线" panose="02010600030101010101" pitchFamily="2" charset="-122"/>
                          </a:rPr>
                          <m:t>=⟨</m:t>
                        </m:r>
                        <m:r>
                          <m:rPr>
                            <m:sty m:val="p"/>
                          </m:rPr>
                          <a:rPr lang="en-US" altLang="zh-CN" sz="2200">
                            <a:solidFill>
                              <a:srgbClr val="000000"/>
                            </a:solidFill>
                            <a:latin typeface="Cambria Math" panose="02040503050406030204" pitchFamily="18" charset="0"/>
                          </a:rPr>
                          <m:t>A</m:t>
                        </m:r>
                        <m:r>
                          <a:rPr lang="en-US" altLang="zh-CN" sz="2200">
                            <a:solidFill>
                              <a:srgbClr val="000000"/>
                            </a:solidFill>
                            <a:latin typeface="Cambria Math" panose="02040503050406030204" pitchFamily="18" charset="0"/>
                          </a:rPr>
                          <m:t> </m:t>
                        </m:r>
                        <m:r>
                          <m:rPr>
                            <m:sty m:val="p"/>
                          </m:rPr>
                          <a:rPr lang="en-US" altLang="zh-CN" sz="2200">
                            <a:solidFill>
                              <a:srgbClr val="000000"/>
                            </a:solidFill>
                            <a:latin typeface="Cambria Math" panose="02040503050406030204" pitchFamily="18" charset="0"/>
                          </a:rPr>
                          <m:t>g</m:t>
                        </m:r>
                        <m:r>
                          <a:rPr lang="en-US" altLang="zh-CN" sz="2200">
                            <a:solidFill>
                              <a:srgbClr val="000000"/>
                            </a:solidFill>
                            <a:latin typeface="Cambria Math" panose="02040503050406030204" pitchFamily="18" charset="0"/>
                          </a:rPr>
                          <m:t>.</m:t>
                        </m:r>
                        <m:r>
                          <m:rPr>
                            <m:sty m:val="p"/>
                          </m:rPr>
                          <a:rPr lang="en-US" altLang="zh-CN" sz="2200">
                            <a:solidFill>
                              <a:srgbClr val="000000"/>
                            </a:solidFill>
                            <a:latin typeface="Cambria Math" panose="02040503050406030204" pitchFamily="18" charset="0"/>
                          </a:rPr>
                          <m:t>s</m:t>
                        </m:r>
                        <m:r>
                          <a:rPr lang="en-US" altLang="zh-CN" sz="2200">
                            <a:solidFill>
                              <a:srgbClr val="000000"/>
                            </a:solidFill>
                            <a:latin typeface="Cambria Math" panose="02040503050406030204" pitchFamily="18" charset="0"/>
                          </a:rPr>
                          <m:t>.  </m:t>
                        </m:r>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𝐼</m:t>
                            </m:r>
                          </m:e>
                          <m:sup>
                            <m:r>
                              <a:rPr lang="en-US" altLang="zh-CN" sz="2200" i="1">
                                <a:solidFill>
                                  <a:srgbClr val="000000"/>
                                </a:solidFill>
                                <a:latin typeface="Cambria Math" panose="02040503050406030204" pitchFamily="18" charset="0"/>
                              </a:rPr>
                              <m:t>𝜋</m:t>
                            </m:r>
                          </m:sup>
                        </m:sSup>
                        <m:r>
                          <a:rPr lang="en-US" altLang="zh-CN" sz="2200" b="0" i="1" smtClean="0">
                            <a:solidFill>
                              <a:srgbClr val="000000"/>
                            </a:solidFill>
                            <a:latin typeface="Cambria Math" panose="02040503050406030204" pitchFamily="18" charset="0"/>
                          </a:rPr>
                          <m:t>|</m:t>
                        </m:r>
                        <m:f>
                          <m:fPr>
                            <m:ctrlPr>
                              <a:rPr lang="en-US" altLang="zh-CN" sz="2200" i="1">
                                <a:solidFill>
                                  <a:srgbClr val="000000"/>
                                </a:solidFill>
                                <a:latin typeface="Cambria Math" panose="02040503050406030204" pitchFamily="18" charset="0"/>
                              </a:rPr>
                            </m:ctrlPr>
                          </m:fPr>
                          <m:num>
                            <m:r>
                              <a:rPr lang="en-US" altLang="zh-CN" sz="2200" b="0" i="1" smtClean="0">
                                <a:solidFill>
                                  <a:srgbClr val="000000"/>
                                </a:solidFill>
                                <a:latin typeface="Cambria Math" panose="02040503050406030204" pitchFamily="18" charset="0"/>
                              </a:rPr>
                              <m:t>𝑒</m:t>
                            </m:r>
                          </m:num>
                          <m:den>
                            <m:r>
                              <a:rPr lang="en-US" altLang="zh-CN" sz="2200" i="1">
                                <a:solidFill>
                                  <a:srgbClr val="000000"/>
                                </a:solidFill>
                                <a:latin typeface="Cambria Math" panose="02040503050406030204" pitchFamily="18" charset="0"/>
                              </a:rPr>
                              <m:t>2</m:t>
                            </m:r>
                          </m:den>
                        </m:f>
                        <m:nary>
                          <m:naryPr>
                            <m:chr m:val="∑"/>
                            <m:ctrlPr>
                              <a:rPr lang="en-US" altLang="zh-CN" sz="2200" b="0" i="1" smtClean="0">
                                <a:solidFill>
                                  <a:srgbClr val="000000"/>
                                </a:solidFill>
                                <a:latin typeface="Cambria Math" panose="02040503050406030204" pitchFamily="18" charset="0"/>
                              </a:rPr>
                            </m:ctrlPr>
                          </m:naryPr>
                          <m:sub>
                            <m:r>
                              <m:rPr>
                                <m:brk m:alnAt="23"/>
                              </m:rPr>
                              <a:rPr lang="en-US" altLang="zh-CN" sz="2200" b="0" i="1" smtClean="0">
                                <a:solidFill>
                                  <a:srgbClr val="000000"/>
                                </a:solidFill>
                                <a:latin typeface="Cambria Math" panose="02040503050406030204" pitchFamily="18" charset="0"/>
                              </a:rPr>
                              <m:t>𝑖</m:t>
                            </m:r>
                            <m:r>
                              <a:rPr lang="en-US" altLang="zh-CN" sz="2200" b="0" i="1" smtClean="0">
                                <a:solidFill>
                                  <a:srgbClr val="000000"/>
                                </a:solidFill>
                                <a:latin typeface="Cambria Math" panose="02040503050406030204" pitchFamily="18" charset="0"/>
                              </a:rPr>
                              <m:t>=1</m:t>
                            </m:r>
                          </m:sub>
                          <m:sup>
                            <m:r>
                              <a:rPr lang="en-US" altLang="zh-CN" sz="2200" b="0" i="1" smtClean="0">
                                <a:solidFill>
                                  <a:srgbClr val="000000"/>
                                </a:solidFill>
                                <a:latin typeface="Cambria Math" panose="02040503050406030204" pitchFamily="18" charset="0"/>
                              </a:rPr>
                              <m:t>𝐴</m:t>
                            </m:r>
                          </m:sup>
                          <m:e>
                            <m:d>
                              <m:dPr>
                                <m:ctrlPr>
                                  <a:rPr lang="en-US" altLang="zh-CN" sz="2200" b="0" i="1" smtClean="0">
                                    <a:solidFill>
                                      <a:srgbClr val="000000"/>
                                    </a:solidFill>
                                    <a:latin typeface="Cambria Math" panose="02040503050406030204" pitchFamily="18" charset="0"/>
                                  </a:rPr>
                                </m:ctrlPr>
                              </m:dPr>
                              <m:e>
                                <m:r>
                                  <a:rPr lang="en-US" altLang="zh-CN" sz="2200" b="0" i="1" smtClean="0">
                                    <a:solidFill>
                                      <a:srgbClr val="000000"/>
                                    </a:solidFill>
                                    <a:latin typeface="Cambria Math" panose="02040503050406030204" pitchFamily="18" charset="0"/>
                                  </a:rPr>
                                  <m:t>1+</m:t>
                                </m:r>
                                <m:sSubSup>
                                  <m:sSubSupPr>
                                    <m:ctrlPr>
                                      <a:rPr lang="en-US" altLang="zh-CN" sz="2200" b="0" i="1" smtClean="0">
                                        <a:solidFill>
                                          <a:srgbClr val="000000"/>
                                        </a:solidFill>
                                        <a:latin typeface="Cambria Math" panose="02040503050406030204" pitchFamily="18" charset="0"/>
                                      </a:rPr>
                                    </m:ctrlPr>
                                  </m:sSubSupPr>
                                  <m:e>
                                    <m:r>
                                      <a:rPr lang="en-US" altLang="zh-CN" sz="2200" b="0" i="1" smtClean="0">
                                        <a:solidFill>
                                          <a:srgbClr val="000000"/>
                                        </a:solidFill>
                                        <a:latin typeface="Cambria Math" panose="02040503050406030204" pitchFamily="18" charset="0"/>
                                      </a:rPr>
                                      <m:t>𝜏</m:t>
                                    </m:r>
                                  </m:e>
                                  <m:sub>
                                    <m:r>
                                      <a:rPr lang="en-US" altLang="zh-CN" sz="2200" b="0" i="1" smtClean="0">
                                        <a:solidFill>
                                          <a:srgbClr val="000000"/>
                                        </a:solidFill>
                                        <a:latin typeface="Cambria Math" panose="02040503050406030204" pitchFamily="18" charset="0"/>
                                      </a:rPr>
                                      <m:t>𝑖</m:t>
                                    </m:r>
                                  </m:sub>
                                  <m:sup>
                                    <m:r>
                                      <a:rPr lang="en-US" altLang="zh-CN" sz="2200" b="0" i="1" smtClean="0">
                                        <a:solidFill>
                                          <a:srgbClr val="000000"/>
                                        </a:solidFill>
                                        <a:latin typeface="Cambria Math" panose="02040503050406030204" pitchFamily="18" charset="0"/>
                                      </a:rPr>
                                      <m:t>𝑧</m:t>
                                    </m:r>
                                  </m:sup>
                                </m:sSubSup>
                              </m:e>
                            </m:d>
                            <m:sSub>
                              <m:sSubPr>
                                <m:ctrlPr>
                                  <a:rPr lang="en-US" altLang="zh-CN" sz="2200" b="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𝑧</m:t>
                                </m:r>
                              </m:e>
                              <m:sub>
                                <m:r>
                                  <a:rPr lang="en-US" altLang="zh-CN" sz="2200" b="0" i="1" smtClean="0">
                                    <a:solidFill>
                                      <a:srgbClr val="000000"/>
                                    </a:solidFill>
                                    <a:latin typeface="Cambria Math" panose="02040503050406030204" pitchFamily="18" charset="0"/>
                                  </a:rPr>
                                  <m:t>𝑖</m:t>
                                </m:r>
                              </m:sub>
                            </m:sSub>
                          </m:e>
                        </m:nary>
                        <m:r>
                          <a:rPr lang="en-US" altLang="zh-CN" sz="2200" b="0" i="1" smtClean="0">
                            <a:solidFill>
                              <a:srgbClr val="000000"/>
                            </a:solidFill>
                            <a:latin typeface="Cambria Math" panose="02040503050406030204" pitchFamily="18" charset="0"/>
                          </a:rPr>
                          <m:t>|</m:t>
                        </m:r>
                        <m:r>
                          <a:rPr lang="pt-BR" altLang="zh-CN" sz="2200" i="1">
                            <a:solidFill>
                              <a:srgbClr val="000000"/>
                            </a:solidFill>
                            <a:latin typeface="Cambria Math" panose="02040503050406030204" pitchFamily="18" charset="0"/>
                          </a:rPr>
                          <m:t>𝐴</m:t>
                        </m:r>
                        <m:r>
                          <a:rPr lang="pt-BR" altLang="zh-CN" sz="2200" i="1">
                            <a:solidFill>
                              <a:srgbClr val="000000"/>
                            </a:solidFill>
                            <a:latin typeface="Cambria Math" panose="02040503050406030204" pitchFamily="18" charset="0"/>
                          </a:rPr>
                          <m:t> </m:t>
                        </m:r>
                        <m:r>
                          <a:rPr lang="pt-BR" altLang="zh-CN" sz="2200" i="1">
                            <a:solidFill>
                              <a:srgbClr val="000000"/>
                            </a:solidFill>
                            <a:latin typeface="Cambria Math" panose="02040503050406030204" pitchFamily="18" charset="0"/>
                          </a:rPr>
                          <m:t>𝑔</m:t>
                        </m:r>
                        <m:r>
                          <a:rPr lang="pt-BR" altLang="zh-CN" sz="2200" i="1">
                            <a:solidFill>
                              <a:srgbClr val="000000"/>
                            </a:solidFill>
                            <a:latin typeface="Cambria Math" panose="02040503050406030204" pitchFamily="18" charset="0"/>
                          </a:rPr>
                          <m:t>.</m:t>
                        </m:r>
                        <m:r>
                          <a:rPr lang="pt-BR" altLang="zh-CN" sz="2200" i="1">
                            <a:solidFill>
                              <a:srgbClr val="000000"/>
                            </a:solidFill>
                            <a:latin typeface="Cambria Math" panose="02040503050406030204" pitchFamily="18" charset="0"/>
                          </a:rPr>
                          <m:t>𝑠</m:t>
                        </m:r>
                        <m:r>
                          <a:rPr lang="pt-BR" altLang="zh-CN" sz="2200" i="1">
                            <a:solidFill>
                              <a:srgbClr val="000000"/>
                            </a:solidFill>
                            <a:latin typeface="Cambria Math" panose="02040503050406030204" pitchFamily="18" charset="0"/>
                          </a:rPr>
                          <m:t>. </m:t>
                        </m:r>
                        <m:r>
                          <a:rPr lang="en-US" altLang="zh-CN" sz="2200" b="0" i="1" smtClean="0">
                            <a:solidFill>
                              <a:srgbClr val="000000"/>
                            </a:solidFill>
                            <a:latin typeface="Cambria Math" panose="02040503050406030204" pitchFamily="18" charset="0"/>
                          </a:rPr>
                          <m:t>𝐼</m:t>
                        </m:r>
                        <m:r>
                          <a:rPr lang="en-US" altLang="zh-CN" sz="2200" b="0" i="1" smtClean="0">
                            <a:solidFill>
                              <a:srgbClr val="000000"/>
                            </a:solidFill>
                            <a:latin typeface="Cambria Math" panose="02040503050406030204" pitchFamily="18" charset="0"/>
                          </a:rPr>
                          <m:t>⟩+</m:t>
                        </m:r>
                        <m:r>
                          <a:rPr lang="en-US" altLang="zh-CN" sz="2200" i="1">
                            <a:solidFill>
                              <a:srgbClr val="000000"/>
                            </a:solidFill>
                            <a:latin typeface="Cambria Math" panose="02040503050406030204" pitchFamily="18" charset="0"/>
                          </a:rPr>
                          <m:t>h</m:t>
                        </m:r>
                        <m:r>
                          <a:rPr lang="en-US" altLang="zh-CN" sz="2200" i="1">
                            <a:solidFill>
                              <a:srgbClr val="000000"/>
                            </a:solidFill>
                            <a:latin typeface="Cambria Math" panose="02040503050406030204" pitchFamily="18" charset="0"/>
                          </a:rPr>
                          <m:t>.</m:t>
                        </m:r>
                        <m:r>
                          <a:rPr lang="en-US" altLang="zh-CN" sz="2200" i="1">
                            <a:solidFill>
                              <a:srgbClr val="000000"/>
                            </a:solidFill>
                            <a:latin typeface="Cambria Math" panose="02040503050406030204" pitchFamily="18" charset="0"/>
                          </a:rPr>
                          <m:t>𝑐</m:t>
                        </m:r>
                        <m:r>
                          <a:rPr lang="en-US" altLang="zh-CN" sz="2200" i="1">
                            <a:solidFill>
                              <a:srgbClr val="000000"/>
                            </a:solidFill>
                            <a:latin typeface="Cambria Math" panose="02040503050406030204" pitchFamily="18" charset="0"/>
                          </a:rPr>
                          <m:t>.</m:t>
                        </m:r>
                      </m:oMath>
                    </m:oMathPara>
                  </a14:m>
                  <a:endParaRPr lang="zh-CN" altLang="zh-CN" sz="2200" dirty="0">
                    <a:effectLst/>
                  </a:endParaRPr>
                </a:p>
              </p:txBody>
            </p:sp>
          </mc:Choice>
          <mc:Fallback>
            <p:sp>
              <p:nvSpPr>
                <p:cNvPr id="34" name="文本框 33">
                  <a:extLst>
                    <a:ext uri="{FF2B5EF4-FFF2-40B4-BE49-F238E27FC236}">
                      <a16:creationId xmlns:a16="http://schemas.microsoft.com/office/drawing/2014/main" id="{33A3D2FD-F402-5B18-DA91-24FE40A8B2AD}"/>
                    </a:ext>
                  </a:extLst>
                </p:cNvPr>
                <p:cNvSpPr txBox="1">
                  <a:spLocks noRot="1" noChangeAspect="1" noMove="1" noResize="1" noEditPoints="1" noAdjustHandles="1" noChangeArrowheads="1" noChangeShapeType="1" noTextEdit="1"/>
                </p:cNvSpPr>
                <p:nvPr/>
              </p:nvSpPr>
              <p:spPr>
                <a:xfrm>
                  <a:off x="841971" y="1505772"/>
                  <a:ext cx="9401168" cy="1045992"/>
                </a:xfrm>
                <a:prstGeom prst="rect">
                  <a:avLst/>
                </a:prstGeom>
                <a:blipFill>
                  <a:blip r:embed="rId7"/>
                  <a:stretch>
                    <a:fillRect/>
                  </a:stretch>
                </a:blipFill>
              </p:spPr>
              <p:txBody>
                <a:bodyPr/>
                <a:lstStyle/>
                <a:p>
                  <a:r>
                    <a:rPr lang="zh-CN" altLang="en-US">
                      <a:noFill/>
                    </a:rPr>
                    <a:t> </a:t>
                  </a:r>
                </a:p>
              </p:txBody>
            </p:sp>
          </mc:Fallback>
        </mc:AlternateContent>
        <p:sp>
          <p:nvSpPr>
            <p:cNvPr id="35" name="Rounded Rectangle 1">
              <a:extLst>
                <a:ext uri="{FF2B5EF4-FFF2-40B4-BE49-F238E27FC236}">
                  <a16:creationId xmlns:a16="http://schemas.microsoft.com/office/drawing/2014/main" id="{505B3DD0-0174-3CA4-087E-BDD11E21B923}"/>
                </a:ext>
              </a:extLst>
            </p:cNvPr>
            <p:cNvSpPr/>
            <p:nvPr/>
          </p:nvSpPr>
          <p:spPr>
            <a:xfrm>
              <a:off x="6715318" y="1847085"/>
              <a:ext cx="1054460" cy="377499"/>
            </a:xfrm>
            <a:prstGeom prst="roundRect">
              <a:avLst/>
            </a:prstGeom>
            <a:noFill/>
            <a:ln w="38100">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spTree>
    <p:extLst>
      <p:ext uri="{BB962C8B-B14F-4D97-AF65-F5344CB8AC3E}">
        <p14:creationId xmlns:p14="http://schemas.microsoft.com/office/powerpoint/2010/main" val="2972119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9EC38-285C-1139-19D2-9EF4D833441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510B3F31-4EAF-A34D-4285-188611055E5F}"/>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6486106B-673D-E5D1-AB14-9DC53B60ECF6}"/>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555F6CDE-9596-10E4-C3D8-F0A8611D3787}"/>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701C5209-7525-F411-1A8C-83B165A702EC}"/>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0749B027-85CD-85A0-E27E-36CF0AD9C26E}"/>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8</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B8ED0FAE-89E3-147D-7FC5-2544E414315E}"/>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431A838F-2171-90E5-133B-C0D9652EDC53}"/>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4FB740E5-CDBD-6FD4-2CF9-071C2D272E78}"/>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9892F0F1-FDAE-1BAE-B9E4-0B5AD5F973F4}"/>
              </a:ext>
            </a:extLst>
          </p:cNvPr>
          <p:cNvSpPr txBox="1"/>
          <p:nvPr/>
        </p:nvSpPr>
        <p:spPr>
          <a:xfrm>
            <a:off x="82982" y="66597"/>
            <a:ext cx="6104466" cy="523220"/>
          </a:xfrm>
          <a:prstGeom prst="rect">
            <a:avLst/>
          </a:prstGeom>
          <a:noFill/>
        </p:spPr>
        <p:txBody>
          <a:bodyPr wrap="square">
            <a:spAutoFit/>
          </a:bodyPr>
          <a:lstStyle/>
          <a:p>
            <a:r>
              <a:rPr lang="en-US" altLang="zh-CN" sz="2800" dirty="0">
                <a:solidFill>
                  <a:srgbClr val="FFFFFF"/>
                </a:solidFill>
                <a:latin typeface="LMSans12-Regular"/>
                <a:ea typeface="等线" panose="02010600030101010101" pitchFamily="2" charset="-122"/>
              </a:rPr>
              <a:t>Results and Discussion</a:t>
            </a:r>
            <a:endParaRPr lang="zh-CN" altLang="en-US" dirty="0"/>
          </a:p>
        </p:txBody>
      </p:sp>
      <p:pic>
        <p:nvPicPr>
          <p:cNvPr id="17" name="图片 16">
            <a:extLst>
              <a:ext uri="{FF2B5EF4-FFF2-40B4-BE49-F238E27FC236}">
                <a16:creationId xmlns:a16="http://schemas.microsoft.com/office/drawing/2014/main" id="{900E7A85-0B0E-688B-18B3-77D175A44E33}"/>
              </a:ext>
            </a:extLst>
          </p:cNvPr>
          <p:cNvPicPr>
            <a:picLocks noChangeAspect="1"/>
          </p:cNvPicPr>
          <p:nvPr/>
        </p:nvPicPr>
        <p:blipFill>
          <a:blip r:embed="rId5"/>
          <a:stretch>
            <a:fillRect/>
          </a:stretch>
        </p:blipFill>
        <p:spPr>
          <a:xfrm>
            <a:off x="6683830" y="1001641"/>
            <a:ext cx="4593039" cy="5448126"/>
          </a:xfrm>
          <a:prstGeom prst="rect">
            <a:avLst/>
          </a:prstGeom>
        </p:spPr>
      </p:pic>
      <p:pic>
        <p:nvPicPr>
          <p:cNvPr id="19" name="图片 18">
            <a:extLst>
              <a:ext uri="{FF2B5EF4-FFF2-40B4-BE49-F238E27FC236}">
                <a16:creationId xmlns:a16="http://schemas.microsoft.com/office/drawing/2014/main" id="{9C80FD93-181C-AEA6-1C62-E9551840F18C}"/>
              </a:ext>
            </a:extLst>
          </p:cNvPr>
          <p:cNvPicPr>
            <a:picLocks noChangeAspect="1"/>
          </p:cNvPicPr>
          <p:nvPr/>
        </p:nvPicPr>
        <p:blipFill>
          <a:blip r:embed="rId6"/>
          <a:stretch>
            <a:fillRect/>
          </a:stretch>
        </p:blipFill>
        <p:spPr>
          <a:xfrm>
            <a:off x="625627" y="1001641"/>
            <a:ext cx="5470373" cy="3858330"/>
          </a:xfrm>
          <a:prstGeom prst="rect">
            <a:avLst/>
          </a:prstGeom>
        </p:spPr>
      </p:pic>
      <p:pic>
        <p:nvPicPr>
          <p:cNvPr id="22" name="图片 21">
            <a:extLst>
              <a:ext uri="{FF2B5EF4-FFF2-40B4-BE49-F238E27FC236}">
                <a16:creationId xmlns:a16="http://schemas.microsoft.com/office/drawing/2014/main" id="{0C3A08E1-4917-9ABE-2C07-DBC60DF41FB5}"/>
              </a:ext>
            </a:extLst>
          </p:cNvPr>
          <p:cNvPicPr>
            <a:picLocks noChangeAspect="1"/>
          </p:cNvPicPr>
          <p:nvPr/>
        </p:nvPicPr>
        <p:blipFill>
          <a:blip r:embed="rId7"/>
          <a:stretch>
            <a:fillRect/>
          </a:stretch>
        </p:blipFill>
        <p:spPr>
          <a:xfrm>
            <a:off x="625626" y="5150817"/>
            <a:ext cx="5470374" cy="812358"/>
          </a:xfrm>
          <a:prstGeom prst="rect">
            <a:avLst/>
          </a:prstGeom>
        </p:spPr>
      </p:pic>
    </p:spTree>
    <p:extLst>
      <p:ext uri="{BB962C8B-B14F-4D97-AF65-F5344CB8AC3E}">
        <p14:creationId xmlns:p14="http://schemas.microsoft.com/office/powerpoint/2010/main" val="385142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F0C1E-D219-3657-05B9-68645E51052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4777860-3F1B-830B-B6CE-1BDC15E95C1F}"/>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35E63ACB-1AB0-2D54-0680-AF9105337389}"/>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ACB3EF65-AB0E-F5DA-EC5C-E0047494BCED}"/>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D10A29BA-43D6-FED9-7490-067259F584F5}"/>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B4185B22-2E76-49F4-16DA-FEFC7D2E91A9}"/>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9</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00FF705D-B981-1224-02DD-2A733849639E}"/>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6441A5B1-039F-040E-D319-292687F695B9}"/>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D54711A5-0C0A-8979-9F77-0595F3B892EA}"/>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36599D8A-B0D0-768A-EEB6-EB21E5F1E8CB}"/>
              </a:ext>
            </a:extLst>
          </p:cNvPr>
          <p:cNvSpPr txBox="1"/>
          <p:nvPr/>
        </p:nvSpPr>
        <p:spPr>
          <a:xfrm>
            <a:off x="82982" y="66597"/>
            <a:ext cx="6104466" cy="523220"/>
          </a:xfrm>
          <a:prstGeom prst="rect">
            <a:avLst/>
          </a:prstGeom>
          <a:noFill/>
        </p:spPr>
        <p:txBody>
          <a:bodyPr wrap="square">
            <a:spAutoFit/>
          </a:bodyPr>
          <a:lstStyle/>
          <a:p>
            <a:r>
              <a:rPr lang="en-US" altLang="zh-CN" sz="2800" dirty="0">
                <a:solidFill>
                  <a:srgbClr val="FFFFFF"/>
                </a:solidFill>
                <a:latin typeface="LMSans12-Regular"/>
                <a:ea typeface="等线" panose="02010600030101010101" pitchFamily="2" charset="-122"/>
              </a:rPr>
              <a:t>Results and Discussion</a:t>
            </a:r>
            <a:endParaRPr lang="zh-CN" altLang="en-US" dirty="0"/>
          </a:p>
        </p:txBody>
      </p:sp>
      <p:pic>
        <p:nvPicPr>
          <p:cNvPr id="11" name="图片 10">
            <a:extLst>
              <a:ext uri="{FF2B5EF4-FFF2-40B4-BE49-F238E27FC236}">
                <a16:creationId xmlns:a16="http://schemas.microsoft.com/office/drawing/2014/main" id="{BA32D64D-8B7E-2673-8B65-5191ED4BB8A4}"/>
              </a:ext>
            </a:extLst>
          </p:cNvPr>
          <p:cNvPicPr>
            <a:picLocks noChangeAspect="1"/>
          </p:cNvPicPr>
          <p:nvPr/>
        </p:nvPicPr>
        <p:blipFill>
          <a:blip r:embed="rId5"/>
          <a:stretch>
            <a:fillRect/>
          </a:stretch>
        </p:blipFill>
        <p:spPr>
          <a:xfrm>
            <a:off x="683708" y="894705"/>
            <a:ext cx="4483512" cy="2288195"/>
          </a:xfrm>
          <a:prstGeom prst="rect">
            <a:avLst/>
          </a:prstGeom>
        </p:spPr>
      </p:pic>
      <p:sp>
        <p:nvSpPr>
          <p:cNvPr id="12" name="文本框 11">
            <a:extLst>
              <a:ext uri="{FF2B5EF4-FFF2-40B4-BE49-F238E27FC236}">
                <a16:creationId xmlns:a16="http://schemas.microsoft.com/office/drawing/2014/main" id="{9DA80FA1-4E0D-1761-3DE0-9B08693EC668}"/>
              </a:ext>
            </a:extLst>
          </p:cNvPr>
          <p:cNvSpPr txBox="1"/>
          <p:nvPr/>
        </p:nvSpPr>
        <p:spPr>
          <a:xfrm>
            <a:off x="5723529" y="1245019"/>
            <a:ext cx="6104238" cy="276999"/>
          </a:xfrm>
          <a:prstGeom prst="rect">
            <a:avLst/>
          </a:prstGeom>
          <a:noFill/>
        </p:spPr>
        <p:txBody>
          <a:bodyPr wrap="square">
            <a:spAutoFit/>
          </a:bodyPr>
          <a:lstStyle/>
          <a:p>
            <a:pPr lvl="0">
              <a:defRPr/>
            </a:pPr>
            <a:r>
              <a:rPr kumimoji="0" lang="en-US" altLang="zh-CN" sz="12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rPr>
              <a:t> I. </a:t>
            </a:r>
            <a:r>
              <a:rPr kumimoji="0" lang="en-US" altLang="zh-CN" sz="1200" b="0" i="0" u="none" strike="noStrike" kern="1200" cap="none" spc="0" normalizeH="0" baseline="0" noProof="0" dirty="0" err="1">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rPr>
              <a:t>Stetcu</a:t>
            </a:r>
            <a:r>
              <a:rPr kumimoji="0" lang="en-US" altLang="zh-CN" sz="1200" b="0" i="0" u="none" strike="noStrike" kern="1200" cap="none" spc="0" normalizeH="0" baseline="0" noProof="0" dirty="0">
                <a:ln>
                  <a:noFill/>
                </a:ln>
                <a:solidFill>
                  <a:srgbClr val="FF0000"/>
                </a:solidFill>
                <a:effectLst/>
                <a:uLnTx/>
                <a:uFillTx/>
                <a:latin typeface="Arial" panose="020B0604020202020204" pitchFamily="34" charset="0"/>
                <a:ea typeface="等线" panose="02010600030101010101" pitchFamily="2" charset="-122"/>
                <a:cs typeface="Arial" panose="020B0604020202020204" pitchFamily="34" charset="0"/>
              </a:rPr>
              <a:t>, C.-P. Liu, J. Friar, A. Hayes, and P. Navratil, PLB 665, 168 (2008).</a:t>
            </a:r>
          </a:p>
        </p:txBody>
      </p:sp>
      <p:grpSp>
        <p:nvGrpSpPr>
          <p:cNvPr id="20" name="组合 19">
            <a:extLst>
              <a:ext uri="{FF2B5EF4-FFF2-40B4-BE49-F238E27FC236}">
                <a16:creationId xmlns:a16="http://schemas.microsoft.com/office/drawing/2014/main" id="{CCCD1AEC-9593-E5EC-750E-74520FF0D907}"/>
              </a:ext>
            </a:extLst>
          </p:cNvPr>
          <p:cNvGrpSpPr/>
          <p:nvPr/>
        </p:nvGrpSpPr>
        <p:grpSpPr>
          <a:xfrm>
            <a:off x="5767946" y="2145790"/>
            <a:ext cx="5412292" cy="3869827"/>
            <a:chOff x="6104238" y="1427543"/>
            <a:chExt cx="5103486" cy="3666374"/>
          </a:xfrm>
        </p:grpSpPr>
        <p:pic>
          <p:nvPicPr>
            <p:cNvPr id="15" name="图片 14">
              <a:extLst>
                <a:ext uri="{FF2B5EF4-FFF2-40B4-BE49-F238E27FC236}">
                  <a16:creationId xmlns:a16="http://schemas.microsoft.com/office/drawing/2014/main" id="{AF1195C3-EE0D-870D-5CAC-2C6C07F7EE83}"/>
                </a:ext>
              </a:extLst>
            </p:cNvPr>
            <p:cNvPicPr>
              <a:picLocks noChangeAspect="1"/>
            </p:cNvPicPr>
            <p:nvPr/>
          </p:nvPicPr>
          <p:blipFill>
            <a:blip r:embed="rId6"/>
            <a:stretch>
              <a:fillRect/>
            </a:stretch>
          </p:blipFill>
          <p:spPr>
            <a:xfrm>
              <a:off x="6104238" y="1427543"/>
              <a:ext cx="5077534" cy="1609950"/>
            </a:xfrm>
            <a:prstGeom prst="rect">
              <a:avLst/>
            </a:prstGeom>
          </p:spPr>
        </p:pic>
        <p:pic>
          <p:nvPicPr>
            <p:cNvPr id="18" name="图片 17">
              <a:extLst>
                <a:ext uri="{FF2B5EF4-FFF2-40B4-BE49-F238E27FC236}">
                  <a16:creationId xmlns:a16="http://schemas.microsoft.com/office/drawing/2014/main" id="{6138BAEE-706D-0193-8D9C-27409DF65712}"/>
                </a:ext>
              </a:extLst>
            </p:cNvPr>
            <p:cNvPicPr>
              <a:picLocks noChangeAspect="1"/>
            </p:cNvPicPr>
            <p:nvPr/>
          </p:nvPicPr>
          <p:blipFill>
            <a:blip r:embed="rId7"/>
            <a:srcRect t="761"/>
            <a:stretch>
              <a:fillRect/>
            </a:stretch>
          </p:blipFill>
          <p:spPr>
            <a:xfrm>
              <a:off x="6206401" y="2995165"/>
              <a:ext cx="5001323" cy="2098752"/>
            </a:xfrm>
            <a:prstGeom prst="rect">
              <a:avLst/>
            </a:prstGeom>
          </p:spPr>
        </p:pic>
      </p:grpSp>
      <p:pic>
        <p:nvPicPr>
          <p:cNvPr id="24" name="图片 23">
            <a:extLst>
              <a:ext uri="{FF2B5EF4-FFF2-40B4-BE49-F238E27FC236}">
                <a16:creationId xmlns:a16="http://schemas.microsoft.com/office/drawing/2014/main" id="{C8E91680-A11C-C840-7F67-08BC47F63F77}"/>
              </a:ext>
            </a:extLst>
          </p:cNvPr>
          <p:cNvPicPr>
            <a:picLocks noChangeAspect="1"/>
          </p:cNvPicPr>
          <p:nvPr/>
        </p:nvPicPr>
        <p:blipFill>
          <a:blip r:embed="rId8"/>
          <a:srcRect t="4629"/>
          <a:stretch>
            <a:fillRect/>
          </a:stretch>
        </p:blipFill>
        <p:spPr>
          <a:xfrm>
            <a:off x="280213" y="3155295"/>
            <a:ext cx="4887007" cy="3397906"/>
          </a:xfrm>
          <a:prstGeom prst="rect">
            <a:avLst/>
          </a:prstGeom>
        </p:spPr>
      </p:pic>
    </p:spTree>
    <p:extLst>
      <p:ext uri="{BB962C8B-B14F-4D97-AF65-F5344CB8AC3E}">
        <p14:creationId xmlns:p14="http://schemas.microsoft.com/office/powerpoint/2010/main" val="2854504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384BA-EEF0-B632-A1C2-DA3CAA9D009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F16D271-EBBC-AC46-83DA-21AF254EC3CB}"/>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DAB0E04-A342-E025-FD35-BF39B1DDF1C4}"/>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E48FE81C-FE4B-BD43-C069-834CBDA5D71A}"/>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E629F173-9816-F1F0-2B7E-77AE4A9ADCE0}"/>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8CBDBDA6-6CA0-E2F4-BE8B-26D51A826979}"/>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10</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565CCB20-0C01-B755-595E-F046A6484034}"/>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DE8E8115-5F8F-4494-FFD9-272CC6554206}"/>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79159A6B-F280-A56E-96E3-298C252811CE}"/>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CC6A5F83-62A5-7E06-2635-DA40EDDB72DB}"/>
              </a:ext>
            </a:extLst>
          </p:cNvPr>
          <p:cNvSpPr txBox="1"/>
          <p:nvPr/>
        </p:nvSpPr>
        <p:spPr>
          <a:xfrm>
            <a:off x="82982" y="66597"/>
            <a:ext cx="6104466" cy="523220"/>
          </a:xfrm>
          <a:prstGeom prst="rect">
            <a:avLst/>
          </a:prstGeom>
          <a:noFill/>
        </p:spPr>
        <p:txBody>
          <a:bodyPr wrap="square">
            <a:spAutoFit/>
          </a:bodyPr>
          <a:lstStyle/>
          <a:p>
            <a:r>
              <a:rPr lang="en-US" altLang="zh-CN" sz="2800" dirty="0">
                <a:solidFill>
                  <a:srgbClr val="FFFFFF"/>
                </a:solidFill>
                <a:latin typeface="LMSans12-Regular"/>
                <a:ea typeface="等线" panose="02010600030101010101" pitchFamily="2" charset="-122"/>
              </a:rPr>
              <a:t>Results and Discussion</a:t>
            </a:r>
            <a:endParaRPr lang="zh-CN" altLang="en-US" dirty="0"/>
          </a:p>
        </p:txBody>
      </p:sp>
      <p:pic>
        <p:nvPicPr>
          <p:cNvPr id="13" name="图片 12">
            <a:extLst>
              <a:ext uri="{FF2B5EF4-FFF2-40B4-BE49-F238E27FC236}">
                <a16:creationId xmlns:a16="http://schemas.microsoft.com/office/drawing/2014/main" id="{C628889C-41B2-83B6-324F-9E469B235A63}"/>
              </a:ext>
            </a:extLst>
          </p:cNvPr>
          <p:cNvPicPr>
            <a:picLocks noChangeAspect="1"/>
          </p:cNvPicPr>
          <p:nvPr/>
        </p:nvPicPr>
        <p:blipFill>
          <a:blip r:embed="rId5"/>
          <a:stretch>
            <a:fillRect/>
          </a:stretch>
        </p:blipFill>
        <p:spPr>
          <a:xfrm>
            <a:off x="404949" y="889892"/>
            <a:ext cx="11003280" cy="3350080"/>
          </a:xfrm>
          <a:prstGeom prst="rect">
            <a:avLst/>
          </a:prstGeom>
        </p:spPr>
      </p:pic>
      <p:pic>
        <p:nvPicPr>
          <p:cNvPr id="16" name="图片 15">
            <a:extLst>
              <a:ext uri="{FF2B5EF4-FFF2-40B4-BE49-F238E27FC236}">
                <a16:creationId xmlns:a16="http://schemas.microsoft.com/office/drawing/2014/main" id="{9A3BE35C-249B-0354-883E-1BE5DCB20BCA}"/>
              </a:ext>
            </a:extLst>
          </p:cNvPr>
          <p:cNvPicPr>
            <a:picLocks noChangeAspect="1"/>
          </p:cNvPicPr>
          <p:nvPr/>
        </p:nvPicPr>
        <p:blipFill>
          <a:blip r:embed="rId6"/>
          <a:srcRect r="71480" b="-5013"/>
          <a:stretch>
            <a:fillRect/>
          </a:stretch>
        </p:blipFill>
        <p:spPr>
          <a:xfrm>
            <a:off x="1514489" y="4232506"/>
            <a:ext cx="497190" cy="510197"/>
          </a:xfrm>
          <a:prstGeom prst="rect">
            <a:avLst/>
          </a:prstGeom>
        </p:spPr>
      </p:pic>
      <p:pic>
        <p:nvPicPr>
          <p:cNvPr id="17" name="图片 16">
            <a:extLst>
              <a:ext uri="{FF2B5EF4-FFF2-40B4-BE49-F238E27FC236}">
                <a16:creationId xmlns:a16="http://schemas.microsoft.com/office/drawing/2014/main" id="{36570BF6-F328-161C-9837-9010DECB5747}"/>
              </a:ext>
            </a:extLst>
          </p:cNvPr>
          <p:cNvPicPr>
            <a:picLocks noChangeAspect="1"/>
          </p:cNvPicPr>
          <p:nvPr/>
        </p:nvPicPr>
        <p:blipFill>
          <a:blip r:embed="rId6"/>
          <a:srcRect l="59820" t="22323" b="-1"/>
          <a:stretch>
            <a:fillRect/>
          </a:stretch>
        </p:blipFill>
        <p:spPr>
          <a:xfrm>
            <a:off x="5723946" y="4374444"/>
            <a:ext cx="700467" cy="377393"/>
          </a:xfrm>
          <a:prstGeom prst="rect">
            <a:avLst/>
          </a:prstGeom>
        </p:spPr>
      </p:pic>
      <p:cxnSp>
        <p:nvCxnSpPr>
          <p:cNvPr id="19" name="直接连接符 18">
            <a:extLst>
              <a:ext uri="{FF2B5EF4-FFF2-40B4-BE49-F238E27FC236}">
                <a16:creationId xmlns:a16="http://schemas.microsoft.com/office/drawing/2014/main" id="{8E693747-C81D-CE5A-9B80-903CF9A682C1}"/>
              </a:ext>
            </a:extLst>
          </p:cNvPr>
          <p:cNvCxnSpPr>
            <a:cxnSpLocks/>
          </p:cNvCxnSpPr>
          <p:nvPr/>
        </p:nvCxnSpPr>
        <p:spPr>
          <a:xfrm>
            <a:off x="2582331" y="4232506"/>
            <a:ext cx="7175623" cy="0"/>
          </a:xfrm>
          <a:prstGeom prst="line">
            <a:avLst/>
          </a:prstGeom>
          <a:ln w="57150">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C282BA35-70C5-DE1D-70BC-06F7BB3481CA}"/>
              </a:ext>
            </a:extLst>
          </p:cNvPr>
          <p:cNvCxnSpPr>
            <a:cxnSpLocks/>
          </p:cNvCxnSpPr>
          <p:nvPr/>
        </p:nvCxnSpPr>
        <p:spPr>
          <a:xfrm flipV="1">
            <a:off x="1078155" y="4232506"/>
            <a:ext cx="1369859" cy="7466"/>
          </a:xfrm>
          <a:prstGeom prst="line">
            <a:avLst/>
          </a:prstGeom>
          <a:ln w="571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6" name="直接连接符 25">
            <a:extLst>
              <a:ext uri="{FF2B5EF4-FFF2-40B4-BE49-F238E27FC236}">
                <a16:creationId xmlns:a16="http://schemas.microsoft.com/office/drawing/2014/main" id="{80C74013-6DD3-A21D-5D36-2D2F1A31577A}"/>
              </a:ext>
            </a:extLst>
          </p:cNvPr>
          <p:cNvCxnSpPr>
            <a:cxnSpLocks/>
          </p:cNvCxnSpPr>
          <p:nvPr/>
        </p:nvCxnSpPr>
        <p:spPr>
          <a:xfrm>
            <a:off x="1101377" y="2145535"/>
            <a:ext cx="568295" cy="0"/>
          </a:xfrm>
          <a:prstGeom prst="line">
            <a:avLst/>
          </a:prstGeom>
          <a:ln w="57150" cap="rnd" cmpd="sng">
            <a:solidFill>
              <a:srgbClr val="CA01CF"/>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27" name="直接连接符 26">
            <a:extLst>
              <a:ext uri="{FF2B5EF4-FFF2-40B4-BE49-F238E27FC236}">
                <a16:creationId xmlns:a16="http://schemas.microsoft.com/office/drawing/2014/main" id="{B4A9BBC4-1662-4D67-058D-104DFC3DE0A5}"/>
              </a:ext>
            </a:extLst>
          </p:cNvPr>
          <p:cNvCxnSpPr>
            <a:cxnSpLocks/>
          </p:cNvCxnSpPr>
          <p:nvPr/>
        </p:nvCxnSpPr>
        <p:spPr>
          <a:xfrm>
            <a:off x="8980350" y="1870679"/>
            <a:ext cx="903517" cy="0"/>
          </a:xfrm>
          <a:prstGeom prst="line">
            <a:avLst/>
          </a:prstGeom>
          <a:ln w="57150" cap="rnd" cmpd="sng">
            <a:solidFill>
              <a:srgbClr val="CA01CF"/>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28" name="直接连接符 27">
            <a:extLst>
              <a:ext uri="{FF2B5EF4-FFF2-40B4-BE49-F238E27FC236}">
                <a16:creationId xmlns:a16="http://schemas.microsoft.com/office/drawing/2014/main" id="{EC62BDFB-5760-76A7-B577-F6D7AE8BD82E}"/>
              </a:ext>
            </a:extLst>
          </p:cNvPr>
          <p:cNvCxnSpPr>
            <a:cxnSpLocks/>
          </p:cNvCxnSpPr>
          <p:nvPr/>
        </p:nvCxnSpPr>
        <p:spPr>
          <a:xfrm>
            <a:off x="2649096" y="2164519"/>
            <a:ext cx="2256733" cy="0"/>
          </a:xfrm>
          <a:prstGeom prst="line">
            <a:avLst/>
          </a:prstGeom>
          <a:ln w="57150" cap="rnd" cmpd="sng">
            <a:solidFill>
              <a:srgbClr val="CA01CF"/>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29" name="直接连接符 28">
            <a:extLst>
              <a:ext uri="{FF2B5EF4-FFF2-40B4-BE49-F238E27FC236}">
                <a16:creationId xmlns:a16="http://schemas.microsoft.com/office/drawing/2014/main" id="{A39F0C5F-E741-741E-D89A-58A07CDFF631}"/>
              </a:ext>
            </a:extLst>
          </p:cNvPr>
          <p:cNvCxnSpPr>
            <a:cxnSpLocks/>
          </p:cNvCxnSpPr>
          <p:nvPr/>
        </p:nvCxnSpPr>
        <p:spPr>
          <a:xfrm>
            <a:off x="1800820" y="2434754"/>
            <a:ext cx="661708" cy="1867"/>
          </a:xfrm>
          <a:prstGeom prst="line">
            <a:avLst/>
          </a:prstGeom>
          <a:ln w="57150" cap="rnd" cmpd="sng">
            <a:solidFill>
              <a:srgbClr val="CA01CF"/>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30" name="直接连接符 29">
            <a:extLst>
              <a:ext uri="{FF2B5EF4-FFF2-40B4-BE49-F238E27FC236}">
                <a16:creationId xmlns:a16="http://schemas.microsoft.com/office/drawing/2014/main" id="{B5960C3D-E40F-8D72-D68D-B164454097A9}"/>
              </a:ext>
            </a:extLst>
          </p:cNvPr>
          <p:cNvCxnSpPr>
            <a:cxnSpLocks/>
          </p:cNvCxnSpPr>
          <p:nvPr/>
        </p:nvCxnSpPr>
        <p:spPr>
          <a:xfrm flipV="1">
            <a:off x="1101377" y="1870679"/>
            <a:ext cx="1369859" cy="7466"/>
          </a:xfrm>
          <a:prstGeom prst="line">
            <a:avLst/>
          </a:prstGeom>
          <a:ln w="57150" cap="rnd" cmpd="sng">
            <a:solidFill>
              <a:srgbClr val="CA01CF"/>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35" name="直接连接符 34">
            <a:extLst>
              <a:ext uri="{FF2B5EF4-FFF2-40B4-BE49-F238E27FC236}">
                <a16:creationId xmlns:a16="http://schemas.microsoft.com/office/drawing/2014/main" id="{EF71F165-1AF3-68DB-0F60-15748774A92C}"/>
              </a:ext>
            </a:extLst>
          </p:cNvPr>
          <p:cNvCxnSpPr>
            <a:cxnSpLocks/>
          </p:cNvCxnSpPr>
          <p:nvPr/>
        </p:nvCxnSpPr>
        <p:spPr>
          <a:xfrm>
            <a:off x="8032009" y="2424749"/>
            <a:ext cx="1649201" cy="9560"/>
          </a:xfrm>
          <a:prstGeom prst="line">
            <a:avLst/>
          </a:prstGeom>
          <a:ln w="57150" cap="rnd" cmpd="sng">
            <a:solidFill>
              <a:schemeClr val="accent1">
                <a:lumMod val="75000"/>
              </a:schemeClr>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36" name="直接连接符 35">
            <a:extLst>
              <a:ext uri="{FF2B5EF4-FFF2-40B4-BE49-F238E27FC236}">
                <a16:creationId xmlns:a16="http://schemas.microsoft.com/office/drawing/2014/main" id="{1E398D96-0B07-859C-CA46-F48239A40701}"/>
              </a:ext>
            </a:extLst>
          </p:cNvPr>
          <p:cNvCxnSpPr>
            <a:cxnSpLocks/>
          </p:cNvCxnSpPr>
          <p:nvPr/>
        </p:nvCxnSpPr>
        <p:spPr>
          <a:xfrm>
            <a:off x="3492428" y="2424749"/>
            <a:ext cx="513516" cy="0"/>
          </a:xfrm>
          <a:prstGeom prst="line">
            <a:avLst/>
          </a:prstGeom>
          <a:ln w="57150" cap="rnd" cmpd="sng">
            <a:solidFill>
              <a:srgbClr val="CA01CF"/>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40" name="直接连接符 39">
            <a:extLst>
              <a:ext uri="{FF2B5EF4-FFF2-40B4-BE49-F238E27FC236}">
                <a16:creationId xmlns:a16="http://schemas.microsoft.com/office/drawing/2014/main" id="{8CFE6D67-666A-BD25-9AC0-947966050A02}"/>
              </a:ext>
            </a:extLst>
          </p:cNvPr>
          <p:cNvCxnSpPr>
            <a:cxnSpLocks/>
          </p:cNvCxnSpPr>
          <p:nvPr/>
        </p:nvCxnSpPr>
        <p:spPr>
          <a:xfrm>
            <a:off x="3492428" y="3229221"/>
            <a:ext cx="513516" cy="0"/>
          </a:xfrm>
          <a:prstGeom prst="line">
            <a:avLst/>
          </a:prstGeom>
          <a:ln w="57150" cap="rnd" cmpd="sng">
            <a:solidFill>
              <a:srgbClr val="FF0000"/>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46" name="直接连接符 45">
            <a:extLst>
              <a:ext uri="{FF2B5EF4-FFF2-40B4-BE49-F238E27FC236}">
                <a16:creationId xmlns:a16="http://schemas.microsoft.com/office/drawing/2014/main" id="{D1B76321-DD35-544A-A0C1-D04B0ADD2881}"/>
              </a:ext>
            </a:extLst>
          </p:cNvPr>
          <p:cNvCxnSpPr>
            <a:cxnSpLocks/>
          </p:cNvCxnSpPr>
          <p:nvPr/>
        </p:nvCxnSpPr>
        <p:spPr>
          <a:xfrm>
            <a:off x="1846937" y="3229221"/>
            <a:ext cx="568295" cy="0"/>
          </a:xfrm>
          <a:prstGeom prst="line">
            <a:avLst/>
          </a:prstGeom>
          <a:ln w="57150" cap="rnd" cmpd="sng">
            <a:solidFill>
              <a:srgbClr val="CA01CF"/>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47" name="直接连接符 46">
            <a:extLst>
              <a:ext uri="{FF2B5EF4-FFF2-40B4-BE49-F238E27FC236}">
                <a16:creationId xmlns:a16="http://schemas.microsoft.com/office/drawing/2014/main" id="{70320C3F-02E1-5629-AC47-70CB36899292}"/>
              </a:ext>
            </a:extLst>
          </p:cNvPr>
          <p:cNvCxnSpPr>
            <a:cxnSpLocks/>
          </p:cNvCxnSpPr>
          <p:nvPr/>
        </p:nvCxnSpPr>
        <p:spPr>
          <a:xfrm>
            <a:off x="1115891" y="2960708"/>
            <a:ext cx="513516" cy="0"/>
          </a:xfrm>
          <a:prstGeom prst="line">
            <a:avLst/>
          </a:prstGeom>
          <a:ln w="57150" cap="rnd" cmpd="sng">
            <a:solidFill>
              <a:srgbClr val="FF0000"/>
            </a:solidFill>
            <a:prstDash val="sysDash"/>
            <a:headEnd type="none"/>
          </a:ln>
        </p:spPr>
        <p:style>
          <a:lnRef idx="3">
            <a:schemeClr val="accent2"/>
          </a:lnRef>
          <a:fillRef idx="0">
            <a:schemeClr val="accent2"/>
          </a:fillRef>
          <a:effectRef idx="2">
            <a:schemeClr val="accent2"/>
          </a:effectRef>
          <a:fontRef idx="minor">
            <a:schemeClr val="tx1"/>
          </a:fontRef>
        </p:style>
      </p:cxnSp>
      <p:cxnSp>
        <p:nvCxnSpPr>
          <p:cNvPr id="48" name="直接连接符 47">
            <a:extLst>
              <a:ext uri="{FF2B5EF4-FFF2-40B4-BE49-F238E27FC236}">
                <a16:creationId xmlns:a16="http://schemas.microsoft.com/office/drawing/2014/main" id="{BB2AB8CE-955E-C9B2-9951-AE843B08D53A}"/>
              </a:ext>
            </a:extLst>
          </p:cNvPr>
          <p:cNvCxnSpPr>
            <a:cxnSpLocks/>
          </p:cNvCxnSpPr>
          <p:nvPr/>
        </p:nvCxnSpPr>
        <p:spPr>
          <a:xfrm>
            <a:off x="2582331" y="2960708"/>
            <a:ext cx="2323498" cy="0"/>
          </a:xfrm>
          <a:prstGeom prst="line">
            <a:avLst/>
          </a:prstGeom>
          <a:ln w="57150" cap="rnd" cmpd="sng">
            <a:solidFill>
              <a:srgbClr val="FF0000"/>
            </a:solidFill>
            <a:prstDash val="sysDash"/>
            <a:headEnd type="none"/>
          </a:ln>
        </p:spPr>
        <p:style>
          <a:lnRef idx="3">
            <a:schemeClr val="accent2"/>
          </a:lnRef>
          <a:fillRef idx="0">
            <a:schemeClr val="accent2"/>
          </a:fillRef>
          <a:effectRef idx="2">
            <a:schemeClr val="accent2"/>
          </a:effectRef>
          <a:fontRef idx="minor">
            <a:schemeClr val="tx1"/>
          </a:fontRef>
        </p:style>
      </p:cxnSp>
      <p:sp>
        <p:nvSpPr>
          <p:cNvPr id="50" name="文本框 49">
            <a:extLst>
              <a:ext uri="{FF2B5EF4-FFF2-40B4-BE49-F238E27FC236}">
                <a16:creationId xmlns:a16="http://schemas.microsoft.com/office/drawing/2014/main" id="{7E6BAD20-F459-9849-19A8-95C1D95AB17F}"/>
              </a:ext>
            </a:extLst>
          </p:cNvPr>
          <p:cNvSpPr txBox="1"/>
          <p:nvPr/>
        </p:nvSpPr>
        <p:spPr>
          <a:xfrm>
            <a:off x="404949" y="4605862"/>
            <a:ext cx="12031210" cy="169463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2400" b="0" i="0" dirty="0">
                <a:solidFill>
                  <a:srgbClr val="0F1115"/>
                </a:solidFill>
                <a:effectLst/>
                <a:latin typeface="quote-cjk-patch"/>
              </a:rPr>
              <a:t>The comparison between the NCSM and </a:t>
            </a:r>
            <a:r>
              <a:rPr lang="en-US" altLang="zh-CN" sz="2400" b="0" i="0" dirty="0">
                <a:solidFill>
                  <a:srgbClr val="FF0000"/>
                </a:solidFill>
                <a:effectLst/>
                <a:latin typeface="quote-cjk-patch"/>
              </a:rPr>
              <a:t>cluster model results </a:t>
            </a:r>
            <a:r>
              <a:rPr lang="en-US" altLang="zh-CN" sz="2400" b="0" i="0" dirty="0">
                <a:solidFill>
                  <a:srgbClr val="0F1115"/>
                </a:solidFill>
                <a:effectLst/>
                <a:latin typeface="quote-cjk-patch"/>
              </a:rPr>
              <a:t>reveals three levels of agreement: </a:t>
            </a:r>
            <a:r>
              <a:rPr lang="en-US" altLang="zh-CN" sz="2400" b="1" i="0" dirty="0">
                <a:solidFill>
                  <a:srgbClr val="0F1115"/>
                </a:solidFill>
                <a:effectLst/>
                <a:latin typeface="quote-cjk-patch"/>
              </a:rPr>
              <a:t>purple</a:t>
            </a:r>
            <a:r>
              <a:rPr lang="en-US" altLang="zh-CN" sz="2400" b="0" i="0" dirty="0">
                <a:solidFill>
                  <a:srgbClr val="0F1115"/>
                </a:solidFill>
                <a:effectLst/>
                <a:latin typeface="quote-cjk-patch"/>
              </a:rPr>
              <a:t> indicates close agreement, </a:t>
            </a:r>
            <a:r>
              <a:rPr lang="en-US" altLang="zh-CN" sz="2400" b="1" i="0" dirty="0">
                <a:solidFill>
                  <a:srgbClr val="0F1115"/>
                </a:solidFill>
                <a:effectLst/>
                <a:latin typeface="quote-cjk-patch"/>
              </a:rPr>
              <a:t>blue</a:t>
            </a:r>
            <a:r>
              <a:rPr lang="en-US" altLang="zh-CN" sz="2400" b="0" i="0" dirty="0">
                <a:solidFill>
                  <a:srgbClr val="0F1115"/>
                </a:solidFill>
                <a:effectLst/>
                <a:latin typeface="quote-cjk-patch"/>
              </a:rPr>
              <a:t> denotes minor discrepancies, and </a:t>
            </a:r>
            <a:r>
              <a:rPr lang="en-US" altLang="zh-CN" sz="2400" b="1" i="0" dirty="0">
                <a:solidFill>
                  <a:srgbClr val="0F1115"/>
                </a:solidFill>
                <a:effectLst/>
                <a:latin typeface="quote-cjk-patch"/>
              </a:rPr>
              <a:t>red</a:t>
            </a:r>
            <a:r>
              <a:rPr lang="en-US" altLang="zh-CN" sz="2400" b="0" i="0" dirty="0">
                <a:solidFill>
                  <a:srgbClr val="0F1115"/>
                </a:solidFill>
                <a:effectLst/>
                <a:latin typeface="quote-cjk-patch"/>
              </a:rPr>
              <a:t> corresponds to differences within a factor of 2–4.</a:t>
            </a:r>
            <a:endParaRPr lang="en-US" altLang="zh-C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73951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39741-A83D-D338-8A12-B41096912A8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F1961ECD-3636-1CCA-E2B1-84D81AA187CD}"/>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F8F642F-696D-0295-0808-B2319FB6A272}"/>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053E0CDC-317D-BDC4-1DBC-54262B9E004D}"/>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723D1D59-2CE1-1E90-BFA1-8B544C88BB87}"/>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4FBD1BFA-F031-3E7A-2766-10F91F8FA6AA}"/>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11</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E153D898-32D3-7D77-B8D0-F96ACDF4A03F}"/>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6961FEFE-7A7A-A619-4356-F0DE8E358EB3}"/>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7D5491D4-579C-7FCA-65E8-370E2DA89AC6}"/>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2F1A0192-A7E0-25D3-2928-C6F786C892F2}"/>
              </a:ext>
            </a:extLst>
          </p:cNvPr>
          <p:cNvSpPr txBox="1"/>
          <p:nvPr/>
        </p:nvSpPr>
        <p:spPr>
          <a:xfrm>
            <a:off x="82982" y="66597"/>
            <a:ext cx="6104466" cy="523220"/>
          </a:xfrm>
          <a:prstGeom prst="rect">
            <a:avLst/>
          </a:prstGeom>
          <a:noFill/>
        </p:spPr>
        <p:txBody>
          <a:bodyPr wrap="square">
            <a:spAutoFit/>
          </a:bodyPr>
          <a:lstStyle/>
          <a:p>
            <a:r>
              <a:rPr lang="en-US" altLang="zh-CN" sz="2800" dirty="0">
                <a:solidFill>
                  <a:srgbClr val="FFFFFF"/>
                </a:solidFill>
                <a:latin typeface="LMSans12-Regular"/>
                <a:ea typeface="等线" panose="02010600030101010101" pitchFamily="2" charset="-122"/>
              </a:rPr>
              <a:t>Results and Discussion</a:t>
            </a:r>
            <a:endParaRPr lang="zh-CN" altLang="en-US" dirty="0"/>
          </a:p>
        </p:txBody>
      </p:sp>
      <p:pic>
        <p:nvPicPr>
          <p:cNvPr id="11" name="图片 10">
            <a:extLst>
              <a:ext uri="{FF2B5EF4-FFF2-40B4-BE49-F238E27FC236}">
                <a16:creationId xmlns:a16="http://schemas.microsoft.com/office/drawing/2014/main" id="{B9720635-5BE5-5F99-B76A-AF1B73A3C93B}"/>
              </a:ext>
            </a:extLst>
          </p:cNvPr>
          <p:cNvPicPr>
            <a:picLocks noChangeAspect="1"/>
          </p:cNvPicPr>
          <p:nvPr/>
        </p:nvPicPr>
        <p:blipFill>
          <a:blip r:embed="rId5"/>
          <a:stretch>
            <a:fillRect/>
          </a:stretch>
        </p:blipFill>
        <p:spPr>
          <a:xfrm>
            <a:off x="260847" y="804202"/>
            <a:ext cx="9623020" cy="5315908"/>
          </a:xfrm>
          <a:prstGeom prst="rect">
            <a:avLst/>
          </a:prstGeom>
        </p:spPr>
      </p:pic>
      <p:pic>
        <p:nvPicPr>
          <p:cNvPr id="13" name="图片 12">
            <a:extLst>
              <a:ext uri="{FF2B5EF4-FFF2-40B4-BE49-F238E27FC236}">
                <a16:creationId xmlns:a16="http://schemas.microsoft.com/office/drawing/2014/main" id="{82DED402-4274-786C-C8EE-13B683608FE5}"/>
              </a:ext>
            </a:extLst>
          </p:cNvPr>
          <p:cNvPicPr>
            <a:picLocks noChangeAspect="1"/>
          </p:cNvPicPr>
          <p:nvPr/>
        </p:nvPicPr>
        <p:blipFill>
          <a:blip r:embed="rId6"/>
          <a:stretch>
            <a:fillRect/>
          </a:stretch>
        </p:blipFill>
        <p:spPr>
          <a:xfrm>
            <a:off x="6604000" y="4904613"/>
            <a:ext cx="5474765" cy="1283557"/>
          </a:xfrm>
          <a:prstGeom prst="rect">
            <a:avLst/>
          </a:prstGeom>
        </p:spPr>
      </p:pic>
    </p:spTree>
    <p:extLst>
      <p:ext uri="{BB962C8B-B14F-4D97-AF65-F5344CB8AC3E}">
        <p14:creationId xmlns:p14="http://schemas.microsoft.com/office/powerpoint/2010/main" val="614348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20BCE-639A-D275-175D-CE0906FD35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ADDB8A9-C7FD-919B-A72B-7F8354E00F84}"/>
              </a:ext>
            </a:extLst>
          </p:cNvPr>
          <p:cNvSpPr/>
          <p:nvPr/>
        </p:nvSpPr>
        <p:spPr>
          <a:xfrm>
            <a:off x="5768700" y="6621221"/>
            <a:ext cx="6423300" cy="236779"/>
          </a:xfrm>
          <a:prstGeom prst="rect">
            <a:avLst/>
          </a:prstGeom>
          <a:solidFill>
            <a:srgbClr val="0156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D8F4462D-4A00-7D10-B4F0-7F1D2D9FB7F4}"/>
              </a:ext>
            </a:extLst>
          </p:cNvPr>
          <p:cNvSpPr/>
          <p:nvPr/>
        </p:nvSpPr>
        <p:spPr>
          <a:xfrm>
            <a:off x="0" y="0"/>
            <a:ext cx="12192000" cy="635152"/>
          </a:xfrm>
          <a:prstGeom prst="rect">
            <a:avLst/>
          </a:prstGeom>
          <a:solidFill>
            <a:srgbClr val="01561F"/>
          </a:solidFill>
          <a:ln>
            <a:solidFill>
              <a:srgbClr val="01561F"/>
            </a:solidFill>
          </a:ln>
          <a:effectLst>
            <a:reflection stA="17000" endPos="200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6600"/>
              </a:solidFill>
            </a:endParaRPr>
          </a:p>
        </p:txBody>
      </p:sp>
      <p:sp>
        <p:nvSpPr>
          <p:cNvPr id="6" name="矩形 5">
            <a:extLst>
              <a:ext uri="{FF2B5EF4-FFF2-40B4-BE49-F238E27FC236}">
                <a16:creationId xmlns:a16="http://schemas.microsoft.com/office/drawing/2014/main" id="{B2CF2276-ED86-75AF-3C9F-A7E5F09563F9}"/>
              </a:ext>
            </a:extLst>
          </p:cNvPr>
          <p:cNvSpPr/>
          <p:nvPr/>
        </p:nvSpPr>
        <p:spPr>
          <a:xfrm>
            <a:off x="-1" y="6621221"/>
            <a:ext cx="5768701" cy="236779"/>
          </a:xfrm>
          <a:prstGeom prst="rect">
            <a:avLst/>
          </a:prstGeom>
          <a:solidFill>
            <a:srgbClr val="01561F">
              <a:alpha val="18000"/>
            </a:srgbClr>
          </a:solidFill>
          <a:ln>
            <a:solidFill>
              <a:srgbClr val="D1E1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B7174C11-9413-64DA-86FF-E83ABA6992F0}"/>
              </a:ext>
            </a:extLst>
          </p:cNvPr>
          <p:cNvPicPr>
            <a:picLocks noChangeAspect="1"/>
          </p:cNvPicPr>
          <p:nvPr/>
        </p:nvPicPr>
        <p:blipFill rotWithShape="1">
          <a:blip r:embed="rId3"/>
          <a:srcRect t="31688" b="31917"/>
          <a:stretch/>
        </p:blipFill>
        <p:spPr>
          <a:xfrm>
            <a:off x="9480734" y="7107"/>
            <a:ext cx="806266" cy="635152"/>
          </a:xfrm>
          <a:prstGeom prst="rect">
            <a:avLst/>
          </a:prstGeom>
        </p:spPr>
      </p:pic>
      <p:sp>
        <p:nvSpPr>
          <p:cNvPr id="8" name="灯片编号占位符 10">
            <a:extLst>
              <a:ext uri="{FF2B5EF4-FFF2-40B4-BE49-F238E27FC236}">
                <a16:creationId xmlns:a16="http://schemas.microsoft.com/office/drawing/2014/main" id="{CC378E4F-844E-C86E-206D-C7874B41A454}"/>
              </a:ext>
            </a:extLst>
          </p:cNvPr>
          <p:cNvSpPr>
            <a:spLocks noGrp="1"/>
          </p:cNvSpPr>
          <p:nvPr>
            <p:ph type="sldNum" sz="quarter" idx="12"/>
          </p:nvPr>
        </p:nvSpPr>
        <p:spPr>
          <a:xfrm>
            <a:off x="5128181" y="6553241"/>
            <a:ext cx="559791" cy="365125"/>
          </a:xfrm>
        </p:spPr>
        <p:txBody>
          <a:bodyPr/>
          <a:lstStyle/>
          <a:p>
            <a:r>
              <a:rPr lang="en-US" altLang="zh-CN" sz="1400" dirty="0">
                <a:solidFill>
                  <a:schemeClr val="bg2">
                    <a:lumMod val="50000"/>
                  </a:schemeClr>
                </a:solidFill>
              </a:rPr>
              <a:t>12</a:t>
            </a:r>
            <a:endParaRPr lang="zh-CN" altLang="en-US" sz="1400" dirty="0">
              <a:solidFill>
                <a:schemeClr val="bg2">
                  <a:lumMod val="50000"/>
                </a:schemeClr>
              </a:solidFill>
            </a:endParaRPr>
          </a:p>
        </p:txBody>
      </p:sp>
      <p:sp>
        <p:nvSpPr>
          <p:cNvPr id="9" name="页脚占位符 11">
            <a:extLst>
              <a:ext uri="{FF2B5EF4-FFF2-40B4-BE49-F238E27FC236}">
                <a16:creationId xmlns:a16="http://schemas.microsoft.com/office/drawing/2014/main" id="{5228465B-E3BF-F3F3-7F70-FFA6BF1986A8}"/>
              </a:ext>
            </a:extLst>
          </p:cNvPr>
          <p:cNvSpPr>
            <a:spLocks noGrp="1"/>
          </p:cNvSpPr>
          <p:nvPr>
            <p:ph type="ftr" sz="quarter" idx="11"/>
          </p:nvPr>
        </p:nvSpPr>
        <p:spPr>
          <a:xfrm>
            <a:off x="5648086" y="6553161"/>
            <a:ext cx="1771650" cy="365125"/>
          </a:xfrm>
        </p:spPr>
        <p:txBody>
          <a:bodyPr/>
          <a:lstStyle/>
          <a:p>
            <a:r>
              <a:rPr lang="en-US" altLang="zh-CN" sz="1400" dirty="0">
                <a:solidFill>
                  <a:srgbClr val="FFFFFF"/>
                </a:solidFill>
              </a:rPr>
              <a:t>Qingyang Luo</a:t>
            </a:r>
            <a:endParaRPr lang="zh-CN" altLang="en-US" sz="1400" dirty="0">
              <a:solidFill>
                <a:srgbClr val="FFFFFF"/>
              </a:solidFill>
            </a:endParaRPr>
          </a:p>
        </p:txBody>
      </p:sp>
      <p:sp>
        <p:nvSpPr>
          <p:cNvPr id="10" name="文本框 9">
            <a:extLst>
              <a:ext uri="{FF2B5EF4-FFF2-40B4-BE49-F238E27FC236}">
                <a16:creationId xmlns:a16="http://schemas.microsoft.com/office/drawing/2014/main" id="{A1E20D96-02DE-0008-7BB3-15ECCEA942B6}"/>
              </a:ext>
            </a:extLst>
          </p:cNvPr>
          <p:cNvSpPr txBox="1"/>
          <p:nvPr/>
        </p:nvSpPr>
        <p:spPr>
          <a:xfrm>
            <a:off x="82982" y="755420"/>
            <a:ext cx="4186003" cy="492443"/>
          </a:xfrm>
          <a:prstGeom prst="rect">
            <a:avLst/>
          </a:prstGeom>
          <a:noFill/>
        </p:spPr>
        <p:txBody>
          <a:bodyPr wrap="square" rtlCol="0">
            <a:spAutoFit/>
          </a:bodyPr>
          <a:lstStyle/>
          <a:p>
            <a:r>
              <a:rPr lang="zh-CN" altLang="en-US" sz="2600" b="1" dirty="0">
                <a:solidFill>
                  <a:schemeClr val="accent1"/>
                </a:solidFill>
              </a:rPr>
              <a:t> </a:t>
            </a:r>
          </a:p>
        </p:txBody>
      </p:sp>
      <p:pic>
        <p:nvPicPr>
          <p:cNvPr id="21" name="图片 20">
            <a:extLst>
              <a:ext uri="{FF2B5EF4-FFF2-40B4-BE49-F238E27FC236}">
                <a16:creationId xmlns:a16="http://schemas.microsoft.com/office/drawing/2014/main" id="{5CB99EC6-7842-93A7-43E2-48A1DAB99BDE}"/>
              </a:ext>
            </a:extLst>
          </p:cNvPr>
          <p:cNvPicPr>
            <a:picLocks noChangeAspect="1"/>
          </p:cNvPicPr>
          <p:nvPr/>
        </p:nvPicPr>
        <p:blipFill>
          <a:blip r:embed="rId4"/>
          <a:stretch>
            <a:fillRect/>
          </a:stretch>
        </p:blipFill>
        <p:spPr>
          <a:xfrm>
            <a:off x="10243139" y="7107"/>
            <a:ext cx="1540377" cy="615001"/>
          </a:xfrm>
          <a:prstGeom prst="rect">
            <a:avLst/>
          </a:prstGeom>
        </p:spPr>
      </p:pic>
      <p:sp>
        <p:nvSpPr>
          <p:cNvPr id="2" name="文本框 1">
            <a:extLst>
              <a:ext uri="{FF2B5EF4-FFF2-40B4-BE49-F238E27FC236}">
                <a16:creationId xmlns:a16="http://schemas.microsoft.com/office/drawing/2014/main" id="{2FD648E7-9757-2CAF-AE45-B3912281DB34}"/>
              </a:ext>
            </a:extLst>
          </p:cNvPr>
          <p:cNvSpPr txBox="1"/>
          <p:nvPr/>
        </p:nvSpPr>
        <p:spPr>
          <a:xfrm>
            <a:off x="82982" y="66597"/>
            <a:ext cx="6104466" cy="523220"/>
          </a:xfrm>
          <a:prstGeom prst="rect">
            <a:avLst/>
          </a:prstGeom>
          <a:noFill/>
        </p:spPr>
        <p:txBody>
          <a:bodyPr wrap="square">
            <a:spAutoFit/>
          </a:bodyPr>
          <a:lstStyle/>
          <a:p>
            <a:r>
              <a:rPr lang="en-US" altLang="zh-CN" sz="2800" dirty="0">
                <a:solidFill>
                  <a:srgbClr val="FFFFFF"/>
                </a:solidFill>
                <a:latin typeface="LMSans12-Regular"/>
                <a:ea typeface="等线" panose="02010600030101010101" pitchFamily="2" charset="-122"/>
              </a:rPr>
              <a:t>Conclusion and Outlook</a:t>
            </a:r>
            <a:endParaRPr lang="zh-CN" altLang="en-US" dirty="0"/>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8E5FF686-2F3C-7CA8-AC09-BEE556AABEAC}"/>
                  </a:ext>
                </a:extLst>
              </p:cNvPr>
              <p:cNvSpPr txBox="1"/>
              <p:nvPr/>
            </p:nvSpPr>
            <p:spPr>
              <a:xfrm>
                <a:off x="93296" y="924871"/>
                <a:ext cx="11350808" cy="2389693"/>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2000" dirty="0">
                    <a:latin typeface="Cambria" panose="02040503050406030204" pitchFamily="18" charset="0"/>
                    <a:ea typeface="Cambria" panose="02040503050406030204" pitchFamily="18" charset="0"/>
                  </a:rPr>
                  <a:t>Extension to exotic nuclei </a:t>
                </a:r>
                <a14:m>
                  <m:oMath xmlns:m="http://schemas.openxmlformats.org/officeDocument/2006/math">
                    <m:sPre>
                      <m:sPrePr>
                        <m:ctrlPr>
                          <a:rPr lang="en-US" altLang="zh-CN" sz="2000" i="1" smtClean="0">
                            <a:latin typeface="Cambria Math" panose="02040503050406030204" pitchFamily="18" charset="0"/>
                            <a:ea typeface="Cambria" panose="02040503050406030204" pitchFamily="18" charset="0"/>
                          </a:rPr>
                        </m:ctrlPr>
                      </m:sPrePr>
                      <m:sub/>
                      <m:sup>
                        <m:r>
                          <a:rPr lang="en-US" altLang="zh-CN" sz="2000" b="0" i="1" smtClean="0">
                            <a:latin typeface="Cambria Math" panose="02040503050406030204" pitchFamily="18" charset="0"/>
                          </a:rPr>
                          <m:t>11</m:t>
                        </m:r>
                      </m:sup>
                      <m:e>
                        <m:r>
                          <m:rPr>
                            <m:sty m:val="p"/>
                          </m:rPr>
                          <a:rPr lang="en-US" altLang="zh-CN" sz="2000" i="1" smtClean="0">
                            <a:latin typeface="Cambria Math" panose="02040503050406030204" pitchFamily="18" charset="0"/>
                          </a:rPr>
                          <m:t>Be</m:t>
                        </m:r>
                      </m:e>
                    </m:sPre>
                  </m:oMath>
                </a14:m>
                <a:r>
                  <a:rPr lang="en-US" altLang="zh-CN" sz="2000" dirty="0">
                    <a:latin typeface="Cambria" panose="02040503050406030204" pitchFamily="18" charset="0"/>
                    <a:ea typeface="Cambria" panose="02040503050406030204" pitchFamily="18" charset="0"/>
                  </a:rPr>
                  <a:t>:  Due to its exotic structure as a halo nucleus with ground-state parity inversion, the NCSM with continuum (NCSMC) must be used.</a:t>
                </a:r>
              </a:p>
              <a:p>
                <a:pPr marL="342900" indent="-342900">
                  <a:lnSpc>
                    <a:spcPct val="150000"/>
                  </a:lnSpc>
                  <a:buFont typeface="Wingdings" panose="05000000000000000000" pitchFamily="2" charset="2"/>
                  <a:buChar char="Ø"/>
                </a:pPr>
                <a:r>
                  <a:rPr lang="en-US" altLang="zh-CN" sz="2000" dirty="0">
                    <a:latin typeface="Cambria" panose="02040503050406030204" pitchFamily="18" charset="0"/>
                    <a:ea typeface="Cambria" panose="02040503050406030204" pitchFamily="18" charset="0"/>
                  </a:rPr>
                  <a:t> Improve using the very recently developed chiral PTV interactions (SRG: small effect on long-range pion term, for </a:t>
                </a:r>
                <a14:m>
                  <m:oMath xmlns:m="http://schemas.openxmlformats.org/officeDocument/2006/math">
                    <m:r>
                      <a:rPr lang="en-US" altLang="zh-CN" sz="2000" i="1">
                        <a:latin typeface="Cambria Math" panose="02040503050406030204" pitchFamily="18" charset="0"/>
                        <a:ea typeface="Cambria" panose="02040503050406030204" pitchFamily="18" charset="0"/>
                      </a:rPr>
                      <m:t>𝜌</m:t>
                    </m:r>
                    <m:r>
                      <a:rPr lang="en-US" altLang="zh-CN" sz="2000" i="1">
                        <a:latin typeface="Cambria Math" panose="02040503050406030204" pitchFamily="18" charset="0"/>
                        <a:ea typeface="Cambria" panose="02040503050406030204" pitchFamily="18" charset="0"/>
                      </a:rPr>
                      <m:t> </m:t>
                    </m:r>
                    <m:r>
                      <a:rPr lang="en-US" altLang="zh-CN" sz="2000" i="1">
                        <a:latin typeface="Cambria Math" panose="02040503050406030204" pitchFamily="18" charset="0"/>
                        <a:ea typeface="Cambria" panose="02040503050406030204" pitchFamily="18" charset="0"/>
                      </a:rPr>
                      <m:t>𝑎𝑛𝑑</m:t>
                    </m:r>
                    <m:r>
                      <a:rPr lang="en-US" altLang="zh-CN" sz="2000" i="1">
                        <a:latin typeface="Cambria Math" panose="02040503050406030204" pitchFamily="18" charset="0"/>
                        <a:ea typeface="Cambria" panose="02040503050406030204" pitchFamily="18" charset="0"/>
                      </a:rPr>
                      <m:t> </m:t>
                    </m:r>
                    <m:r>
                      <a:rPr lang="en-US" altLang="zh-CN" sz="2000" i="1">
                        <a:latin typeface="Cambria Math" panose="02040503050406030204" pitchFamily="18" charset="0"/>
                        <a:ea typeface="Cambria" panose="02040503050406030204" pitchFamily="18" charset="0"/>
                      </a:rPr>
                      <m:t>𝜔</m:t>
                    </m:r>
                  </m:oMath>
                </a14:m>
                <a:r>
                  <a:rPr lang="en-US" altLang="zh-CN" sz="2000" dirty="0">
                    <a:latin typeface="Cambria" panose="02040503050406030204" pitchFamily="18" charset="0"/>
                    <a:ea typeface="Cambria" panose="02040503050406030204" pitchFamily="18" charset="0"/>
                  </a:rPr>
                  <a:t> might be more significant and could reach ~15%)</a:t>
                </a:r>
              </a:p>
              <a:p>
                <a:pPr marL="342900" indent="-342900">
                  <a:lnSpc>
                    <a:spcPct val="150000"/>
                  </a:lnSpc>
                  <a:buFont typeface="Wingdings" panose="05000000000000000000" pitchFamily="2" charset="2"/>
                  <a:buChar char="Ø"/>
                </a:pPr>
                <a:r>
                  <a:rPr lang="en-US" altLang="zh-CN" sz="2000" dirty="0">
                    <a:latin typeface="Cambria" panose="02040503050406030204" pitchFamily="18" charset="0"/>
                    <a:ea typeface="Cambria" panose="02040503050406030204" pitchFamily="18" charset="0"/>
                  </a:rPr>
                  <a:t> Finally, two-body PTV operators could be included.</a:t>
                </a:r>
              </a:p>
            </p:txBody>
          </p:sp>
        </mc:Choice>
        <mc:Fallback>
          <p:sp>
            <p:nvSpPr>
              <p:cNvPr id="3" name="文本框 2">
                <a:extLst>
                  <a:ext uri="{FF2B5EF4-FFF2-40B4-BE49-F238E27FC236}">
                    <a16:creationId xmlns:a16="http://schemas.microsoft.com/office/drawing/2014/main" id="{8E5FF686-2F3C-7CA8-AC09-BEE556AABEAC}"/>
                  </a:ext>
                </a:extLst>
              </p:cNvPr>
              <p:cNvSpPr txBox="1">
                <a:spLocks noRot="1" noChangeAspect="1" noMove="1" noResize="1" noEditPoints="1" noAdjustHandles="1" noChangeArrowheads="1" noChangeShapeType="1" noTextEdit="1"/>
              </p:cNvSpPr>
              <p:nvPr/>
            </p:nvSpPr>
            <p:spPr>
              <a:xfrm>
                <a:off x="93296" y="924871"/>
                <a:ext cx="11350808" cy="2389693"/>
              </a:xfrm>
              <a:prstGeom prst="rect">
                <a:avLst/>
              </a:prstGeom>
              <a:blipFill>
                <a:blip r:embed="rId5"/>
                <a:stretch>
                  <a:fillRect l="-483" b="-3571"/>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190CEDAC-262C-8502-E6E5-869449B5664D}"/>
              </a:ext>
            </a:extLst>
          </p:cNvPr>
          <p:cNvSpPr txBox="1"/>
          <p:nvPr/>
        </p:nvSpPr>
        <p:spPr>
          <a:xfrm>
            <a:off x="80395" y="3651876"/>
            <a:ext cx="12031210" cy="234359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2000" i="0" dirty="0">
                <a:solidFill>
                  <a:srgbClr val="0F1115"/>
                </a:solidFill>
                <a:effectLst/>
                <a:latin typeface="Cambria" panose="02040503050406030204" pitchFamily="18" charset="0"/>
                <a:ea typeface="Cambria" panose="02040503050406030204" pitchFamily="18" charset="0"/>
              </a:rPr>
              <a:t>Using ab initio NCSM framework to calculates a series of light-nuclei, </a:t>
            </a:r>
            <a:r>
              <a:rPr lang="en-US" altLang="zh-CN" sz="2000" i="0" dirty="0">
                <a:solidFill>
                  <a:srgbClr val="111111"/>
                </a:solidFill>
                <a:effectLst/>
                <a:latin typeface="Cambria" panose="02040503050406030204" pitchFamily="18" charset="0"/>
                <a:ea typeface="Cambria" panose="02040503050406030204" pitchFamily="18" charset="0"/>
              </a:rPr>
              <a:t>and systematically conducted various analyses on their EDMs.</a:t>
            </a:r>
          </a:p>
          <a:p>
            <a:pPr marL="342900" indent="-342900">
              <a:lnSpc>
                <a:spcPct val="150000"/>
              </a:lnSpc>
              <a:buFont typeface="Wingdings" panose="05000000000000000000" pitchFamily="2" charset="2"/>
              <a:buChar char="Ø"/>
            </a:pPr>
            <a:r>
              <a:rPr lang="en-US" altLang="zh-CN" sz="2000" i="0" dirty="0">
                <a:solidFill>
                  <a:srgbClr val="111111"/>
                </a:solidFill>
                <a:effectLst/>
                <a:latin typeface="Cambria" panose="02040503050406030204" pitchFamily="18" charset="0"/>
                <a:ea typeface="Cambria" panose="02040503050406030204" pitchFamily="18" charset="0"/>
              </a:rPr>
              <a:t>These calculations allow us to better understand which nuclei may have enhanced EDMs, and thus allow us to suggest which ones may be good candidates in the search for a measurable permanent electric dipole moment.</a:t>
            </a:r>
          </a:p>
        </p:txBody>
      </p:sp>
    </p:spTree>
    <p:extLst>
      <p:ext uri="{BB962C8B-B14F-4D97-AF65-F5344CB8AC3E}">
        <p14:creationId xmlns:p14="http://schemas.microsoft.com/office/powerpoint/2010/main" val="232448806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29264</TotalTime>
  <Words>1094</Words>
  <Application>Microsoft Office PowerPoint</Application>
  <PresentationFormat>宽屏</PresentationFormat>
  <Paragraphs>115</Paragraphs>
  <Slides>14</Slides>
  <Notes>13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CMR10</vt:lpstr>
      <vt:lpstr>LMSans12-Regular</vt:lpstr>
      <vt:lpstr>Microsoft JhengHei UI</vt:lpstr>
      <vt:lpstr>quote-cjk-patch</vt:lpstr>
      <vt:lpstr>Times-Roman</vt:lpstr>
      <vt:lpstr>等线</vt:lpstr>
      <vt:lpstr>等线 Light</vt:lpstr>
      <vt:lpstr>Arial</vt:lpstr>
      <vt:lpstr>Cambria</vt:lpstr>
      <vt:lpstr>Cambria Math</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qingyang luo</dc:creator>
  <cp:lastModifiedBy>qingyang luo</cp:lastModifiedBy>
  <cp:revision>36</cp:revision>
  <dcterms:created xsi:type="dcterms:W3CDTF">2025-04-05T08:01:33Z</dcterms:created>
  <dcterms:modified xsi:type="dcterms:W3CDTF">2026-01-07T07:56:02Z</dcterms:modified>
</cp:coreProperties>
</file>