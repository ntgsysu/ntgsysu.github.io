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handoutMasterIdLst>
    <p:handoutMasterId r:id="rId22"/>
  </p:handoutMasterIdLst>
  <p:sldIdLst>
    <p:sldId id="347" r:id="rId2"/>
    <p:sldId id="348" r:id="rId3"/>
    <p:sldId id="350" r:id="rId4"/>
    <p:sldId id="412" r:id="rId5"/>
    <p:sldId id="415" r:id="rId6"/>
    <p:sldId id="416" r:id="rId7"/>
    <p:sldId id="418" r:id="rId8"/>
    <p:sldId id="417" r:id="rId9"/>
    <p:sldId id="419" r:id="rId10"/>
    <p:sldId id="420" r:id="rId11"/>
    <p:sldId id="421" r:id="rId12"/>
    <p:sldId id="422" r:id="rId13"/>
    <p:sldId id="423" r:id="rId14"/>
    <p:sldId id="424" r:id="rId15"/>
    <p:sldId id="425" r:id="rId16"/>
    <p:sldId id="426" r:id="rId17"/>
    <p:sldId id="427" r:id="rId18"/>
    <p:sldId id="391" r:id="rId19"/>
    <p:sldId id="3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ngyang luo" initials="ql" lastIdx="1" clrIdx="0">
    <p:extLst>
      <p:ext uri="{19B8F6BF-5375-455C-9EA6-DF929625EA0E}">
        <p15:presenceInfo xmlns:p15="http://schemas.microsoft.com/office/powerpoint/2012/main" userId="b312fd5b3cbd68e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561F"/>
    <a:srgbClr val="FFFFFF"/>
    <a:srgbClr val="006600"/>
    <a:srgbClr val="4472C4"/>
    <a:srgbClr val="D1E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44" autoAdjust="0"/>
  </p:normalViewPr>
  <p:slideViewPr>
    <p:cSldViewPr snapToGrid="0">
      <p:cViewPr varScale="1">
        <p:scale>
          <a:sx n="77" d="100"/>
          <a:sy n="77" d="100"/>
        </p:scale>
        <p:origin x="715" y="43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51"/>
    </p:cViewPr>
  </p:sorterViewPr>
  <p:notesViewPr>
    <p:cSldViewPr snapToGrid="0">
      <p:cViewPr varScale="1">
        <p:scale>
          <a:sx n="71" d="100"/>
          <a:sy n="71" d="100"/>
        </p:scale>
        <p:origin x="2739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041DB06-6AB1-465F-03B4-E6EBA3BD70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ED1A49-E672-C827-7530-25569C5EE0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BD34A-0F7A-4E89-A44C-82B519A1744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90C4FD-567C-38F4-79F9-F6DDBE238C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7D8CBD-82C1-25D3-FC09-0E507A0F16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77122-1640-47D4-A46F-D8F6FCE9E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36173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2DA434-5B87-4D57-A495-9B34A93F66A7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2CE8C-24EE-47A1-882C-75AEA3B15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10122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IMSRG</a:t>
            </a:r>
            <a:r>
              <a:rPr lang="zh-CN" altLang="en-US" dirty="0"/>
              <a:t>方法拓展至有限温度下</a:t>
            </a:r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2CE8C-24EE-47A1-882C-75AEA3B1525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393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2024/5/14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717F-43AD-450A-B181-8EC8BBEE2E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27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758406B-3AC8-D5EE-2263-160FDFE63ADC}"/>
              </a:ext>
            </a:extLst>
          </p:cNvPr>
          <p:cNvSpPr/>
          <p:nvPr userDrawn="1"/>
        </p:nvSpPr>
        <p:spPr>
          <a:xfrm>
            <a:off x="0" y="0"/>
            <a:ext cx="12192000" cy="635152"/>
          </a:xfrm>
          <a:prstGeom prst="rect">
            <a:avLst/>
          </a:prstGeom>
          <a:solidFill>
            <a:srgbClr val="01561F"/>
          </a:solidFill>
          <a:ln>
            <a:solidFill>
              <a:srgbClr val="01561F"/>
            </a:solidFill>
          </a:ln>
          <a:effectLst>
            <a:reflection stA="17000" endPos="200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66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C44F7B5-C183-A0CD-B933-5E0BEA64D4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1688" b="31917"/>
          <a:stretch/>
        </p:blipFill>
        <p:spPr>
          <a:xfrm>
            <a:off x="11385734" y="0"/>
            <a:ext cx="806266" cy="63515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21F22B9-C3AF-BFF3-1D28-E94CA7E0AE7B}"/>
              </a:ext>
            </a:extLst>
          </p:cNvPr>
          <p:cNvSpPr/>
          <p:nvPr userDrawn="1"/>
        </p:nvSpPr>
        <p:spPr>
          <a:xfrm>
            <a:off x="6096000" y="6612464"/>
            <a:ext cx="6096001" cy="245534"/>
          </a:xfrm>
          <a:prstGeom prst="rect">
            <a:avLst/>
          </a:prstGeom>
          <a:solidFill>
            <a:srgbClr val="0156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0C3093-C179-935B-CB0C-68D11E5C5D02}"/>
              </a:ext>
            </a:extLst>
          </p:cNvPr>
          <p:cNvSpPr/>
          <p:nvPr userDrawn="1"/>
        </p:nvSpPr>
        <p:spPr>
          <a:xfrm>
            <a:off x="8466" y="6623053"/>
            <a:ext cx="6070603" cy="234945"/>
          </a:xfrm>
          <a:prstGeom prst="rect">
            <a:avLst/>
          </a:prstGeom>
          <a:solidFill>
            <a:srgbClr val="01561F">
              <a:alpha val="18000"/>
            </a:srgbClr>
          </a:solidFill>
          <a:ln>
            <a:solidFill>
              <a:srgbClr val="D1E1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页脚占位符 3">
            <a:extLst>
              <a:ext uri="{FF2B5EF4-FFF2-40B4-BE49-F238E27FC236}">
                <a16:creationId xmlns:a16="http://schemas.microsoft.com/office/drawing/2014/main" id="{57BE155D-68E3-DA00-4205-E0113FA3FF30}"/>
              </a:ext>
            </a:extLst>
          </p:cNvPr>
          <p:cNvSpPr txBox="1">
            <a:spLocks/>
          </p:cNvSpPr>
          <p:nvPr userDrawn="1"/>
        </p:nvSpPr>
        <p:spPr>
          <a:xfrm>
            <a:off x="6079069" y="6601875"/>
            <a:ext cx="6019801" cy="24553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</a:rPr>
              <a:t>陈林海</a:t>
            </a:r>
            <a:r>
              <a:rPr lang="en-US" altLang="zh-CN" dirty="0">
                <a:solidFill>
                  <a:schemeClr val="bg1"/>
                </a:solidFill>
              </a:rPr>
              <a:t>20344005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A72161C0-1521-6BC6-A591-91046564E5E0}"/>
              </a:ext>
            </a:extLst>
          </p:cNvPr>
          <p:cNvSpPr txBox="1">
            <a:spLocks/>
          </p:cNvSpPr>
          <p:nvPr userDrawn="1"/>
        </p:nvSpPr>
        <p:spPr>
          <a:xfrm>
            <a:off x="3242738" y="6601870"/>
            <a:ext cx="2743200" cy="2455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5717F-43AD-450A-B181-8EC8BBEE2E16}" type="slidenum">
              <a:rPr lang="zh-CN" altLang="en-US" smtClean="0">
                <a:solidFill>
                  <a:schemeClr val="accent6">
                    <a:lumMod val="50000"/>
                  </a:schemeClr>
                </a:solidFill>
              </a:rPr>
              <a:pPr/>
              <a:t>‹#›</a:t>
            </a:fld>
            <a:endParaRPr lang="zh-CN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日期占位符 2">
            <a:extLst>
              <a:ext uri="{FF2B5EF4-FFF2-40B4-BE49-F238E27FC236}">
                <a16:creationId xmlns:a16="http://schemas.microsoft.com/office/drawing/2014/main" id="{2AFA32BC-23FF-479C-A1AC-1C44D3B5A276}"/>
              </a:ext>
            </a:extLst>
          </p:cNvPr>
          <p:cNvSpPr txBox="1">
            <a:spLocks/>
          </p:cNvSpPr>
          <p:nvPr userDrawn="1"/>
        </p:nvSpPr>
        <p:spPr>
          <a:xfrm>
            <a:off x="0" y="6601870"/>
            <a:ext cx="2743200" cy="2455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78200B5-A958-4343-92EE-7D07A8FCB3FE}" type="datetime1">
              <a:rPr lang="zh-CN" altLang="en-US" sz="1600" smtClean="0">
                <a:solidFill>
                  <a:schemeClr val="accent6">
                    <a:lumMod val="75000"/>
                  </a:schemeClr>
                </a:solidFill>
              </a:rPr>
              <a:pPr/>
              <a:t>2026/7/22</a:t>
            </a:fld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3124660-2202-80E7-4FDC-4C701A052A17}"/>
              </a:ext>
            </a:extLst>
          </p:cNvPr>
          <p:cNvSpPr txBox="1"/>
          <p:nvPr userDrawn="1"/>
        </p:nvSpPr>
        <p:spPr>
          <a:xfrm>
            <a:off x="321733" y="55966"/>
            <a:ext cx="5444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标题</a:t>
            </a:r>
          </a:p>
        </p:txBody>
      </p:sp>
    </p:spTree>
    <p:extLst>
      <p:ext uri="{BB962C8B-B14F-4D97-AF65-F5344CB8AC3E}">
        <p14:creationId xmlns:p14="http://schemas.microsoft.com/office/powerpoint/2010/main" val="86135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758406B-3AC8-D5EE-2263-160FDFE63ADC}"/>
              </a:ext>
            </a:extLst>
          </p:cNvPr>
          <p:cNvSpPr/>
          <p:nvPr userDrawn="1"/>
        </p:nvSpPr>
        <p:spPr>
          <a:xfrm>
            <a:off x="0" y="0"/>
            <a:ext cx="12192000" cy="635152"/>
          </a:xfrm>
          <a:prstGeom prst="rect">
            <a:avLst/>
          </a:prstGeom>
          <a:solidFill>
            <a:srgbClr val="01561F"/>
          </a:solidFill>
          <a:ln>
            <a:solidFill>
              <a:srgbClr val="01561F"/>
            </a:solidFill>
          </a:ln>
          <a:effectLst>
            <a:reflection stA="17000" endPos="200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66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C44F7B5-C183-A0CD-B933-5E0BEA64D4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1688" b="31917"/>
          <a:stretch/>
        </p:blipFill>
        <p:spPr>
          <a:xfrm>
            <a:off x="11385734" y="0"/>
            <a:ext cx="806266" cy="63515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21F22B9-C3AF-BFF3-1D28-E94CA7E0AE7B}"/>
              </a:ext>
            </a:extLst>
          </p:cNvPr>
          <p:cNvSpPr/>
          <p:nvPr userDrawn="1"/>
        </p:nvSpPr>
        <p:spPr>
          <a:xfrm>
            <a:off x="6070602" y="6633642"/>
            <a:ext cx="6121397" cy="226382"/>
          </a:xfrm>
          <a:prstGeom prst="rect">
            <a:avLst/>
          </a:prstGeom>
          <a:solidFill>
            <a:srgbClr val="0156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0C3093-C179-935B-CB0C-68D11E5C5D02}"/>
              </a:ext>
            </a:extLst>
          </p:cNvPr>
          <p:cNvSpPr/>
          <p:nvPr userDrawn="1"/>
        </p:nvSpPr>
        <p:spPr>
          <a:xfrm>
            <a:off x="0" y="6633642"/>
            <a:ext cx="6070603" cy="234945"/>
          </a:xfrm>
          <a:prstGeom prst="rect">
            <a:avLst/>
          </a:prstGeom>
          <a:solidFill>
            <a:srgbClr val="01561F">
              <a:alpha val="18000"/>
            </a:srgbClr>
          </a:solidFill>
          <a:ln>
            <a:solidFill>
              <a:srgbClr val="D1E1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页脚占位符 3">
            <a:extLst>
              <a:ext uri="{FF2B5EF4-FFF2-40B4-BE49-F238E27FC236}">
                <a16:creationId xmlns:a16="http://schemas.microsoft.com/office/drawing/2014/main" id="{57BE155D-68E3-DA00-4205-E0113FA3FF30}"/>
              </a:ext>
            </a:extLst>
          </p:cNvPr>
          <p:cNvSpPr txBox="1">
            <a:spLocks/>
          </p:cNvSpPr>
          <p:nvPr userDrawn="1"/>
        </p:nvSpPr>
        <p:spPr>
          <a:xfrm>
            <a:off x="6086383" y="6625079"/>
            <a:ext cx="5970158" cy="22638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</a:rPr>
              <a:t>陈林海</a:t>
            </a:r>
            <a:r>
              <a:rPr lang="en-US" altLang="zh-CN" dirty="0">
                <a:solidFill>
                  <a:schemeClr val="bg1"/>
                </a:solidFill>
              </a:rPr>
              <a:t>20344005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A72161C0-1521-6BC6-A591-91046564E5E0}"/>
              </a:ext>
            </a:extLst>
          </p:cNvPr>
          <p:cNvSpPr txBox="1">
            <a:spLocks/>
          </p:cNvSpPr>
          <p:nvPr userDrawn="1"/>
        </p:nvSpPr>
        <p:spPr>
          <a:xfrm>
            <a:off x="3242738" y="6601870"/>
            <a:ext cx="2743200" cy="2455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5717F-43AD-450A-B181-8EC8BBEE2E16}" type="slidenum">
              <a:rPr lang="zh-CN" altLang="en-US" smtClean="0">
                <a:solidFill>
                  <a:schemeClr val="accent6">
                    <a:lumMod val="50000"/>
                  </a:schemeClr>
                </a:solidFill>
              </a:rPr>
              <a:pPr/>
              <a:t>‹#›</a:t>
            </a:fld>
            <a:endParaRPr lang="zh-CN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404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2024/5/14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717F-43AD-450A-B181-8EC8BBEE2E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9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2024/5/14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717F-43AD-450A-B181-8EC8BBEE2E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874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2024/5/14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717F-43AD-450A-B181-8EC8BBEE2E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80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2024/5/14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717F-43AD-450A-B181-8EC8BBEE2E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31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2024/5/14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717F-43AD-450A-B181-8EC8BBEE2E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026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2024/5/14</a:t>
            </a: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717F-43AD-450A-B181-8EC8BBEE2E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880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2024/5/14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717F-43AD-450A-B181-8EC8BBEE2E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421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2024/5/14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717F-43AD-450A-B181-8EC8BBEE2E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6631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2024/5/14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717F-43AD-450A-B181-8EC8BBEE2E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904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2024/5/14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717F-43AD-450A-B181-8EC8BBEE2E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25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2024/5/14</a:t>
            </a:r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5717F-43AD-450A-B181-8EC8BBEE2E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77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4" r:id="rId2"/>
    <p:sldLayoutId id="2147483685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20.png"/><Relationship Id="rId10" Type="http://schemas.openxmlformats.org/officeDocument/2006/relationships/image" Target="../media/image35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2BDA8DA-D780-224C-4E54-1388C9502064}"/>
              </a:ext>
            </a:extLst>
          </p:cNvPr>
          <p:cNvSpPr txBox="1"/>
          <p:nvPr/>
        </p:nvSpPr>
        <p:spPr>
          <a:xfrm>
            <a:off x="763571" y="1631368"/>
            <a:ext cx="11255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Stochastic Similarity Renormalization Group</a:t>
            </a:r>
            <a:endParaRPr lang="zh-CN" altLang="en-US" sz="3200" dirty="0">
              <a:latin typeface="Adobe Gothic Std B" panose="020B0800000000000000" pitchFamily="34" charset="-128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926367-42DC-1F82-F314-D0DA15F03A60}"/>
              </a:ext>
            </a:extLst>
          </p:cNvPr>
          <p:cNvSpPr txBox="1"/>
          <p:nvPr/>
        </p:nvSpPr>
        <p:spPr>
          <a:xfrm>
            <a:off x="3312736" y="4419325"/>
            <a:ext cx="706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Date:2026.7.22      </a:t>
            </a:r>
            <a:r>
              <a:rPr lang="en-US" altLang="zh-CN" sz="2000" dirty="0" err="1"/>
              <a:t>Linhai</a:t>
            </a:r>
            <a:r>
              <a:rPr lang="en-US" altLang="zh-CN" sz="2000" dirty="0"/>
              <a:t> Chen     Sun-Yat-San University  </a:t>
            </a:r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02DF2C-B2B3-B801-2FCA-20D2BFA3F30E}"/>
              </a:ext>
            </a:extLst>
          </p:cNvPr>
          <p:cNvSpPr txBox="1"/>
          <p:nvPr/>
        </p:nvSpPr>
        <p:spPr>
          <a:xfrm>
            <a:off x="266203" y="70668"/>
            <a:ext cx="5429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Journal Club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14560C-0EA4-80FA-91D9-DEFB61059B53}"/>
              </a:ext>
            </a:extLst>
          </p:cNvPr>
          <p:cNvSpPr txBox="1"/>
          <p:nvPr/>
        </p:nvSpPr>
        <p:spPr>
          <a:xfrm>
            <a:off x="3814611" y="5226632"/>
            <a:ext cx="4741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arXiv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2607.08830v1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18E45F-5D09-7440-765B-15BD54ADB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402" y="2438675"/>
            <a:ext cx="9922100" cy="131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35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DC49888-1B53-8716-E0C7-9C8E2EA220FC}"/>
              </a:ext>
            </a:extLst>
          </p:cNvPr>
          <p:cNvSpPr txBox="1"/>
          <p:nvPr/>
        </p:nvSpPr>
        <p:spPr>
          <a:xfrm>
            <a:off x="172961" y="0"/>
            <a:ext cx="3667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Abstract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9FF736-E918-C31A-7C8F-C3162A2EEFFF}"/>
              </a:ext>
            </a:extLst>
          </p:cNvPr>
          <p:cNvSpPr txBox="1"/>
          <p:nvPr/>
        </p:nvSpPr>
        <p:spPr>
          <a:xfrm>
            <a:off x="1129319" y="4950455"/>
            <a:ext cx="102120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本文将</a:t>
            </a:r>
            <a:r>
              <a:rPr lang="en-US" altLang="zh-CN" sz="2000" b="1" dirty="0"/>
              <a:t>SRG</a:t>
            </a:r>
            <a:r>
              <a:rPr lang="zh-CN" altLang="en-US" sz="2000" b="1" dirty="0"/>
              <a:t>方法与量子蒙特卡洛方法</a:t>
            </a:r>
            <a:r>
              <a:rPr lang="en-US" altLang="zh-CN" sz="2000" b="1" dirty="0"/>
              <a:t>(quantum Monte Carlo, QMC)</a:t>
            </a:r>
            <a:r>
              <a:rPr lang="zh-CN" altLang="en-US" sz="2000" b="1" dirty="0"/>
              <a:t>相结合，在自由动量空间和配对模型中对比了</a:t>
            </a:r>
            <a:r>
              <a:rPr lang="en-US" altLang="zh-CN" sz="2000" b="1" dirty="0"/>
              <a:t>SRGQMC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IMSRG</a:t>
            </a:r>
            <a:r>
              <a:rPr lang="zh-CN" altLang="en-US" sz="2000" b="1" dirty="0"/>
              <a:t>方法的结果，并利用</a:t>
            </a:r>
            <a:r>
              <a:rPr lang="en-US" altLang="zh-CN" sz="2000" b="1" dirty="0"/>
              <a:t>SRGQMC</a:t>
            </a:r>
            <a:r>
              <a:rPr lang="zh-CN" altLang="en-US" sz="2000" b="1" dirty="0"/>
              <a:t>首次实现了</a:t>
            </a:r>
            <a:r>
              <a:rPr lang="en-US" altLang="zh-CN" sz="2000" b="1" dirty="0"/>
              <a:t>IMSRG(4)</a:t>
            </a:r>
            <a:r>
              <a:rPr lang="zh-CN" altLang="en-US" sz="2000" b="1" dirty="0"/>
              <a:t>截断计算。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6A92DED-A34F-42C3-ACFA-87AD5C48C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53" y="1199659"/>
            <a:ext cx="10490694" cy="334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6721A9-BECF-5659-4867-C94318D8F8CC}"/>
              </a:ext>
            </a:extLst>
          </p:cNvPr>
          <p:cNvSpPr txBox="1"/>
          <p:nvPr/>
        </p:nvSpPr>
        <p:spPr>
          <a:xfrm>
            <a:off x="0" y="0"/>
            <a:ext cx="460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Introduction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EC0FBB4-A015-795C-E965-231D915041CC}"/>
              </a:ext>
            </a:extLst>
          </p:cNvPr>
          <p:cNvSpPr txBox="1"/>
          <p:nvPr/>
        </p:nvSpPr>
        <p:spPr>
          <a:xfrm>
            <a:off x="402210" y="1381538"/>
            <a:ext cx="1138757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2000" dirty="0"/>
              <a:t>相似重整化群（</a:t>
            </a:r>
            <a:r>
              <a:rPr lang="en-US" altLang="zh-CN" sz="2000" dirty="0"/>
              <a:t>SRG</a:t>
            </a:r>
            <a:r>
              <a:rPr lang="zh-CN" altLang="en-US" sz="2000" dirty="0"/>
              <a:t>）方法是一种重要的从头计算方法，​ 通过哈密顿量的连续幺正演化，将其对角化，用来解耦高、低动量成分，软化核力，加速多体计算的收敛。介质相似重整化群方法（</a:t>
            </a:r>
            <a:r>
              <a:rPr lang="en-US" altLang="zh-CN" sz="2000" dirty="0"/>
              <a:t>IMSRG</a:t>
            </a:r>
            <a:r>
              <a:rPr lang="zh-CN" altLang="en-US" sz="2000" dirty="0"/>
              <a:t>）​ 将演化策略推广到多体哈密顿量，对参考态和激发态退耦。</a:t>
            </a:r>
            <a:endParaRPr lang="en-US" altLang="zh-CN" sz="2000" dirty="0"/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000" dirty="0"/>
              <a:t>IMSRG</a:t>
            </a:r>
            <a:r>
              <a:rPr lang="zh-CN" altLang="en-US" sz="2000" dirty="0"/>
              <a:t>受到截断限制，诱导出的高阶算符无法全部保留。一般采用</a:t>
            </a:r>
            <a:r>
              <a:rPr lang="en-US" altLang="zh-CN" sz="2000" dirty="0"/>
              <a:t>IMSRG(2)</a:t>
            </a:r>
            <a:r>
              <a:rPr lang="zh-CN" altLang="en-US" sz="2000" dirty="0"/>
              <a:t> 截断，但它系统性地忽略了描述核集体运动和集团结构所必需的高阶关联。更高阶的</a:t>
            </a:r>
            <a:r>
              <a:rPr lang="en-US" altLang="zh-CN" sz="2000" dirty="0"/>
              <a:t>IMSRG(3)</a:t>
            </a:r>
            <a:r>
              <a:rPr lang="zh-CN" altLang="en-US" sz="2000" dirty="0"/>
              <a:t>甚至</a:t>
            </a:r>
            <a:r>
              <a:rPr lang="en-US" altLang="zh-CN" sz="2000" dirty="0"/>
              <a:t>IMSRG(4)​ </a:t>
            </a:r>
            <a:r>
              <a:rPr lang="zh-CN" altLang="en-US" sz="2000" dirty="0"/>
              <a:t>能捕获更多多体关联，但导致算符空间的组合爆炸和嵌套张量收缩，使得高阶演化在计算上不可行。</a:t>
            </a:r>
            <a:endParaRPr lang="en-US" altLang="zh-CN" sz="2000" dirty="0"/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2000" dirty="0"/>
              <a:t>本文提出 </a:t>
            </a:r>
            <a:r>
              <a:rPr lang="en-US" altLang="zh-CN" sz="2000" dirty="0"/>
              <a:t>SRGQMC</a:t>
            </a:r>
            <a:r>
              <a:rPr lang="zh-CN" altLang="en-US" sz="2000" dirty="0"/>
              <a:t>（量子蒙特卡洛相似性重正化群方法），利用随机采样平均近似求和结果，用动态随机游走者来代替确定性算符矩阵的演化，实现不确定可控的</a:t>
            </a:r>
            <a:r>
              <a:rPr lang="en-US" altLang="zh-CN" sz="2000" dirty="0"/>
              <a:t>IMSRG</a:t>
            </a:r>
            <a:r>
              <a:rPr lang="zh-CN" altLang="en-US" sz="2000" dirty="0"/>
              <a:t>计算。</a:t>
            </a:r>
            <a:endParaRPr lang="en-US" altLang="zh-CN" sz="2000" dirty="0"/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2000" dirty="0"/>
              <a:t>本文将</a:t>
            </a:r>
            <a:r>
              <a:rPr lang="en-US" altLang="zh-CN" sz="2000" dirty="0"/>
              <a:t>SRGQMC</a:t>
            </a:r>
            <a:r>
              <a:rPr lang="zh-CN" altLang="en-US" sz="2000" dirty="0"/>
              <a:t>方法与真实核子</a:t>
            </a:r>
            <a:r>
              <a:rPr lang="en-US" altLang="zh-CN" sz="2000" dirty="0"/>
              <a:t>-</a:t>
            </a:r>
            <a:r>
              <a:rPr lang="zh-CN" altLang="en-US" sz="2000" dirty="0"/>
              <a:t>核子（</a:t>
            </a:r>
            <a:r>
              <a:rPr lang="en-US" altLang="zh-CN" sz="2000" dirty="0"/>
              <a:t>NN</a:t>
            </a:r>
            <a:r>
              <a:rPr lang="zh-CN" altLang="en-US" sz="2000" dirty="0"/>
              <a:t>）相互作用的确定性自由空间</a:t>
            </a:r>
            <a:r>
              <a:rPr lang="en-US" altLang="zh-CN" sz="2000" dirty="0"/>
              <a:t>SRG</a:t>
            </a:r>
            <a:r>
              <a:rPr lang="zh-CN" altLang="en-US" sz="2000" dirty="0"/>
              <a:t>演化进行了比对，同时也采用配对模型与</a:t>
            </a:r>
            <a:r>
              <a:rPr lang="en-US" altLang="zh-CN" sz="2000" dirty="0"/>
              <a:t> [IMSRG(2)/(3)]</a:t>
            </a:r>
            <a:r>
              <a:rPr lang="zh-CN" altLang="en-US" sz="2000" dirty="0"/>
              <a:t>框架进行了对比。</a:t>
            </a:r>
          </a:p>
        </p:txBody>
      </p:sp>
    </p:spTree>
    <p:extLst>
      <p:ext uri="{BB962C8B-B14F-4D97-AF65-F5344CB8AC3E}">
        <p14:creationId xmlns:p14="http://schemas.microsoft.com/office/powerpoint/2010/main" val="3499808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C77A927-53C8-E982-A24F-8CC1FFF94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323" y="860563"/>
            <a:ext cx="1453484" cy="98432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BECF7BC-2FF6-DE9C-7EE2-CC18AC8B4711}"/>
              </a:ext>
            </a:extLst>
          </p:cNvPr>
          <p:cNvSpPr txBox="1"/>
          <p:nvPr/>
        </p:nvSpPr>
        <p:spPr>
          <a:xfrm>
            <a:off x="943031" y="1216057"/>
            <a:ext cx="3508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）假设需要计算求和：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91466D-E2A7-3695-C70D-EA603C3DA56A}"/>
              </a:ext>
            </a:extLst>
          </p:cNvPr>
          <p:cNvSpPr txBox="1"/>
          <p:nvPr/>
        </p:nvSpPr>
        <p:spPr>
          <a:xfrm>
            <a:off x="5406886" y="1222513"/>
            <a:ext cx="4996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需要遍历所有</a:t>
            </a:r>
            <a:r>
              <a:rPr lang="en-US" altLang="zh-CN" dirty="0"/>
              <a:t>M</a:t>
            </a:r>
            <a:r>
              <a:rPr lang="zh-CN" altLang="en-US" dirty="0"/>
              <a:t>个指标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2FC8FEC-C61F-37DA-1B69-478BB670033B}"/>
                  </a:ext>
                </a:extLst>
              </p:cNvPr>
              <p:cNvSpPr txBox="1"/>
              <p:nvPr/>
            </p:nvSpPr>
            <p:spPr>
              <a:xfrm>
                <a:off x="943031" y="2032108"/>
                <a:ext cx="937378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2</a:t>
                </a:r>
                <a:r>
                  <a:rPr lang="zh-CN" altLang="en-US" dirty="0"/>
                  <a:t>）蒙特卡洛方法令指标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按照概率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/>
                  <a:t>被抽取，随机抽取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dirty="0"/>
                  <a:t>次：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2FC8FEC-C61F-37DA-1B69-478BB6700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031" y="2032108"/>
                <a:ext cx="9373785" cy="646331"/>
              </a:xfrm>
              <a:prstGeom prst="rect">
                <a:avLst/>
              </a:prstGeom>
              <a:blipFill>
                <a:blip r:embed="rId3"/>
                <a:stretch>
                  <a:fillRect l="-586" t="-4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2C12D7B7-0BCD-C701-13A9-A6A895D87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645" y="1882221"/>
            <a:ext cx="2891478" cy="64633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D089624-367B-99E3-06C6-C7B0C3515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323" y="2641983"/>
            <a:ext cx="2120796" cy="92169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51349C7-A4AF-755E-AF04-AF642A4511D4}"/>
              </a:ext>
            </a:extLst>
          </p:cNvPr>
          <p:cNvSpPr txBox="1"/>
          <p:nvPr/>
        </p:nvSpPr>
        <p:spPr>
          <a:xfrm>
            <a:off x="955156" y="2922203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）新的求和估计值为：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347343C-016E-1527-388B-979FC0177B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306" y="2804003"/>
            <a:ext cx="1958510" cy="134885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5307E9D-57E3-E5F7-B79A-808BB3E366F9}"/>
              </a:ext>
            </a:extLst>
          </p:cNvPr>
          <p:cNvSpPr txBox="1"/>
          <p:nvPr/>
        </p:nvSpPr>
        <p:spPr>
          <a:xfrm>
            <a:off x="5781261" y="2853032"/>
            <a:ext cx="280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期望值与原本求和一致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913D96A-A3DF-7F52-23FF-2BA908A3A5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5381" y="4125772"/>
            <a:ext cx="1158340" cy="64775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9F506B1-8938-3B43-1213-8C7BC23F3A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4213" y="3991882"/>
            <a:ext cx="1493649" cy="845893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913119E3-EF5F-F747-C568-B405DC4ACE64}"/>
              </a:ext>
            </a:extLst>
          </p:cNvPr>
          <p:cNvSpPr txBox="1"/>
          <p:nvPr/>
        </p:nvSpPr>
        <p:spPr>
          <a:xfrm>
            <a:off x="943031" y="4225480"/>
            <a:ext cx="2657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）假设是均匀采样，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A82528-13A9-F1EB-D7F0-DCBBDBBAAF16}"/>
              </a:ext>
            </a:extLst>
          </p:cNvPr>
          <p:cNvSpPr txBox="1"/>
          <p:nvPr/>
        </p:nvSpPr>
        <p:spPr>
          <a:xfrm>
            <a:off x="4846732" y="4270244"/>
            <a:ext cx="1158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则为：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717C8C6-2F9A-7B6A-5A0A-AFB014865FA1}"/>
              </a:ext>
            </a:extLst>
          </p:cNvPr>
          <p:cNvSpPr txBox="1"/>
          <p:nvPr/>
        </p:nvSpPr>
        <p:spPr>
          <a:xfrm>
            <a:off x="856602" y="5573521"/>
            <a:ext cx="102969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利用蒙特卡洛的思想，例如需要统计全校</a:t>
            </a:r>
            <a:r>
              <a:rPr lang="en-US" altLang="zh-CN" sz="2000" dirty="0"/>
              <a:t>1000</a:t>
            </a:r>
            <a:r>
              <a:rPr lang="zh-CN" altLang="en-US" sz="2000" dirty="0"/>
              <a:t>名学生的体重总和，只需要随机采样其中</a:t>
            </a:r>
            <a:r>
              <a:rPr lang="en-US" altLang="zh-CN" sz="2000" dirty="0"/>
              <a:t>50</a:t>
            </a:r>
            <a:r>
              <a:rPr lang="zh-CN" altLang="en-US" sz="2000" dirty="0"/>
              <a:t>名学生的体重之和，再乘以系数</a:t>
            </a:r>
            <a:r>
              <a:rPr lang="en-US" altLang="zh-CN" sz="2000" dirty="0"/>
              <a:t>1000/50</a:t>
            </a:r>
            <a:r>
              <a:rPr lang="zh-CN" altLang="en-US" sz="2000" dirty="0"/>
              <a:t>即可。然后重复几次这个过程，取均值。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6BBF6D8-2C67-5656-6E86-BA57055941E2}"/>
              </a:ext>
            </a:extLst>
          </p:cNvPr>
          <p:cNvSpPr txBox="1"/>
          <p:nvPr/>
        </p:nvSpPr>
        <p:spPr>
          <a:xfrm>
            <a:off x="0" y="0"/>
            <a:ext cx="460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Monte Carlo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888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3890D3-73BE-F204-3FF6-E44BF84EA110}"/>
              </a:ext>
            </a:extLst>
          </p:cNvPr>
          <p:cNvSpPr txBox="1"/>
          <p:nvPr/>
        </p:nvSpPr>
        <p:spPr>
          <a:xfrm>
            <a:off x="0" y="0"/>
            <a:ext cx="460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SRGQMC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99C0965-2D4D-2CD6-60A7-4C92A3818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58" y="1520346"/>
            <a:ext cx="5262417" cy="435367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34EC98A-E7B8-39FD-D056-48A01913F28A}"/>
              </a:ext>
            </a:extLst>
          </p:cNvPr>
          <p:cNvSpPr txBox="1"/>
          <p:nvPr/>
        </p:nvSpPr>
        <p:spPr>
          <a:xfrm>
            <a:off x="387625" y="852505"/>
            <a:ext cx="3448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1) SRG flow equation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2113B4A-6F57-E3D7-B234-D09A59D8F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627" y="1520346"/>
            <a:ext cx="5510837" cy="40356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51D999F-6D6B-A04B-A912-8C2BCFE51A1F}"/>
                  </a:ext>
                </a:extLst>
              </p:cNvPr>
              <p:cNvSpPr txBox="1"/>
              <p:nvPr/>
            </p:nvSpPr>
            <p:spPr>
              <a:xfrm>
                <a:off x="6428962" y="852505"/>
                <a:ext cx="3448879" cy="429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2) Initialize walkers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𝒊𝒋</m:t>
                        </m:r>
                      </m:sub>
                    </m:sSub>
                  </m:oMath>
                </a14:m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51D999F-6D6B-A04B-A912-8C2BCFE51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962" y="852505"/>
                <a:ext cx="3448879" cy="429220"/>
              </a:xfrm>
              <a:prstGeom prst="rect">
                <a:avLst/>
              </a:prstGeom>
              <a:blipFill>
                <a:blip r:embed="rId4"/>
                <a:stretch>
                  <a:fillRect l="-1947" t="-8571" b="-1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7FA5EF6-F02D-6867-BC2F-BCB5F09DA847}"/>
                  </a:ext>
                </a:extLst>
              </p:cNvPr>
              <p:cNvSpPr txBox="1"/>
              <p:nvPr/>
            </p:nvSpPr>
            <p:spPr>
              <a:xfrm>
                <a:off x="8029685" y="5612406"/>
                <a:ext cx="1896719" cy="7861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  <m:sup/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d>
                        <m:dPr>
                          <m:begChr m:val="|"/>
                          <m:endChr m:val="|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7FA5EF6-F02D-6867-BC2F-BCB5F09DA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685" y="5612406"/>
                <a:ext cx="1896719" cy="7861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55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49392D-47EC-FED8-EE84-198875CC1739}"/>
              </a:ext>
            </a:extLst>
          </p:cNvPr>
          <p:cNvSpPr txBox="1"/>
          <p:nvPr/>
        </p:nvSpPr>
        <p:spPr>
          <a:xfrm>
            <a:off x="731474" y="902201"/>
            <a:ext cx="3448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3) Spawning rules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6DCE95D-D6EF-5B8F-868F-8D2CFB16AB1C}"/>
              </a:ext>
            </a:extLst>
          </p:cNvPr>
          <p:cNvGrpSpPr/>
          <p:nvPr/>
        </p:nvGrpSpPr>
        <p:grpSpPr>
          <a:xfrm>
            <a:off x="489189" y="1528008"/>
            <a:ext cx="5606811" cy="3715075"/>
            <a:chOff x="595206" y="1592421"/>
            <a:chExt cx="5500794" cy="35141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4532F96-ACB6-A319-9792-BAF3139FF3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5206" y="1592421"/>
              <a:ext cx="5281377" cy="1985666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3066A0C-216A-EA68-2DF8-5629C7EDD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3466" y="3501659"/>
              <a:ext cx="5372534" cy="1604894"/>
            </a:xfrm>
            <a:prstGeom prst="rect">
              <a:avLst/>
            </a:prstGeom>
          </p:spPr>
        </p:pic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6860C467-A3AF-8F44-1A93-B1523E2B3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21" y="5329992"/>
            <a:ext cx="5290015" cy="97403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48C1982-A752-649F-EF90-F24EE3D61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648" y="1605776"/>
            <a:ext cx="5486623" cy="24394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33BDF39-0F5B-F8F9-B900-B55B68341DF1}"/>
              </a:ext>
            </a:extLst>
          </p:cNvPr>
          <p:cNvSpPr txBox="1"/>
          <p:nvPr/>
        </p:nvSpPr>
        <p:spPr>
          <a:xfrm>
            <a:off x="6429909" y="975088"/>
            <a:ext cx="4860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4) Annihilation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update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F736E8-B8D2-8899-49F4-74CEC2607485}"/>
              </a:ext>
            </a:extLst>
          </p:cNvPr>
          <p:cNvSpPr txBox="1"/>
          <p:nvPr/>
        </p:nvSpPr>
        <p:spPr>
          <a:xfrm>
            <a:off x="0" y="0"/>
            <a:ext cx="460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SRGQMC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3C0D577-F1AF-8108-05BA-5093B5FBE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8855" y="5036972"/>
            <a:ext cx="3844694" cy="90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637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5460E5C-38D9-64B9-6D17-AD8800B9773F}"/>
              </a:ext>
            </a:extLst>
          </p:cNvPr>
          <p:cNvSpPr txBox="1"/>
          <p:nvPr/>
        </p:nvSpPr>
        <p:spPr>
          <a:xfrm>
            <a:off x="920318" y="1041349"/>
            <a:ext cx="3448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SRG:  target -&gt; source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E7ED34-6E95-FB7C-B142-BAC379330F60}"/>
              </a:ext>
            </a:extLst>
          </p:cNvPr>
          <p:cNvSpPr txBox="1"/>
          <p:nvPr/>
        </p:nvSpPr>
        <p:spPr>
          <a:xfrm>
            <a:off x="6347081" y="1041349"/>
            <a:ext cx="4890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SRGQMC:  source -&gt; target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2FD2EDA-CCE3-5215-151D-0BE28ECE854E}"/>
              </a:ext>
            </a:extLst>
          </p:cNvPr>
          <p:cNvSpPr/>
          <p:nvPr/>
        </p:nvSpPr>
        <p:spPr>
          <a:xfrm>
            <a:off x="546653" y="1590261"/>
            <a:ext cx="4661453" cy="3488958"/>
          </a:xfrm>
          <a:prstGeom prst="roundRect">
            <a:avLst/>
          </a:prstGeom>
          <a:noFill/>
          <a:ln w="285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68F4958-70C6-06CF-2290-B1E9DD31F099}"/>
              </a:ext>
            </a:extLst>
          </p:cNvPr>
          <p:cNvSpPr/>
          <p:nvPr/>
        </p:nvSpPr>
        <p:spPr>
          <a:xfrm>
            <a:off x="6152321" y="1611127"/>
            <a:ext cx="5493026" cy="3736125"/>
          </a:xfrm>
          <a:prstGeom prst="roundRect">
            <a:avLst/>
          </a:prstGeom>
          <a:noFill/>
          <a:ln w="285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401803B-3648-64CE-BCFB-993D43574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855" y="1951362"/>
            <a:ext cx="3247047" cy="7685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904A1D6-62BD-ABC3-6250-C90AFF8C3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49" y="1717431"/>
            <a:ext cx="2810759" cy="13906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3CE7C45-64BE-A55F-D9CD-E5DFECCD5E1E}"/>
                  </a:ext>
                </a:extLst>
              </p:cNvPr>
              <p:cNvSpPr txBox="1"/>
              <p:nvPr/>
            </p:nvSpPr>
            <p:spPr>
              <a:xfrm>
                <a:off x="1595882" y="3313797"/>
                <a:ext cx="680507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𝑑𝐻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3CE7C45-64BE-A55F-D9CD-E5DFECCD5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882" y="3313797"/>
                <a:ext cx="680507" cy="399084"/>
              </a:xfrm>
              <a:prstGeom prst="rect">
                <a:avLst/>
              </a:prstGeom>
              <a:blipFill>
                <a:blip r:embed="rId4"/>
                <a:stretch>
                  <a:fillRect l="-9009" r="-4505" b="-2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AEDD545-F69C-A5E9-674E-C5DBC52D57D2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2298806" y="3162893"/>
            <a:ext cx="1229688" cy="2481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7C803E3-7BC4-8EBF-B0D2-0BFBB9FB2FB0}"/>
              </a:ext>
            </a:extLst>
          </p:cNvPr>
          <p:cNvCxnSpPr>
            <a:cxnSpLocks/>
          </p:cNvCxnSpPr>
          <p:nvPr/>
        </p:nvCxnSpPr>
        <p:spPr>
          <a:xfrm flipH="1" flipV="1">
            <a:off x="2314779" y="3622005"/>
            <a:ext cx="1097812" cy="3091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5682A64-80F1-0CBA-A5B3-10F25A4B27FD}"/>
                  </a:ext>
                </a:extLst>
              </p:cNvPr>
              <p:cNvSpPr txBox="1"/>
              <p:nvPr/>
            </p:nvSpPr>
            <p:spPr>
              <a:xfrm>
                <a:off x="3528494" y="2963351"/>
                <a:ext cx="560282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5682A64-80F1-0CBA-A5B3-10F25A4B2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494" y="2963351"/>
                <a:ext cx="560282" cy="399084"/>
              </a:xfrm>
              <a:prstGeom prst="rect">
                <a:avLst/>
              </a:prstGeom>
              <a:blipFill>
                <a:blip r:embed="rId5"/>
                <a:stretch>
                  <a:fillRect l="-10870" r="-4348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687EDE0-0FBE-779A-BB56-861B1B84AEFD}"/>
                  </a:ext>
                </a:extLst>
              </p:cNvPr>
              <p:cNvSpPr txBox="1"/>
              <p:nvPr/>
            </p:nvSpPr>
            <p:spPr>
              <a:xfrm>
                <a:off x="3480355" y="3769706"/>
                <a:ext cx="5319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687EDE0-0FBE-779A-BB56-861B1B84A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355" y="3769706"/>
                <a:ext cx="531940" cy="369332"/>
              </a:xfrm>
              <a:prstGeom prst="rect">
                <a:avLst/>
              </a:prstGeom>
              <a:blipFill>
                <a:blip r:embed="rId6"/>
                <a:stretch>
                  <a:fillRect l="-11494" r="-2299"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A1CF391B-BF43-8B15-EAEB-E40FFA0BFDCF}"/>
              </a:ext>
            </a:extLst>
          </p:cNvPr>
          <p:cNvSpPr txBox="1"/>
          <p:nvPr/>
        </p:nvSpPr>
        <p:spPr>
          <a:xfrm>
            <a:off x="1473965" y="4398105"/>
            <a:ext cx="924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E46D4B3-4A05-6591-2B1F-9AC6E2A8B1D9}"/>
              </a:ext>
            </a:extLst>
          </p:cNvPr>
          <p:cNvSpPr txBox="1"/>
          <p:nvPr/>
        </p:nvSpPr>
        <p:spPr>
          <a:xfrm>
            <a:off x="3412591" y="4398105"/>
            <a:ext cx="1133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source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A81719DE-9739-3B51-4CD8-916DC0F477EF}"/>
                  </a:ext>
                </a:extLst>
              </p:cNvPr>
              <p:cNvSpPr txBox="1"/>
              <p:nvPr/>
            </p:nvSpPr>
            <p:spPr>
              <a:xfrm>
                <a:off x="7400779" y="3713792"/>
                <a:ext cx="502573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A81719DE-9739-3B51-4CD8-916DC0F47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0779" y="3713792"/>
                <a:ext cx="502573" cy="399084"/>
              </a:xfrm>
              <a:prstGeom prst="rect">
                <a:avLst/>
              </a:prstGeom>
              <a:blipFill>
                <a:blip r:embed="rId7"/>
                <a:stretch>
                  <a:fillRect l="-10976" r="-7317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1677CB6-B398-EB92-7499-4867337402B2}"/>
              </a:ext>
            </a:extLst>
          </p:cNvPr>
          <p:cNvCxnSpPr>
            <a:cxnSpLocks/>
          </p:cNvCxnSpPr>
          <p:nvPr/>
        </p:nvCxnSpPr>
        <p:spPr>
          <a:xfrm flipV="1">
            <a:off x="8189947" y="3486895"/>
            <a:ext cx="1050381" cy="2182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18DFF5C-BFA6-742A-1FB8-6B187CFE61B1}"/>
              </a:ext>
            </a:extLst>
          </p:cNvPr>
          <p:cNvCxnSpPr>
            <a:cxnSpLocks/>
          </p:cNvCxnSpPr>
          <p:nvPr/>
        </p:nvCxnSpPr>
        <p:spPr>
          <a:xfrm>
            <a:off x="8189947" y="4112402"/>
            <a:ext cx="961863" cy="2213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610EF86-359B-E227-4F94-D042F1EA99C9}"/>
                  </a:ext>
                </a:extLst>
              </p:cNvPr>
              <p:cNvSpPr txBox="1"/>
              <p:nvPr/>
            </p:nvSpPr>
            <p:spPr>
              <a:xfrm>
                <a:off x="9333391" y="3363346"/>
                <a:ext cx="738215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𝑑𝐻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610EF86-359B-E227-4F94-D042F1EA9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3391" y="3363346"/>
                <a:ext cx="738215" cy="399084"/>
              </a:xfrm>
              <a:prstGeom prst="rect">
                <a:avLst/>
              </a:prstGeom>
              <a:blipFill>
                <a:blip r:embed="rId8"/>
                <a:stretch>
                  <a:fillRect l="-8264" r="-4132" b="-2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E083B61-3F0B-5068-3044-340AF708F491}"/>
                  </a:ext>
                </a:extLst>
              </p:cNvPr>
              <p:cNvSpPr txBox="1"/>
              <p:nvPr/>
            </p:nvSpPr>
            <p:spPr>
              <a:xfrm>
                <a:off x="9285252" y="4169701"/>
                <a:ext cx="6532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𝑑𝐻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𝑖𝑙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E083B61-3F0B-5068-3044-340AF708F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252" y="4169701"/>
                <a:ext cx="653256" cy="369332"/>
              </a:xfrm>
              <a:prstGeom prst="rect">
                <a:avLst/>
              </a:prstGeom>
              <a:blipFill>
                <a:blip r:embed="rId9"/>
                <a:stretch>
                  <a:fillRect l="-9346" r="-1869"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本框 31">
            <a:extLst>
              <a:ext uri="{FF2B5EF4-FFF2-40B4-BE49-F238E27FC236}">
                <a16:creationId xmlns:a16="http://schemas.microsoft.com/office/drawing/2014/main" id="{18BAD73D-DBBD-0C41-04DB-D098D340EEC7}"/>
              </a:ext>
            </a:extLst>
          </p:cNvPr>
          <p:cNvSpPr txBox="1"/>
          <p:nvPr/>
        </p:nvSpPr>
        <p:spPr>
          <a:xfrm>
            <a:off x="9240328" y="4761638"/>
            <a:ext cx="924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45407C9-1437-48F0-AAE2-2CAFA2CAFE45}"/>
              </a:ext>
            </a:extLst>
          </p:cNvPr>
          <p:cNvSpPr txBox="1"/>
          <p:nvPr/>
        </p:nvSpPr>
        <p:spPr>
          <a:xfrm>
            <a:off x="7308328" y="4709887"/>
            <a:ext cx="1133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source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C95F58D-743D-4304-8DF1-1C136DE5ABFC}"/>
                  </a:ext>
                </a:extLst>
              </p:cNvPr>
              <p:cNvSpPr txBox="1"/>
              <p:nvPr/>
            </p:nvSpPr>
            <p:spPr>
              <a:xfrm>
                <a:off x="673956" y="5663977"/>
                <a:ext cx="10844087" cy="736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 dirty="0"/>
                  <a:t>在</a:t>
                </a:r>
                <a:r>
                  <a:rPr lang="en-US" altLang="zh-CN" sz="2000" b="1" dirty="0"/>
                  <a:t>SRGQMC</a:t>
                </a:r>
                <a:r>
                  <a:rPr lang="zh-CN" altLang="en-US" sz="2000" b="1" dirty="0"/>
                  <a:t>中，在考虑一个源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zh-CN" altLang="en-US" sz="2000" b="1" dirty="0"/>
                  <a:t>对其他靶的贡献时，并不需要考虑所有的靶，而是随机选择其中一个指标进行贡献，从而减少计算复杂度。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C95F58D-743D-4304-8DF1-1C136DE5A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56" y="5663977"/>
                <a:ext cx="10844087" cy="736997"/>
              </a:xfrm>
              <a:prstGeom prst="rect">
                <a:avLst/>
              </a:prstGeom>
              <a:blipFill>
                <a:blip r:embed="rId10"/>
                <a:stretch>
                  <a:fillRect l="-619" t="-3306" b="-140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EC7D1BE0-ED83-8838-5D2B-895D2A000FFA}"/>
              </a:ext>
            </a:extLst>
          </p:cNvPr>
          <p:cNvSpPr txBox="1"/>
          <p:nvPr/>
        </p:nvSpPr>
        <p:spPr>
          <a:xfrm>
            <a:off x="0" y="0"/>
            <a:ext cx="460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SRGQMC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963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0FC8255-EFFE-9334-376E-8578F6603B5C}"/>
              </a:ext>
            </a:extLst>
          </p:cNvPr>
          <p:cNvSpPr txBox="1"/>
          <p:nvPr/>
        </p:nvSpPr>
        <p:spPr>
          <a:xfrm>
            <a:off x="0" y="0"/>
            <a:ext cx="460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SRGQMC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5BCC44-9551-C32C-9276-397E4CA6EB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856"/>
          <a:stretch>
            <a:fillRect/>
          </a:stretch>
        </p:blipFill>
        <p:spPr>
          <a:xfrm>
            <a:off x="999184" y="4395114"/>
            <a:ext cx="1720827" cy="38398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764FB8E-9524-2585-741C-ED57CF3E5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473" y="1917741"/>
            <a:ext cx="2387151" cy="747198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27A8AA78-6E58-BC6B-3D12-C79FA5E812A0}"/>
              </a:ext>
            </a:extLst>
          </p:cNvPr>
          <p:cNvSpPr/>
          <p:nvPr/>
        </p:nvSpPr>
        <p:spPr>
          <a:xfrm>
            <a:off x="3525840" y="1320357"/>
            <a:ext cx="6755725" cy="1337154"/>
          </a:xfrm>
          <a:prstGeom prst="roundRect">
            <a:avLst/>
          </a:prstGeom>
          <a:noFill/>
          <a:ln w="285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5C84F17-4396-B6D5-CA45-543673BCA1CB}"/>
              </a:ext>
            </a:extLst>
          </p:cNvPr>
          <p:cNvSpPr/>
          <p:nvPr/>
        </p:nvSpPr>
        <p:spPr>
          <a:xfrm>
            <a:off x="3533146" y="3134392"/>
            <a:ext cx="6755723" cy="1788940"/>
          </a:xfrm>
          <a:prstGeom prst="roundRect">
            <a:avLst/>
          </a:prstGeom>
          <a:noFill/>
          <a:ln w="285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772D3D6-8A03-463B-3363-E41D2D4F723B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>
            <a:off x="6903703" y="2657511"/>
            <a:ext cx="7305" cy="4768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1A3A542-D183-EDA8-3407-8E95CFC44933}"/>
              </a:ext>
            </a:extLst>
          </p:cNvPr>
          <p:cNvCxnSpPr>
            <a:cxnSpLocks/>
            <a:stCxn id="20" idx="2"/>
            <a:endCxn id="30" idx="0"/>
          </p:cNvCxnSpPr>
          <p:nvPr/>
        </p:nvCxnSpPr>
        <p:spPr>
          <a:xfrm>
            <a:off x="6911008" y="4923332"/>
            <a:ext cx="23430" cy="2600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B4C56005-8EA5-7B7A-0E83-A849471BAC3F}"/>
              </a:ext>
            </a:extLst>
          </p:cNvPr>
          <p:cNvCxnSpPr>
            <a:cxnSpLocks/>
            <a:stCxn id="30" idx="1"/>
            <a:endCxn id="61" idx="2"/>
          </p:cNvCxnSpPr>
          <p:nvPr/>
        </p:nvCxnSpPr>
        <p:spPr>
          <a:xfrm rot="10800000">
            <a:off x="1843590" y="4971089"/>
            <a:ext cx="3093083" cy="79139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B782C3F-1B3D-2C20-3EE8-8CF9E34AD5F8}"/>
              </a:ext>
            </a:extLst>
          </p:cNvPr>
          <p:cNvSpPr/>
          <p:nvPr/>
        </p:nvSpPr>
        <p:spPr>
          <a:xfrm>
            <a:off x="4936672" y="5183422"/>
            <a:ext cx="3995531" cy="115813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3A3BD29-6894-F540-5C96-8A31CDF956F1}"/>
                  </a:ext>
                </a:extLst>
              </p:cNvPr>
              <p:cNvSpPr txBox="1"/>
              <p:nvPr/>
            </p:nvSpPr>
            <p:spPr>
              <a:xfrm>
                <a:off x="3843369" y="1476141"/>
                <a:ext cx="6182138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1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en-US" altLang="zh-CN" sz="1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Initialize walkers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800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800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𝒊𝒋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3A3BD29-6894-F540-5C96-8A31CDF95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369" y="1476141"/>
                <a:ext cx="6182138" cy="395621"/>
              </a:xfrm>
              <a:prstGeom prst="rect">
                <a:avLst/>
              </a:prstGeom>
              <a:blipFill>
                <a:blip r:embed="rId4"/>
                <a:stretch>
                  <a:fillRect l="-788" t="-7692" b="-1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F6CAF476-9EA5-1081-8FBD-413305F08556}"/>
              </a:ext>
            </a:extLst>
          </p:cNvPr>
          <p:cNvSpPr txBox="1"/>
          <p:nvPr/>
        </p:nvSpPr>
        <p:spPr>
          <a:xfrm>
            <a:off x="3812633" y="3548342"/>
            <a:ext cx="6182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Spawning rules</a:t>
            </a:r>
            <a:endParaRPr lang="zh-CN" altLang="en-US" dirty="0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C2AAA3BD-3397-7AE2-0338-0954E7503C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244" y="3274007"/>
            <a:ext cx="2810759" cy="1390689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038DA366-C3ED-C103-9BDB-16F9FDE6A900}"/>
              </a:ext>
            </a:extLst>
          </p:cNvPr>
          <p:cNvSpPr txBox="1"/>
          <p:nvPr/>
        </p:nvSpPr>
        <p:spPr>
          <a:xfrm>
            <a:off x="5257258" y="5309070"/>
            <a:ext cx="3449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Annihilation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update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E2B9F313-D042-69AD-C2A7-8E0F811DB7DC}"/>
                  </a:ext>
                </a:extLst>
              </p:cNvPr>
              <p:cNvSpPr txBox="1"/>
              <p:nvPr/>
            </p:nvSpPr>
            <p:spPr>
              <a:xfrm>
                <a:off x="6544471" y="5762487"/>
                <a:ext cx="1296608" cy="429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E2B9F313-D042-69AD-C2A7-8E0F811DB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471" y="5762487"/>
                <a:ext cx="1296608" cy="429220"/>
              </a:xfrm>
              <a:prstGeom prst="rect">
                <a:avLst/>
              </a:prstGeom>
              <a:blipFill>
                <a:blip r:embed="rId6"/>
                <a:stretch>
                  <a:fillRect l="-5189" t="-7042" b="-169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D331E636-1831-8AE0-2F97-50B2C5177A61}"/>
              </a:ext>
            </a:extLst>
          </p:cNvPr>
          <p:cNvSpPr/>
          <p:nvPr/>
        </p:nvSpPr>
        <p:spPr>
          <a:xfrm>
            <a:off x="656646" y="3086635"/>
            <a:ext cx="2373885" cy="1884453"/>
          </a:xfrm>
          <a:prstGeom prst="roundRect">
            <a:avLst/>
          </a:prstGeom>
          <a:noFill/>
          <a:ln w="285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9C10C00B-1C74-1D06-84DF-3C3C8454A75E}"/>
                  </a:ext>
                </a:extLst>
              </p:cNvPr>
              <p:cNvSpPr txBox="1"/>
              <p:nvPr/>
            </p:nvSpPr>
            <p:spPr>
              <a:xfrm>
                <a:off x="882759" y="3266065"/>
                <a:ext cx="2001835" cy="94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Update Hamiltonian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,   </m:t>
                    </m:r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9C10C00B-1C74-1D06-84DF-3C3C8454A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759" y="3266065"/>
                <a:ext cx="2001835" cy="949619"/>
              </a:xfrm>
              <a:prstGeom prst="rect">
                <a:avLst/>
              </a:prstGeom>
              <a:blipFill>
                <a:blip r:embed="rId7"/>
                <a:stretch>
                  <a:fillRect t="-3846" b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ACACD924-9949-960C-A793-F26AB34AD3F1}"/>
              </a:ext>
            </a:extLst>
          </p:cNvPr>
          <p:cNvCxnSpPr>
            <a:cxnSpLocks/>
            <a:stCxn id="61" idx="3"/>
            <a:endCxn id="20" idx="1"/>
          </p:cNvCxnSpPr>
          <p:nvPr/>
        </p:nvCxnSpPr>
        <p:spPr>
          <a:xfrm>
            <a:off x="3030531" y="4028862"/>
            <a:ext cx="502615" cy="127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59BD54B4-B58A-CB55-61DD-09539089CFAC}"/>
                  </a:ext>
                </a:extLst>
              </p:cNvPr>
              <p:cNvSpPr txBox="1"/>
              <p:nvPr/>
            </p:nvSpPr>
            <p:spPr>
              <a:xfrm>
                <a:off x="656646" y="781470"/>
                <a:ext cx="1772341" cy="427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每一个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𝒍𝒐𝒐𝒑</m:t>
                        </m:r>
                      </m:sub>
                    </m:sSub>
                  </m:oMath>
                </a14:m>
                <a:endParaRPr lang="zh-CN" altLang="en-US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59BD54B4-B58A-CB55-61DD-09539089C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46" y="781470"/>
                <a:ext cx="1772341" cy="427618"/>
              </a:xfrm>
              <a:prstGeom prst="rect">
                <a:avLst/>
              </a:prstGeom>
              <a:blipFill>
                <a:blip r:embed="rId8"/>
                <a:stretch>
                  <a:fillRect l="-3793" t="-7143" b="-1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矩形 72">
            <a:extLst>
              <a:ext uri="{FF2B5EF4-FFF2-40B4-BE49-F238E27FC236}">
                <a16:creationId xmlns:a16="http://schemas.microsoft.com/office/drawing/2014/main" id="{2D4DC22C-CD3A-6F80-D89C-30FC19334F2A}"/>
              </a:ext>
            </a:extLst>
          </p:cNvPr>
          <p:cNvSpPr/>
          <p:nvPr/>
        </p:nvSpPr>
        <p:spPr>
          <a:xfrm>
            <a:off x="427382" y="1179598"/>
            <a:ext cx="10793895" cy="5330532"/>
          </a:xfrm>
          <a:prstGeom prst="rect">
            <a:avLst/>
          </a:prstGeom>
          <a:noFill/>
          <a:ln w="28575">
            <a:solidFill>
              <a:srgbClr val="01561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2CFD5FD7-15B8-EE60-ACFF-85B093DB79CF}"/>
                  </a:ext>
                </a:extLst>
              </p:cNvPr>
              <p:cNvSpPr txBox="1"/>
              <p:nvPr/>
            </p:nvSpPr>
            <p:spPr>
              <a:xfrm>
                <a:off x="3843369" y="4331624"/>
                <a:ext cx="42470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rgbClr val="FF0000"/>
                    </a:solidFill>
                  </a:rPr>
                  <a:t>影响随机抽样个数</a:t>
                </a:r>
              </a:p>
            </p:txBody>
          </p:sp>
        </mc:Choice>
        <mc:Fallback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2CFD5FD7-15B8-EE60-ACFF-85B093DB7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369" y="4331624"/>
                <a:ext cx="4247083" cy="461665"/>
              </a:xfrm>
              <a:prstGeom prst="rect">
                <a:avLst/>
              </a:prstGeom>
              <a:blipFill>
                <a:blip r:embed="rId9"/>
                <a:stretch>
                  <a:fillRect l="-287" t="-9333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6" name="图片 75">
            <a:extLst>
              <a:ext uri="{FF2B5EF4-FFF2-40B4-BE49-F238E27FC236}">
                <a16:creationId xmlns:a16="http://schemas.microsoft.com/office/drawing/2014/main" id="{97C33CA5-95F9-BFE8-B57C-F3A18AA2F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3901" b="-1"/>
          <a:stretch>
            <a:fillRect/>
          </a:stretch>
        </p:blipFill>
        <p:spPr>
          <a:xfrm>
            <a:off x="2526273" y="5900615"/>
            <a:ext cx="1999134" cy="3387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E77EA01-CD9D-A245-7351-5DD20D9B6A6D}"/>
                  </a:ext>
                </a:extLst>
              </p:cNvPr>
              <p:cNvSpPr txBox="1"/>
              <p:nvPr/>
            </p:nvSpPr>
            <p:spPr>
              <a:xfrm>
                <a:off x="8335235" y="1775799"/>
                <a:ext cx="1896719" cy="7861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/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d>
                        <m:dPr>
                          <m:begChr m:val="|"/>
                          <m:endChr m:val="|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E77EA01-CD9D-A245-7351-5DD20D9B6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235" y="1775799"/>
                <a:ext cx="1896719" cy="7861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8949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E607AA-F100-8DDE-A857-92AC61149D87}"/>
              </a:ext>
            </a:extLst>
          </p:cNvPr>
          <p:cNvSpPr txBox="1"/>
          <p:nvPr/>
        </p:nvSpPr>
        <p:spPr>
          <a:xfrm>
            <a:off x="0" y="0"/>
            <a:ext cx="460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SRGQMC(1)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2796D3F-C28D-C490-3EB2-1B857B6B4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77" y="1644606"/>
            <a:ext cx="3276476" cy="157038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5F1FEAC-52EF-5D6E-1B61-EFDAC4F167C6}"/>
              </a:ext>
            </a:extLst>
          </p:cNvPr>
          <p:cNvSpPr txBox="1"/>
          <p:nvPr/>
        </p:nvSpPr>
        <p:spPr>
          <a:xfrm>
            <a:off x="664384" y="923108"/>
            <a:ext cx="4194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IMSRG(1) Flow equation: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04C4D07-EA8D-5E21-73DB-B114908685E1}"/>
              </a:ext>
            </a:extLst>
          </p:cNvPr>
          <p:cNvSpPr txBox="1"/>
          <p:nvPr/>
        </p:nvSpPr>
        <p:spPr>
          <a:xfrm>
            <a:off x="6006890" y="1012325"/>
            <a:ext cx="4194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SRGQMC(1) Spawning rule: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0C428ED-E068-EF72-BFE6-44690E88B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732" y="1435320"/>
            <a:ext cx="3206683" cy="17796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4A0B7E7-B160-78C0-E179-D3674AE844E1}"/>
                  </a:ext>
                </a:extLst>
              </p:cNvPr>
              <p:cNvSpPr txBox="1"/>
              <p:nvPr/>
            </p:nvSpPr>
            <p:spPr>
              <a:xfrm>
                <a:off x="664384" y="3247812"/>
                <a:ext cx="1110354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Once</a:t>
                </a:r>
                <a14:m>
                  <m:oMath xmlns:m="http://schemas.openxmlformats.org/officeDocument/2006/math">
                    <m:r>
                      <a:rPr lang="zh-CN" alt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zh-CN" altLang="en-U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is selected, the walker contributes simultaneously to the matrix elements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zh-CN" altLang="en-US" b="1" i="1" dirty="0" smtClean="0">
                            <a:latin typeface="Cambria Math" panose="02040503050406030204" pitchFamily="18" charset="0"/>
                          </a:rPr>
                          <m:t>𝒂𝒊</m:t>
                        </m:r>
                      </m:sub>
                    </m:sSub>
                  </m:oMath>
                </a14:m>
                <a:r>
                  <a:rPr lang="zh-CN" alt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zh-CN" altLang="en-US" b="1" i="1" dirty="0" smtClean="0">
                            <a:latin typeface="Cambria Math" panose="02040503050406030204" pitchFamily="18" charset="0"/>
                          </a:rPr>
                          <m:t>𝒊𝒃</m:t>
                        </m:r>
                      </m:sub>
                    </m:sSub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 with weights determined by the corresponding terms in the flow equation. Equivalently, the two spawning channels can be combined into a single </a:t>
                </a:r>
                <a:r>
                  <a:rPr lang="zh-CN" altLang="en-US" b="1" dirty="0"/>
                  <a:t>heat-bath distribution</a:t>
                </a:r>
                <a:r>
                  <a:rPr lang="zh-CN" altLang="en-US" dirty="0"/>
                  <a:t>.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4A0B7E7-B160-78C0-E179-D3674AE84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84" y="3247812"/>
                <a:ext cx="11103546" cy="923330"/>
              </a:xfrm>
              <a:prstGeom prst="rect">
                <a:avLst/>
              </a:prstGeom>
              <a:blipFill>
                <a:blip r:embed="rId4"/>
                <a:stretch>
                  <a:fillRect l="-494" t="-3974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65B7E0-883E-99A4-3061-C7FF8A4A90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7968" y="4440712"/>
            <a:ext cx="1992143" cy="67657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FC44BA8-3374-C0F1-AF58-C3A0C7D60D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7968" y="5537286"/>
            <a:ext cx="2067550" cy="79521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517AF89-504B-5824-C8CC-A732A8250D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6994" y="4384655"/>
            <a:ext cx="3221815" cy="76804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D84F0F9-A368-BC03-399D-F3ADE353AE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6994" y="5448069"/>
            <a:ext cx="3480343" cy="79521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2FA6001B-90F2-995A-C341-5209491B90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2089" y="4861428"/>
            <a:ext cx="2740466" cy="67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58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CBCAEE9-601E-D5CA-1A0A-DC5DDD60D0BD}"/>
              </a:ext>
            </a:extLst>
          </p:cNvPr>
          <p:cNvSpPr txBox="1"/>
          <p:nvPr/>
        </p:nvSpPr>
        <p:spPr>
          <a:xfrm>
            <a:off x="0" y="0"/>
            <a:ext cx="460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SRGQMC(2)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762054-EEBD-5151-03D4-078C047D705B}"/>
              </a:ext>
            </a:extLst>
          </p:cNvPr>
          <p:cNvSpPr txBox="1"/>
          <p:nvPr/>
        </p:nvSpPr>
        <p:spPr>
          <a:xfrm>
            <a:off x="664384" y="923108"/>
            <a:ext cx="4194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IMSRG(2) Flow equation: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8A0315-8C51-755F-5B8B-17455FFC6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027" y="1661551"/>
            <a:ext cx="10347324" cy="29603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E3DE230-F64A-B881-F287-4728FF83F6BE}"/>
                  </a:ext>
                </a:extLst>
              </p:cNvPr>
              <p:cNvSpPr txBox="1"/>
              <p:nvPr/>
            </p:nvSpPr>
            <p:spPr>
              <a:xfrm>
                <a:off x="932742" y="5464892"/>
                <a:ext cx="6182138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/>
                  <a:t>IMSRG(2)</a:t>
                </a:r>
                <a:r>
                  <a:rPr lang="zh-CN" altLang="en-US" sz="2400" b="1" dirty="0"/>
                  <a:t>方法的计算复杂度为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E3DE230-F64A-B881-F287-4728FF83F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742" y="5464892"/>
                <a:ext cx="6182138" cy="470000"/>
              </a:xfrm>
              <a:prstGeom prst="rect">
                <a:avLst/>
              </a:prstGeom>
              <a:blipFill>
                <a:blip r:embed="rId3"/>
                <a:stretch>
                  <a:fillRect l="-1479" t="-8974" b="-28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4790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785F536-0E12-F41B-2FDA-DC43CC82E1D5}"/>
              </a:ext>
            </a:extLst>
          </p:cNvPr>
          <p:cNvSpPr txBox="1"/>
          <p:nvPr/>
        </p:nvSpPr>
        <p:spPr>
          <a:xfrm>
            <a:off x="724018" y="835267"/>
            <a:ext cx="4194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SRGQMC(2) Spawning rule: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2253AA2-BE25-4476-A84A-621840E9A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64" y="1401126"/>
            <a:ext cx="4663844" cy="66299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72CFA70-DDEB-E291-3B5A-DA1DA9D0F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64" y="2064123"/>
            <a:ext cx="6439458" cy="43971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4A4B05B-3B80-C1BA-FE75-EB2AA8DAA76F}"/>
                  </a:ext>
                </a:extLst>
              </p:cNvPr>
              <p:cNvSpPr txBox="1"/>
              <p:nvPr/>
            </p:nvSpPr>
            <p:spPr>
              <a:xfrm>
                <a:off x="8108557" y="2439690"/>
                <a:ext cx="3220279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 dirty="0"/>
                  <a:t>假如</a:t>
                </a:r>
                <a:r>
                  <a:rPr lang="en-US" altLang="zh-CN" sz="2000" b="1" dirty="0"/>
                  <a:t>SRGQMC(2)</a:t>
                </a:r>
                <a:r>
                  <a:rPr lang="zh-CN" altLang="en-US" sz="2000" b="1" dirty="0"/>
                  <a:t>实现过程中，在</a:t>
                </a:r>
                <a:r>
                  <a:rPr lang="en-US" altLang="zh-CN" sz="2000" b="1" dirty="0"/>
                  <a:t>spawning</a:t>
                </a:r>
                <a:r>
                  <a:rPr lang="zh-CN" altLang="en-US" sz="2000" b="1" dirty="0"/>
                  <a:t>时遍历的是所有</a:t>
                </a:r>
                <a:r>
                  <a:rPr lang="en-US" altLang="zh-CN" sz="2000" b="1" dirty="0"/>
                  <a:t>walker</a:t>
                </a:r>
                <a:r>
                  <a:rPr lang="zh-CN" altLang="en-US" sz="2000" b="1" dirty="0"/>
                  <a:t>的位置，则计算复杂度为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000" b="1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dirty="0" err="1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 dirty="0"/>
                  <a:t>。</a:t>
                </a:r>
                <a:endParaRPr lang="en-US" altLang="zh-CN" sz="2000" b="1" dirty="0"/>
              </a:p>
              <a:p>
                <a:endParaRPr lang="en-US" altLang="zh-CN" sz="20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4A4B05B-3B80-C1BA-FE75-EB2AA8DAA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8557" y="2439690"/>
                <a:ext cx="3220279" cy="1631216"/>
              </a:xfrm>
              <a:prstGeom prst="rect">
                <a:avLst/>
              </a:prstGeom>
              <a:blipFill>
                <a:blip r:embed="rId4"/>
                <a:stretch>
                  <a:fillRect l="-1894" t="-1866" r="-94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9C3B712D-B11E-9C62-FFC6-DCC9FCB0A2CA}"/>
              </a:ext>
            </a:extLst>
          </p:cNvPr>
          <p:cNvSpPr txBox="1"/>
          <p:nvPr/>
        </p:nvSpPr>
        <p:spPr>
          <a:xfrm>
            <a:off x="7742583" y="1152939"/>
            <a:ext cx="3627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SRGQMC(3), SRGQMC(4)……..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DF1528-8985-57E9-A697-0ECF7EB170F9}"/>
              </a:ext>
            </a:extLst>
          </p:cNvPr>
          <p:cNvSpPr txBox="1"/>
          <p:nvPr/>
        </p:nvSpPr>
        <p:spPr>
          <a:xfrm>
            <a:off x="0" y="0"/>
            <a:ext cx="460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SRGQMC(2)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934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162AF3D-BD0F-AF18-8A10-BAA6D3099431}"/>
              </a:ext>
            </a:extLst>
          </p:cNvPr>
          <p:cNvSpPr txBox="1"/>
          <p:nvPr/>
        </p:nvSpPr>
        <p:spPr>
          <a:xfrm>
            <a:off x="0" y="0"/>
            <a:ext cx="460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Result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0743B7D-929E-8B67-A7D2-7CF8EBDA3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40" y="698584"/>
            <a:ext cx="8249479" cy="46484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6BB5A9B-ED3B-67E8-5FAE-80745197B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09" y="5347050"/>
            <a:ext cx="9876376" cy="118120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D08226A-558C-395C-0B1B-6FB4AAA98138}"/>
              </a:ext>
            </a:extLst>
          </p:cNvPr>
          <p:cNvSpPr txBox="1"/>
          <p:nvPr/>
        </p:nvSpPr>
        <p:spPr>
          <a:xfrm>
            <a:off x="8801530" y="1730156"/>
            <a:ext cx="288211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1" dirty="0"/>
              <a:t>SRGQMC</a:t>
            </a:r>
            <a:r>
              <a:rPr lang="zh-CN" altLang="en-US" b="1" dirty="0"/>
              <a:t>得到的散射相移与确定性</a:t>
            </a:r>
            <a:r>
              <a:rPr lang="en-US" altLang="zh-CN" b="1" dirty="0"/>
              <a:t>SRG</a:t>
            </a:r>
            <a:r>
              <a:rPr lang="zh-CN" altLang="en-US" b="1" dirty="0"/>
              <a:t>曲线一致，同时与</a:t>
            </a:r>
            <a:r>
              <a:rPr lang="en-US" altLang="zh-CN" b="1" dirty="0"/>
              <a:t>Nijmegen</a:t>
            </a:r>
            <a:r>
              <a:rPr lang="zh-CN" altLang="en-US" b="1" dirty="0"/>
              <a:t>经验相移分析相容。</a:t>
            </a: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/>
              <a:t>各通道矩阵元相对于确定性</a:t>
            </a:r>
            <a:r>
              <a:rPr lang="en-US" altLang="zh-CN" b="1" dirty="0"/>
              <a:t>SRG</a:t>
            </a:r>
            <a:r>
              <a:rPr lang="zh-CN" altLang="en-US" b="1" dirty="0"/>
              <a:t>的</a:t>
            </a:r>
            <a:r>
              <a:rPr lang="en-US" altLang="zh-CN" b="1" dirty="0"/>
              <a:t>RMS</a:t>
            </a:r>
            <a:r>
              <a:rPr lang="zh-CN" altLang="en-US" b="1" dirty="0"/>
              <a:t>偏差约为 </a:t>
            </a:r>
            <a:r>
              <a:rPr lang="en-US" altLang="zh-CN" b="1" dirty="0"/>
              <a:t>1.5% </a:t>
            </a:r>
            <a:r>
              <a:rPr lang="zh-CN" altLang="en-US" b="1" dirty="0"/>
              <a:t>至 </a:t>
            </a:r>
            <a:r>
              <a:rPr lang="en-US" altLang="zh-CN" b="1" dirty="0"/>
              <a:t>5.2%</a:t>
            </a:r>
            <a:r>
              <a:rPr lang="zh-CN" altLang="en-US" b="1" dirty="0"/>
              <a:t>，散射相移的</a:t>
            </a:r>
            <a:r>
              <a:rPr lang="en-US" altLang="zh-CN" b="1" dirty="0"/>
              <a:t>RMS</a:t>
            </a:r>
            <a:r>
              <a:rPr lang="zh-CN" altLang="en-US" b="1" dirty="0"/>
              <a:t>差异小于 </a:t>
            </a:r>
            <a:r>
              <a:rPr lang="en-US" altLang="zh-CN" b="1" dirty="0"/>
              <a:t>0.60∘</a:t>
            </a:r>
            <a:r>
              <a:rPr lang="zh-CN" altLang="en-US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66499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35557CF-BB37-1AB1-FE3C-574FB46E9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88" y="921520"/>
            <a:ext cx="8397516" cy="435018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875B93F-5489-CA16-01D9-4FCCF98049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44"/>
          <a:stretch>
            <a:fillRect/>
          </a:stretch>
        </p:blipFill>
        <p:spPr>
          <a:xfrm>
            <a:off x="8874441" y="2640220"/>
            <a:ext cx="3341508" cy="78878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6E61EE5-058C-324D-CB85-1130FC15E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88" y="5500093"/>
            <a:ext cx="9304770" cy="87277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061B673-0532-EF5F-CC44-226E1E852408}"/>
              </a:ext>
            </a:extLst>
          </p:cNvPr>
          <p:cNvSpPr txBox="1"/>
          <p:nvPr/>
        </p:nvSpPr>
        <p:spPr>
          <a:xfrm>
            <a:off x="0" y="0"/>
            <a:ext cx="460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Result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8DD8CD8-F0BC-FEFD-9889-6754C541762D}"/>
              </a:ext>
            </a:extLst>
          </p:cNvPr>
          <p:cNvSpPr txBox="1"/>
          <p:nvPr/>
        </p:nvSpPr>
        <p:spPr>
          <a:xfrm>
            <a:off x="9886663" y="2223779"/>
            <a:ext cx="2079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uncertainty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1263CC3-907C-923C-9402-6423111F2BA3}"/>
              </a:ext>
            </a:extLst>
          </p:cNvPr>
          <p:cNvSpPr txBox="1"/>
          <p:nvPr/>
        </p:nvSpPr>
        <p:spPr>
          <a:xfrm>
            <a:off x="9515034" y="858366"/>
            <a:ext cx="2822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quoted central value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EC108A8-E8DF-CC72-1B51-AF8D8E949E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3132"/>
          <a:stretch>
            <a:fillRect/>
          </a:stretch>
        </p:blipFill>
        <p:spPr>
          <a:xfrm>
            <a:off x="9301067" y="1227698"/>
            <a:ext cx="2488256" cy="9960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D646686-5A05-2689-3CB2-BCE03F0ABFFA}"/>
                  </a:ext>
                </a:extLst>
              </p:cNvPr>
              <p:cNvSpPr txBox="1"/>
              <p:nvPr/>
            </p:nvSpPr>
            <p:spPr>
              <a:xfrm>
                <a:off x="8929339" y="3631575"/>
                <a:ext cx="2859984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b="1" dirty="0"/>
                  <a:t>即使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𝐍</m:t>
                        </m:r>
                      </m:e>
                      <m:sub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𝐰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b="1" dirty="0"/>
                  <a:t>，</a:t>
                </a:r>
                <a:r>
                  <a:rPr lang="en-US" altLang="zh-CN" b="1" dirty="0"/>
                  <a:t>SRGQMC</a:t>
                </a:r>
                <a:r>
                  <a:rPr lang="zh-CN" altLang="en-US" b="1" dirty="0"/>
                  <a:t>相移的总体趋势已经能够跟随确定性</a:t>
                </a:r>
                <a:r>
                  <a:rPr lang="en-US" altLang="zh-CN" b="1" dirty="0"/>
                  <a:t>SRG</a:t>
                </a:r>
                <a:r>
                  <a:rPr lang="zh-CN" altLang="en-US" b="1" dirty="0"/>
                  <a:t>，但误差条较大。</a:t>
                </a:r>
                <a:endParaRPr lang="en-US" altLang="zh-CN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𝐍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1" i="1" dirty="0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 dirty="0"/>
                  <a:t>增加到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zh-CN" altLang="en-US" b="1" dirty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zh-CN" altLang="en-US" b="1" dirty="0"/>
                  <a:t>后，误差条系统性缩小。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D646686-5A05-2689-3CB2-BCE03F0AB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339" y="3631575"/>
                <a:ext cx="2859984" cy="1754326"/>
              </a:xfrm>
              <a:prstGeom prst="rect">
                <a:avLst/>
              </a:prstGeom>
              <a:blipFill>
                <a:blip r:embed="rId6"/>
                <a:stretch>
                  <a:fillRect l="-1493" t="-1736" r="-9595" b="-5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4169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AFECB0E-BC4F-2810-DACC-B50447AD8414}"/>
              </a:ext>
            </a:extLst>
          </p:cNvPr>
          <p:cNvSpPr txBox="1"/>
          <p:nvPr/>
        </p:nvSpPr>
        <p:spPr>
          <a:xfrm>
            <a:off x="0" y="0"/>
            <a:ext cx="460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Result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38A891-161D-63EF-E9E4-D1E150D63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96" y="736081"/>
            <a:ext cx="4237087" cy="53801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2599697-CA8C-3C7C-016D-E9B3AD502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280" y="837690"/>
            <a:ext cx="4854361" cy="176799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9792277-CBB0-BFDD-58A1-B03E571AD1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426" b="59299"/>
          <a:stretch>
            <a:fillRect/>
          </a:stretch>
        </p:blipFill>
        <p:spPr>
          <a:xfrm>
            <a:off x="5542528" y="2664431"/>
            <a:ext cx="4999153" cy="76174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B6A6A2C-B813-A310-E970-F52B5F32EBD0}"/>
              </a:ext>
            </a:extLst>
          </p:cNvPr>
          <p:cNvSpPr txBox="1"/>
          <p:nvPr/>
        </p:nvSpPr>
        <p:spPr>
          <a:xfrm>
            <a:off x="9636238" y="1103243"/>
            <a:ext cx="2226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Pairing model </a:t>
            </a: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A=4,N=4,delta=1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640A6D-379F-1BC0-299E-096785D54599}"/>
                  </a:ext>
                </a:extLst>
              </p:cNvPr>
              <p:cNvSpPr txBox="1"/>
              <p:nvPr/>
            </p:nvSpPr>
            <p:spPr>
              <a:xfrm>
                <a:off x="5030548" y="3610560"/>
                <a:ext cx="618213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b="1" dirty="0"/>
                  <a:t>SRGQMC(2)</a:t>
                </a:r>
                <a:r>
                  <a:rPr lang="zh-CN" altLang="en-US" b="1" dirty="0"/>
                  <a:t>复现对应的确定性</a:t>
                </a:r>
                <a:r>
                  <a:rPr lang="en-US" altLang="zh-CN" b="1" dirty="0"/>
                  <a:t>IMSRG(2)</a:t>
                </a:r>
                <a:r>
                  <a:rPr lang="zh-CN" altLang="en-US" b="1" dirty="0"/>
                  <a:t>，</a:t>
                </a:r>
                <a:r>
                  <a:rPr lang="en-US" altLang="zh-CN" b="1" dirty="0"/>
                  <a:t>SRGQMC(3)</a:t>
                </a:r>
                <a:r>
                  <a:rPr lang="zh-CN" altLang="en-US" b="1" dirty="0"/>
                  <a:t>复现</a:t>
                </a:r>
                <a:r>
                  <a:rPr lang="en-US" altLang="zh-CN" b="1" dirty="0"/>
                  <a:t>IMSRG(3)</a:t>
                </a:r>
                <a:r>
                  <a:rPr lang="zh-CN" altLang="en-US" b="1" dirty="0"/>
                  <a:t>。二者的相对</a:t>
                </a:r>
                <a:r>
                  <a:rPr lang="en-US" altLang="zh-CN" b="1" dirty="0"/>
                  <a:t>RMS</a:t>
                </a:r>
                <a:r>
                  <a:rPr lang="zh-CN" altLang="en-US" b="1" dirty="0"/>
                  <a:t>偏差分别约为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𝟑𝟓</m:t>
                    </m:r>
                    <m:r>
                      <a:rPr lang="en-US" altLang="zh-CN" b="1" i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zh-CN" altLang="en-US" b="1" dirty="0"/>
                  <a:t>和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𝟓𝟏</m:t>
                    </m:r>
                    <m:r>
                      <a:rPr lang="en-US" altLang="zh-CN" b="1" i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zh-CN" altLang="en-US" b="1" dirty="0"/>
                  <a:t>。</a:t>
                </a:r>
                <a:endParaRPr lang="en-US" altLang="zh-CN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b="1" dirty="0"/>
                  <a:t>在弱耦合区域，不同截断阶数的结果比较接近，二体近似已经能够较好描述体系。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b="1" dirty="0"/>
                  <a:t>IMSRG(3)</a:t>
                </a:r>
                <a:r>
                  <a:rPr lang="zh-CN" altLang="en-US" b="1" dirty="0"/>
                  <a:t>和</a:t>
                </a:r>
                <a:r>
                  <a:rPr lang="en-US" altLang="zh-CN" b="1" dirty="0"/>
                  <a:t>SRGQMC(3)</a:t>
                </a:r>
                <a:r>
                  <a:rPr lang="zh-CN" altLang="en-US" b="1" dirty="0"/>
                  <a:t>明显靠近严格解，</a:t>
                </a:r>
                <a:r>
                  <a:rPr lang="en-US" altLang="zh-CN" b="1" dirty="0"/>
                  <a:t>SRGQMC(4)</a:t>
                </a:r>
                <a:r>
                  <a:rPr lang="zh-CN" altLang="en-US" b="1" dirty="0"/>
                  <a:t>进一步逼近并很好地复现严格解。</a:t>
                </a:r>
                <a:endParaRPr lang="en-US" altLang="zh-CN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zh-CN" altLang="en-US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640A6D-379F-1BC0-299E-096785D54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548" y="3610560"/>
                <a:ext cx="6182138" cy="2308324"/>
              </a:xfrm>
              <a:prstGeom prst="rect">
                <a:avLst/>
              </a:prstGeom>
              <a:blipFill>
                <a:blip r:embed="rId5"/>
                <a:stretch>
                  <a:fillRect l="-592" t="-1319" r="-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8373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09FDB8C-3B35-66C7-C56A-DCA4030D68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327"/>
          <a:stretch>
            <a:fillRect/>
          </a:stretch>
        </p:blipFill>
        <p:spPr>
          <a:xfrm>
            <a:off x="149087" y="739348"/>
            <a:ext cx="4204252" cy="22840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98E0E85-73CA-241E-8BD6-512A83437A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505"/>
          <a:stretch>
            <a:fillRect/>
          </a:stretch>
        </p:blipFill>
        <p:spPr>
          <a:xfrm>
            <a:off x="4600280" y="739348"/>
            <a:ext cx="4577489" cy="26255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4A5ECD3-FC02-7B5F-1E11-F835C18783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975" b="33431"/>
          <a:stretch>
            <a:fillRect/>
          </a:stretch>
        </p:blipFill>
        <p:spPr>
          <a:xfrm>
            <a:off x="149087" y="3011679"/>
            <a:ext cx="4313583" cy="240955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A82C466-73B9-F410-56F7-11B9915E2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27" y="5295767"/>
            <a:ext cx="5377637" cy="12026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586E728-3A37-A3BA-93F7-5C104B942C09}"/>
                  </a:ext>
                </a:extLst>
              </p:cNvPr>
              <p:cNvSpPr txBox="1"/>
              <p:nvPr/>
            </p:nvSpPr>
            <p:spPr>
              <a:xfrm>
                <a:off x="6096000" y="3364911"/>
                <a:ext cx="5557789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latin typeface="+mn-ea"/>
                  </a:rPr>
                  <a:t>随着流参数增加，</a:t>
                </a:r>
                <a:r>
                  <a:rPr lang="en-US" altLang="zh-CN" b="1" dirty="0">
                    <a:latin typeface="+mn-ea"/>
                  </a:rPr>
                  <a:t>SRGQMC(2)</a:t>
                </a:r>
                <a:r>
                  <a:rPr lang="zh-CN" altLang="en-US" b="1" dirty="0">
                    <a:latin typeface="+mn-ea"/>
                  </a:rPr>
                  <a:t>和</a:t>
                </a:r>
                <a:r>
                  <a:rPr lang="en-US" altLang="zh-CN" b="1" dirty="0">
                    <a:latin typeface="+mn-ea"/>
                  </a:rPr>
                  <a:t>SRGQMC(3)</a:t>
                </a:r>
                <a:r>
                  <a:rPr lang="zh-CN" altLang="en-US" b="1" dirty="0">
                    <a:latin typeface="+mn-ea"/>
                  </a:rPr>
                  <a:t>的平均轨迹趋于相应确定性</a:t>
                </a:r>
                <a:r>
                  <a:rPr lang="en-US" altLang="zh-CN" b="1" dirty="0">
                    <a:latin typeface="+mn-ea"/>
                  </a:rPr>
                  <a:t>IMSRG</a:t>
                </a:r>
                <a:r>
                  <a:rPr lang="zh-CN" altLang="en-US" b="1" dirty="0">
                    <a:latin typeface="+mn-ea"/>
                  </a:rPr>
                  <a:t>终值；</a:t>
                </a:r>
                <a:r>
                  <a:rPr lang="en-US" altLang="zh-CN" b="1" dirty="0">
                    <a:latin typeface="+mn-ea"/>
                  </a:rPr>
                  <a:t>SRGQMC(4)</a:t>
                </a:r>
                <a:r>
                  <a:rPr lang="zh-CN" altLang="en-US" b="1" dirty="0">
                    <a:latin typeface="+mn-ea"/>
                  </a:rPr>
                  <a:t>的终值与</a:t>
                </a:r>
                <a:r>
                  <a:rPr lang="en-US" altLang="zh-CN" b="1" dirty="0">
                    <a:latin typeface="+mn-ea"/>
                  </a:rPr>
                  <a:t>FCI</a:t>
                </a:r>
                <a:r>
                  <a:rPr lang="zh-CN" altLang="en-US" b="1" dirty="0">
                    <a:latin typeface="+mn-ea"/>
                  </a:rPr>
                  <a:t>统计相容。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+mn-ea"/>
                  </a:rPr>
                  <a:t>越大，阴影误差带越窄，随机涨落越小。</a:t>
                </a:r>
                <a:endParaRPr lang="en-US" altLang="zh-CN" b="1" dirty="0">
                  <a:latin typeface="+mn-ea"/>
                </a:endParaRPr>
              </a:p>
              <a:p>
                <a:endParaRPr lang="en-US" altLang="zh-CN" b="1" dirty="0">
                  <a:latin typeface="+mn-ea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latin typeface="+mn-ea"/>
                  </a:rPr>
                  <a:t>在</a:t>
                </a:r>
                <a:r>
                  <a:rPr lang="en-US" altLang="zh-CN" b="1" dirty="0">
                    <a:latin typeface="+mn-ea"/>
                  </a:rPr>
                  <a:t>g=1.0 MeV</a:t>
                </a:r>
                <a:r>
                  <a:rPr lang="zh-CN" altLang="en-US" b="1" dirty="0">
                    <a:latin typeface="+mn-ea"/>
                  </a:rPr>
                  <a:t>处进行的粗略</a:t>
                </a:r>
                <a:r>
                  <a:rPr lang="en-US" altLang="zh-CN" b="1" dirty="0">
                    <a:latin typeface="+mn-ea"/>
                  </a:rPr>
                  <a:t>CPU</a:t>
                </a:r>
                <a:r>
                  <a:rPr lang="zh-CN" altLang="en-US" b="1" dirty="0">
                    <a:latin typeface="+mn-ea"/>
                  </a:rPr>
                  <a:t>时间对比</a:t>
                </a:r>
                <a:r>
                  <a:rPr lang="en-US" altLang="zh-CN" b="1" dirty="0">
                    <a:latin typeface="+mn-ea"/>
                  </a:rPr>
                  <a:t>, </a:t>
                </a:r>
                <a:r>
                  <a:rPr lang="zh-CN" altLang="en-US" b="1" dirty="0">
                    <a:latin typeface="+mn-ea"/>
                  </a:rPr>
                  <a:t>当从二体截断扩展至三体截断时，随机</a:t>
                </a:r>
                <a:r>
                  <a:rPr lang="en-US" altLang="zh-CN" b="1" dirty="0">
                    <a:latin typeface="+mn-ea"/>
                  </a:rPr>
                  <a:t>SRGQMC</a:t>
                </a:r>
                <a:r>
                  <a:rPr lang="zh-CN" altLang="en-US" b="1" dirty="0">
                    <a:latin typeface="+mn-ea"/>
                  </a:rPr>
                  <a:t>（</a:t>
                </a:r>
                <a:r>
                  <a:rPr lang="en-US" altLang="zh-CN" b="1" dirty="0" err="1">
                    <a:latin typeface="+mn-ea"/>
                  </a:rPr>
                  <a:t>Nw</a:t>
                </a:r>
                <a:r>
                  <a:rPr lang="en-US" altLang="zh-CN" b="1" dirty="0">
                    <a:latin typeface="+mn-ea"/>
                  </a:rPr>
                  <a:t>=10³</a:t>
                </a:r>
                <a:r>
                  <a:rPr lang="zh-CN" altLang="en-US" b="1" dirty="0">
                    <a:latin typeface="+mn-ea"/>
                  </a:rPr>
                  <a:t>）的计算成本仅增加</a:t>
                </a:r>
                <a:r>
                  <a:rPr lang="en-US" altLang="zh-CN" b="1" dirty="0">
                    <a:latin typeface="+mn-ea"/>
                  </a:rPr>
                  <a:t>23</a:t>
                </a:r>
                <a:r>
                  <a:rPr lang="zh-CN" altLang="en-US" b="1" dirty="0">
                    <a:latin typeface="+mn-ea"/>
                  </a:rPr>
                  <a:t>倍，而确定性</a:t>
                </a:r>
                <a:r>
                  <a:rPr lang="en-US" altLang="zh-CN" b="1" dirty="0">
                    <a:latin typeface="+mn-ea"/>
                  </a:rPr>
                  <a:t>IMSRG</a:t>
                </a:r>
                <a:r>
                  <a:rPr lang="zh-CN" altLang="en-US" b="1" dirty="0">
                    <a:latin typeface="+mn-ea"/>
                  </a:rPr>
                  <a:t>则增加了</a:t>
                </a:r>
                <a:r>
                  <a:rPr lang="en-US" altLang="zh-CN" b="1" dirty="0">
                    <a:latin typeface="+mn-ea"/>
                  </a:rPr>
                  <a:t>132</a:t>
                </a:r>
                <a:r>
                  <a:rPr lang="zh-CN" altLang="en-US" b="1" dirty="0">
                    <a:latin typeface="+mn-ea"/>
                  </a:rPr>
                  <a:t>倍。这表明</a:t>
                </a:r>
                <a:r>
                  <a:rPr lang="en-US" altLang="zh-CN" b="1" dirty="0">
                    <a:latin typeface="+mn-ea"/>
                  </a:rPr>
                  <a:t>SRGQMC</a:t>
                </a:r>
                <a:r>
                  <a:rPr lang="zh-CN" altLang="en-US" b="1" dirty="0">
                    <a:latin typeface="+mn-ea"/>
                  </a:rPr>
                  <a:t>框架具有更优的实际标度行为。</a:t>
                </a: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586E728-3A37-A3BA-93F7-5C104B942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364911"/>
                <a:ext cx="5557789" cy="2862322"/>
              </a:xfrm>
              <a:prstGeom prst="rect">
                <a:avLst/>
              </a:prstGeom>
              <a:blipFill>
                <a:blip r:embed="rId4"/>
                <a:stretch>
                  <a:fillRect l="-658" t="-1277" r="-4934" b="-2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EBC06703-5BF9-2AA9-88FA-BFB6419DBC70}"/>
              </a:ext>
            </a:extLst>
          </p:cNvPr>
          <p:cNvSpPr txBox="1"/>
          <p:nvPr/>
        </p:nvSpPr>
        <p:spPr>
          <a:xfrm>
            <a:off x="0" y="0"/>
            <a:ext cx="460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Result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10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7967046-8DE6-9C45-187D-FCD571375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91" y="687235"/>
            <a:ext cx="7830836" cy="47395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3D4EB4F-A6CE-C590-D90F-17DE171E3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91" y="5426765"/>
            <a:ext cx="10036320" cy="10336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82A7CE5-3AC8-5773-867A-3195CDD20039}"/>
                  </a:ext>
                </a:extLst>
              </p:cNvPr>
              <p:cNvSpPr txBox="1"/>
              <p:nvPr/>
            </p:nvSpPr>
            <p:spPr>
              <a:xfrm>
                <a:off x="8378687" y="2564296"/>
                <a:ext cx="3269974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b="1" dirty="0"/>
                  <a:t>在</a:t>
                </a:r>
                <a:r>
                  <a:rPr lang="en-US" altLang="zh-CN" b="1" dirty="0"/>
                  <a:t>g</a:t>
                </a:r>
                <a:r>
                  <a:rPr lang="zh-CN" altLang="en-US" b="1" dirty="0"/>
                  <a:t>相同的情况下，随着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zh-CN" altLang="en-US" b="1" dirty="0"/>
                  <a:t>的增大，</a:t>
                </a:r>
                <a:r>
                  <a:rPr lang="en-US" altLang="zh-CN" b="1" dirty="0"/>
                  <a:t>SRGQMC</a:t>
                </a:r>
                <a:r>
                  <a:rPr lang="zh-CN" altLang="en-US" b="1" dirty="0"/>
                  <a:t>的结果逐渐接近</a:t>
                </a:r>
                <a:r>
                  <a:rPr lang="en-US" altLang="zh-CN" b="1" dirty="0"/>
                  <a:t>IMSRG</a:t>
                </a:r>
                <a:r>
                  <a:rPr lang="zh-CN" altLang="en-US" b="1" dirty="0"/>
                  <a:t>的结果，并且误差棒减小。</a:t>
                </a:r>
                <a:endParaRPr lang="en-US" altLang="zh-CN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b="1" dirty="0"/>
                  <a:t>随着截断项的增大，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zh-CN" altLang="en-US" b="1" dirty="0"/>
                  <a:t>需要相应增大。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82A7CE5-3AC8-5773-867A-3195CDD20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8687" y="2564296"/>
                <a:ext cx="3269974" cy="2031325"/>
              </a:xfrm>
              <a:prstGeom prst="rect">
                <a:avLst/>
              </a:prstGeom>
              <a:blipFill>
                <a:blip r:embed="rId4"/>
                <a:stretch>
                  <a:fillRect l="-1117" t="-1802" b="-3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5B768DF2-A1F1-AECA-B54E-DF0F1413E200}"/>
              </a:ext>
            </a:extLst>
          </p:cNvPr>
          <p:cNvSpPr txBox="1"/>
          <p:nvPr/>
        </p:nvSpPr>
        <p:spPr>
          <a:xfrm>
            <a:off x="0" y="0"/>
            <a:ext cx="460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Result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49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C6392A5-F3B9-5420-C51D-5D31F1ABC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742" y="869040"/>
            <a:ext cx="10099671" cy="372283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B67EE50-D4CA-AB64-E795-00A58329F504}"/>
              </a:ext>
            </a:extLst>
          </p:cNvPr>
          <p:cNvSpPr txBox="1"/>
          <p:nvPr/>
        </p:nvSpPr>
        <p:spPr>
          <a:xfrm>
            <a:off x="1510748" y="4949543"/>
            <a:ext cx="9531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/>
              <a:t>增加独立</a:t>
            </a:r>
            <a:r>
              <a:rPr lang="en-US" altLang="zh-CN" b="1" dirty="0"/>
              <a:t>loop</a:t>
            </a:r>
            <a:r>
              <a:rPr lang="zh-CN" altLang="en-US" b="1" dirty="0"/>
              <a:t>数量可以降低最终平均结果的统计不确定度，即使每条随机轨迹本身使用的</a:t>
            </a:r>
            <a:r>
              <a:rPr lang="en-US" altLang="zh-CN" b="1" dirty="0"/>
              <a:t>walker</a:t>
            </a:r>
            <a:r>
              <a:rPr lang="zh-CN" altLang="en-US" b="1" dirty="0"/>
              <a:t>数很少。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716DE6-F033-3A9E-E792-A92328899C9C}"/>
              </a:ext>
            </a:extLst>
          </p:cNvPr>
          <p:cNvSpPr txBox="1"/>
          <p:nvPr/>
        </p:nvSpPr>
        <p:spPr>
          <a:xfrm>
            <a:off x="0" y="0"/>
            <a:ext cx="460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Result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722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1B0B5-6BBF-A5A6-6020-EF99575F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3BB46A6-52FF-1025-2C6E-97D14EF0322A}"/>
              </a:ext>
            </a:extLst>
          </p:cNvPr>
          <p:cNvSpPr txBox="1"/>
          <p:nvPr/>
        </p:nvSpPr>
        <p:spPr>
          <a:xfrm>
            <a:off x="179109" y="84841"/>
            <a:ext cx="5081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Conclusion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45F390D-60A2-FABD-82D0-84000C260189}"/>
                  </a:ext>
                </a:extLst>
              </p:cNvPr>
              <p:cNvSpPr txBox="1"/>
              <p:nvPr/>
            </p:nvSpPr>
            <p:spPr>
              <a:xfrm>
                <a:off x="1136373" y="1500808"/>
                <a:ext cx="9919254" cy="3995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本文提出了结合量子蒙特卡洛方法的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SRGQMC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方法，并与传统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IMSRG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方法结果进行了对比验证。对现实核子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核子相互作用，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SRGQMC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得到的演化后矩阵元、非对角解耦结构和散射相移均与确定性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SRG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基本一致，在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Richardson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配对模型中，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SRGQMC(2)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SRGQMC(3)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分别复现了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IMSRG(2)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IMSRG(3)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结果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在配对模型中首次实现了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SRGQMC(4)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的计算，能够很好地接近完整组态相互作用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FCI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结果。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文章表明，通过系统控制增加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walker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𝑵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，能够减小单条随机轨迹的涨落；增加独立演化次数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𝑵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𝒍𝒐𝒐𝒑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​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能够降低平均结果的不确定度。论文结果中没有观察到明显的有限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walker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系统性偏差。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文章主要证明了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SRGQMC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的正确性和统计收敛性，但尚未充分证明其在大规模计算中比确定性方法更快。当前测试仍集中在两体核力和较小的 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A=4 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配对模型，面向现实中重核体系的效率优势还需进一步验证。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45F390D-60A2-FABD-82D0-84000C260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373" y="1500808"/>
                <a:ext cx="9919254" cy="3995196"/>
              </a:xfrm>
              <a:prstGeom prst="rect">
                <a:avLst/>
              </a:prstGeom>
              <a:blipFill>
                <a:blip r:embed="rId2"/>
                <a:stretch>
                  <a:fillRect l="-369" t="-762" r="-2764" b="-13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2085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3BD9855D-CCA4-D3B2-C680-52DEA4184EE5}"/>
              </a:ext>
            </a:extLst>
          </p:cNvPr>
          <p:cNvSpPr/>
          <p:nvPr/>
        </p:nvSpPr>
        <p:spPr>
          <a:xfrm>
            <a:off x="2953731" y="2055043"/>
            <a:ext cx="6086574" cy="2574209"/>
          </a:xfrm>
          <a:prstGeom prst="roundRect">
            <a:avLst/>
          </a:prstGeom>
          <a:solidFill>
            <a:srgbClr val="01561F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dirty="0"/>
              <a:t>Thanks!</a:t>
            </a:r>
            <a:endParaRPr lang="zh-CN" altLang="en-US" sz="13800" dirty="0"/>
          </a:p>
        </p:txBody>
      </p:sp>
    </p:spTree>
    <p:extLst>
      <p:ext uri="{BB962C8B-B14F-4D97-AF65-F5344CB8AC3E}">
        <p14:creationId xmlns:p14="http://schemas.microsoft.com/office/powerpoint/2010/main" val="467166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17501</TotalTime>
  <Words>1249</Words>
  <Application>Microsoft Office PowerPoint</Application>
  <PresentationFormat>宽屏</PresentationFormat>
  <Paragraphs>101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Adobe Gothic Std B</vt:lpstr>
      <vt:lpstr>等线</vt:lpstr>
      <vt:lpstr>微软雅黑</vt:lpstr>
      <vt:lpstr>Arial</vt:lpstr>
      <vt:lpstr>Calibri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 三图文排版</dc:title>
  <dc:creator>1097112932@qq.com</dc:creator>
  <cp:lastModifiedBy>林海 陈</cp:lastModifiedBy>
  <cp:revision>405</cp:revision>
  <dcterms:created xsi:type="dcterms:W3CDTF">2023-11-20T00:02:44Z</dcterms:created>
  <dcterms:modified xsi:type="dcterms:W3CDTF">2026-07-22T02:27:59Z</dcterms:modified>
</cp:coreProperties>
</file>